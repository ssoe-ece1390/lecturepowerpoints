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7" r:id="rId3"/>
    <p:sldId id="315" r:id="rId4"/>
    <p:sldId id="317" r:id="rId5"/>
    <p:sldId id="318" r:id="rId6"/>
    <p:sldId id="319" r:id="rId7"/>
    <p:sldId id="314" r:id="rId8"/>
    <p:sldId id="316" r:id="rId9"/>
    <p:sldId id="262" r:id="rId10"/>
    <p:sldId id="264" r:id="rId11"/>
    <p:sldId id="263" r:id="rId12"/>
    <p:sldId id="265" r:id="rId13"/>
    <p:sldId id="267" r:id="rId14"/>
    <p:sldId id="274" r:id="rId15"/>
    <p:sldId id="275" r:id="rId16"/>
    <p:sldId id="276" r:id="rId17"/>
    <p:sldId id="277" r:id="rId18"/>
    <p:sldId id="278" r:id="rId19"/>
    <p:sldId id="320" r:id="rId20"/>
    <p:sldId id="322" r:id="rId21"/>
    <p:sldId id="323" r:id="rId22"/>
    <p:sldId id="324" r:id="rId23"/>
    <p:sldId id="325" r:id="rId24"/>
    <p:sldId id="326" r:id="rId25"/>
    <p:sldId id="327" r:id="rId26"/>
    <p:sldId id="328" r:id="rId27"/>
    <p:sldId id="329" r:id="rId28"/>
    <p:sldId id="330" r:id="rId29"/>
    <p:sldId id="33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6"/>
    <p:restoredTop sz="94686"/>
  </p:normalViewPr>
  <p:slideViewPr>
    <p:cSldViewPr snapToGrid="0">
      <p:cViewPr varScale="1">
        <p:scale>
          <a:sx n="101" d="100"/>
          <a:sy n="101" d="100"/>
        </p:scale>
        <p:origin x="7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FC13D-C485-B9D3-99EA-D80E4E9A91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ED7B23-2526-2A0B-6932-F92267ADD5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094BDB-E7E5-9910-C3EE-41DBC544A82B}"/>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79803192-56E2-5809-7472-0D7F875DE8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B67CD-EF3F-F857-D34F-777CACF3B48C}"/>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3738148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97195-1EBD-7BCB-3B5A-91AACBD3F0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8F9648-3F9A-316C-87DB-7EE7798CA1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3FCF31-6117-AB6E-42EC-0CB56F2D810F}"/>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7F54C68E-F23A-A75B-5E8F-82B7E0135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667C07-39A5-0102-8B7C-D54FFEEAB9F1}"/>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371250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0FBF1-3B26-85B7-5B23-196D6D7AC7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EF26AA-12EA-8ABD-6EFD-D08F49B2D0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598597-67E3-8944-18DE-66DCE81A5F6F}"/>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A6A04062-2D0B-BCFF-2512-CEB2B699E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1F9974-00DC-799D-5A39-8C4455F5E491}"/>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843666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BE502-6CAF-3BF5-BD6B-065D6AAC92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3FD2C5-EA3F-B247-6115-694CB50A27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8C6E22-BDC4-EA3F-0157-4E70E0CA8A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755765-826E-C08A-B1AE-7D0450E76A49}"/>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6" name="Footer Placeholder 5">
            <a:extLst>
              <a:ext uri="{FF2B5EF4-FFF2-40B4-BE49-F238E27FC236}">
                <a16:creationId xmlns:a16="http://schemas.microsoft.com/office/drawing/2014/main" id="{04F0ED42-71C9-96FD-9AC7-BBBB1E8052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298970-A713-3810-1656-9A49740562B0}"/>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4098197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EFE3-7F3D-1B88-EFDA-38CEB24904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19FB26-F14D-71C1-7811-FFF97C3205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BA1E4B-1C15-4FB7-4E18-041EB41BCE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7C11D1-5A46-1743-FF30-5B7AA77149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39A520-D677-A0EC-79D6-F04D6C484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23BA99-897A-0500-AE48-09E7B8C2CC62}"/>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8" name="Footer Placeholder 7">
            <a:extLst>
              <a:ext uri="{FF2B5EF4-FFF2-40B4-BE49-F238E27FC236}">
                <a16:creationId xmlns:a16="http://schemas.microsoft.com/office/drawing/2014/main" id="{52E3C3F4-F2F2-C2AF-D951-2143C2AC1A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081BF2-C18C-5BCE-8867-97369A7EA568}"/>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60386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D803A-82FE-540F-04AD-04E5BC92E5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2AE2E6-A597-C016-7335-DDE3857CEBF7}"/>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4" name="Footer Placeholder 3">
            <a:extLst>
              <a:ext uri="{FF2B5EF4-FFF2-40B4-BE49-F238E27FC236}">
                <a16:creationId xmlns:a16="http://schemas.microsoft.com/office/drawing/2014/main" id="{9616C399-5561-EB63-F9FA-82FD2E4F85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B7DC75-D761-8046-6EA3-3C54C6602799}"/>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3582946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0F3204-AE45-9D32-CF50-26F1909D7018}"/>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3" name="Footer Placeholder 2">
            <a:extLst>
              <a:ext uri="{FF2B5EF4-FFF2-40B4-BE49-F238E27FC236}">
                <a16:creationId xmlns:a16="http://schemas.microsoft.com/office/drawing/2014/main" id="{71BD95A8-B2D5-EADB-1C47-FFB1926049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30A1BD-7287-A602-D01E-2E738D412D29}"/>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405998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6E0CD-2F46-6818-C3F0-CCADAB2C1B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DADD57-4C79-D6D0-FB66-51CEFBADB7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EB58AD-4B41-DA2A-70C5-3099BAA4B8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3F0C8-41B5-BA77-0536-8BA68ED08D91}"/>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6" name="Footer Placeholder 5">
            <a:extLst>
              <a:ext uri="{FF2B5EF4-FFF2-40B4-BE49-F238E27FC236}">
                <a16:creationId xmlns:a16="http://schemas.microsoft.com/office/drawing/2014/main" id="{8EB776A6-8636-3E77-9BE8-DADC09DBE3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36611F-C2E8-BD14-00A5-38A56CB298C3}"/>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310670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0ACF2-120D-5B4B-92E9-D6DDDB6E05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334234-27D3-8B30-B909-03E904DB24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FF481E-39C7-E276-5FEC-6132C3F16B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A7F9A7-9755-B9B9-95CC-5F76F16D5FC6}"/>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6" name="Footer Placeholder 5">
            <a:extLst>
              <a:ext uri="{FF2B5EF4-FFF2-40B4-BE49-F238E27FC236}">
                <a16:creationId xmlns:a16="http://schemas.microsoft.com/office/drawing/2014/main" id="{41E77145-B00A-818B-C157-539D33965D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89EE6A-0692-79C1-4E2E-81960BE4EDB9}"/>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1889955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67BE6-9453-29ED-002A-FEE3A328C8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068097-9D96-7737-81FC-C8D04570D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4BA2E-E4E4-9C71-BA90-B81529C5FC69}"/>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2AC99529-4F7C-0023-1CBA-378E4F29F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9C889C-7082-9C58-C006-A02D0F0ECC77}"/>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151132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DCA38A-5858-C061-82D2-23AB59B0EA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1AB83F-1485-4E39-161D-4AD3FF8833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07C601-0843-EE91-EFA1-39AC6035BCCF}"/>
              </a:ext>
            </a:extLst>
          </p:cNvPr>
          <p:cNvSpPr>
            <a:spLocks noGrp="1"/>
          </p:cNvSpPr>
          <p:nvPr>
            <p:ph type="dt" sz="half" idx="10"/>
          </p:nvPr>
        </p:nvSpPr>
        <p:spPr/>
        <p:txBody>
          <a:body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5DB99449-2C62-2B36-2F54-8C14C84FA5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EBC43-AC1F-1AFF-9D37-9D0514CA7335}"/>
              </a:ext>
            </a:extLst>
          </p:cNvPr>
          <p:cNvSpPr>
            <a:spLocks noGrp="1"/>
          </p:cNvSpPr>
          <p:nvPr>
            <p:ph type="sldNum" sz="quarter" idx="12"/>
          </p:nvPr>
        </p:nvSpPr>
        <p:spPr/>
        <p:txBody>
          <a:bodyPr/>
          <a:lstStyle/>
          <a:p>
            <a:fld id="{2C0BFA93-80F6-FA45-A2F9-95A3BC2EC460}" type="slidenum">
              <a:rPr lang="en-US" smtClean="0"/>
              <a:t>‹#›</a:t>
            </a:fld>
            <a:endParaRPr lang="en-US"/>
          </a:p>
        </p:txBody>
      </p:sp>
    </p:spTree>
    <p:extLst>
      <p:ext uri="{BB962C8B-B14F-4D97-AF65-F5344CB8AC3E}">
        <p14:creationId xmlns:p14="http://schemas.microsoft.com/office/powerpoint/2010/main" val="2264314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DBBABD-0DF4-6ADE-361D-4FAE2F6C4C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F65B5A-9A96-CA1E-DE77-1E1269C1B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CB0F49-17FE-CF85-22D1-CF2C47733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E9B49C-C8FD-4344-8CD3-ED4C91409D68}" type="datetimeFigureOut">
              <a:rPr lang="en-US" smtClean="0"/>
              <a:t>7/14/24</a:t>
            </a:fld>
            <a:endParaRPr lang="en-US"/>
          </a:p>
        </p:txBody>
      </p:sp>
      <p:sp>
        <p:nvSpPr>
          <p:cNvPr id="5" name="Footer Placeholder 4">
            <a:extLst>
              <a:ext uri="{FF2B5EF4-FFF2-40B4-BE49-F238E27FC236}">
                <a16:creationId xmlns:a16="http://schemas.microsoft.com/office/drawing/2014/main" id="{65E5ABE4-2438-57F3-F77E-B272A49E8A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5EF92FD-D28C-396F-E86B-DDBB7E4D47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0BFA93-80F6-FA45-A2F9-95A3BC2EC460}" type="slidenum">
              <a:rPr lang="en-US" smtClean="0"/>
              <a:t>‹#›</a:t>
            </a:fld>
            <a:endParaRPr lang="en-US"/>
          </a:p>
        </p:txBody>
      </p:sp>
    </p:spTree>
    <p:extLst>
      <p:ext uri="{BB962C8B-B14F-4D97-AF65-F5344CB8AC3E}">
        <p14:creationId xmlns:p14="http://schemas.microsoft.com/office/powerpoint/2010/main" val="3237697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cs.opencv.org/4.5.1/d2/de8/group__core__array.html#ga0547c7fed86152d7e9d0096029c8518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opencv.org/4.5.1/d8/d01/group__imgproc__color__conversions.html#ga4e0972be5de079fed4e3a10e24ef5ef0" TargetMode="External"/><Relationship Id="rId2" Type="http://schemas.openxmlformats.org/officeDocument/2006/relationships/hyperlink" Target="https://docs.opencv.org/3.4/d8/d01/group__imgproc__color__conversions.html#ga397ae87e1288a81d2363b61574eb8cab"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en.wikipedia.org/wiki/Hurter_and_Driffield" TargetMode="Externa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C80CB-850D-B57D-2885-24D9CC950911}"/>
              </a:ext>
            </a:extLst>
          </p:cNvPr>
          <p:cNvSpPr>
            <a:spLocks noGrp="1"/>
          </p:cNvSpPr>
          <p:nvPr>
            <p:ph type="ctrTitle"/>
          </p:nvPr>
        </p:nvSpPr>
        <p:spPr>
          <a:xfrm>
            <a:off x="1524000" y="0"/>
            <a:ext cx="9144000" cy="2387600"/>
          </a:xfrm>
        </p:spPr>
        <p:txBody>
          <a:bodyPr>
            <a:normAutofit/>
          </a:bodyPr>
          <a:lstStyle/>
          <a:p>
            <a:r>
              <a:rPr lang="en-US" dirty="0"/>
              <a:t>Lecture 3</a:t>
            </a:r>
            <a:br>
              <a:rPr lang="en-US" dirty="0"/>
            </a:br>
            <a:r>
              <a:rPr lang="en-US"/>
              <a:t>Image Statistics</a:t>
            </a:r>
            <a:endParaRPr lang="en-US" dirty="0"/>
          </a:p>
        </p:txBody>
      </p:sp>
      <p:sp>
        <p:nvSpPr>
          <p:cNvPr id="3" name="Subtitle 2">
            <a:extLst>
              <a:ext uri="{FF2B5EF4-FFF2-40B4-BE49-F238E27FC236}">
                <a16:creationId xmlns:a16="http://schemas.microsoft.com/office/drawing/2014/main" id="{EA3925AB-516E-BA4C-6AB2-FAA041E78BF5}"/>
              </a:ext>
            </a:extLst>
          </p:cNvPr>
          <p:cNvSpPr>
            <a:spLocks noGrp="1"/>
          </p:cNvSpPr>
          <p:nvPr>
            <p:ph type="subTitle" idx="1"/>
          </p:nvPr>
        </p:nvSpPr>
        <p:spPr>
          <a:xfrm>
            <a:off x="1524000" y="2601119"/>
            <a:ext cx="9144000" cy="1655762"/>
          </a:xfrm>
        </p:spPr>
        <p:txBody>
          <a:bodyPr>
            <a:normAutofit/>
          </a:bodyPr>
          <a:lstStyle/>
          <a:p>
            <a:r>
              <a:rPr lang="en-US" sz="3200" dirty="0"/>
              <a:t>ECE 1360/2360</a:t>
            </a:r>
            <a:br>
              <a:rPr lang="en-US" sz="3200" dirty="0"/>
            </a:br>
            <a:r>
              <a:rPr lang="en-US" sz="3200" dirty="0"/>
              <a:t>Image Processing</a:t>
            </a:r>
          </a:p>
        </p:txBody>
      </p:sp>
      <p:sp>
        <p:nvSpPr>
          <p:cNvPr id="4" name="Subtitle 2">
            <a:extLst>
              <a:ext uri="{FF2B5EF4-FFF2-40B4-BE49-F238E27FC236}">
                <a16:creationId xmlns:a16="http://schemas.microsoft.com/office/drawing/2014/main" id="{5B0A0098-675E-E0C4-8109-2166A249C06F}"/>
              </a:ext>
            </a:extLst>
          </p:cNvPr>
          <p:cNvSpPr txBox="1">
            <a:spLocks/>
          </p:cNvSpPr>
          <p:nvPr/>
        </p:nvSpPr>
        <p:spPr>
          <a:xfrm>
            <a:off x="660981" y="3745469"/>
            <a:ext cx="9144000" cy="1655762"/>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t>Learning Objectives:</a:t>
            </a:r>
          </a:p>
          <a:p>
            <a:pPr marL="457200" indent="-457200" algn="l">
              <a:buFont typeface="Arial" panose="020B0604020202020204" pitchFamily="34" charset="0"/>
              <a:buChar char="•"/>
            </a:pPr>
            <a:r>
              <a:rPr lang="en-US" sz="3200" dirty="0"/>
              <a:t>Histograms</a:t>
            </a:r>
          </a:p>
          <a:p>
            <a:pPr marL="457200" indent="-457200" algn="l">
              <a:buFont typeface="Arial" panose="020B0604020202020204" pitchFamily="34" charset="0"/>
              <a:buChar char="•"/>
            </a:pPr>
            <a:r>
              <a:rPr lang="en-US" sz="3200" dirty="0"/>
              <a:t>Color schemes</a:t>
            </a:r>
          </a:p>
          <a:p>
            <a:pPr marL="457200" indent="-457200" algn="l">
              <a:buFont typeface="Arial" panose="020B0604020202020204" pitchFamily="34" charset="0"/>
              <a:buChar char="•"/>
            </a:pPr>
            <a:r>
              <a:rPr lang="en-US" sz="3200" dirty="0"/>
              <a:t>Gamma-correction</a:t>
            </a:r>
          </a:p>
          <a:p>
            <a:pPr marL="457200" indent="-457200" algn="l">
              <a:buFont typeface="Arial" panose="020B0604020202020204" pitchFamily="34" charset="0"/>
              <a:buChar char="•"/>
            </a:pPr>
            <a:r>
              <a:rPr lang="en-US" sz="3200" dirty="0"/>
              <a:t>Hue, saturation</a:t>
            </a:r>
          </a:p>
          <a:p>
            <a:pPr marL="457200" indent="-457200" algn="l">
              <a:buFont typeface="Arial" panose="020B0604020202020204" pitchFamily="34" charset="0"/>
              <a:buChar char="•"/>
            </a:pPr>
            <a:r>
              <a:rPr lang="en-US" sz="3200" kern="100" dirty="0">
                <a:effectLst/>
                <a:latin typeface="Aptos" panose="020B0004020202020204" pitchFamily="34" charset="0"/>
                <a:ea typeface="Aptos" panose="020B0004020202020204" pitchFamily="34" charset="0"/>
                <a:cs typeface="Times New Roman" panose="02020603050405020304" pitchFamily="18" charset="0"/>
              </a:rPr>
              <a:t>Contrast/brighten</a:t>
            </a:r>
            <a:endParaRPr lang="en-US" sz="3200" dirty="0"/>
          </a:p>
          <a:p>
            <a:pPr marL="457200" indent="-457200" algn="l">
              <a:buFont typeface="Arial" panose="020B0604020202020204" pitchFamily="34" charset="0"/>
              <a:buChar char="•"/>
            </a:pPr>
            <a:endParaRPr lang="en-US" sz="3200" dirty="0"/>
          </a:p>
          <a:p>
            <a:pPr marL="457200" indent="-457200" algn="l">
              <a:buFont typeface="Arial" panose="020B0604020202020204" pitchFamily="34" charset="0"/>
              <a:buChar char="•"/>
            </a:pPr>
            <a:endParaRPr lang="en-US" sz="3200" dirty="0"/>
          </a:p>
          <a:p>
            <a:pPr marL="457200" indent="-457200" algn="l">
              <a:buFont typeface="Arial" panose="020B0604020202020204" pitchFamily="34" charset="0"/>
              <a:buChar char="•"/>
            </a:pPr>
            <a:endParaRPr lang="en-US" sz="3200" dirty="0"/>
          </a:p>
        </p:txBody>
      </p:sp>
    </p:spTree>
    <p:extLst>
      <p:ext uri="{BB962C8B-B14F-4D97-AF65-F5344CB8AC3E}">
        <p14:creationId xmlns:p14="http://schemas.microsoft.com/office/powerpoint/2010/main" val="3976350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17D47-3B9F-685A-1F4B-04C2BC7590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D87E41-3048-0695-87D2-81AA6543B6A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86227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DA2C5-34D4-CF2C-C392-E3CFD2C87E99}"/>
              </a:ext>
            </a:extLst>
          </p:cNvPr>
          <p:cNvSpPr>
            <a:spLocks noGrp="1"/>
          </p:cNvSpPr>
          <p:nvPr>
            <p:ph type="title"/>
          </p:nvPr>
        </p:nvSpPr>
        <p:spPr/>
        <p:txBody>
          <a:bodyPr/>
          <a:lstStyle/>
          <a:p>
            <a:r>
              <a:rPr lang="en-US" dirty="0"/>
              <a:t>RGB</a:t>
            </a:r>
          </a:p>
        </p:txBody>
      </p:sp>
      <p:sp>
        <p:nvSpPr>
          <p:cNvPr id="4" name="TextBox 3">
            <a:extLst>
              <a:ext uri="{FF2B5EF4-FFF2-40B4-BE49-F238E27FC236}">
                <a16:creationId xmlns:a16="http://schemas.microsoft.com/office/drawing/2014/main" id="{85233088-3363-5D11-E402-9146AEE1DFF5}"/>
              </a:ext>
            </a:extLst>
          </p:cNvPr>
          <p:cNvSpPr txBox="1"/>
          <p:nvPr/>
        </p:nvSpPr>
        <p:spPr>
          <a:xfrm>
            <a:off x="364490" y="1478512"/>
            <a:ext cx="6720840" cy="2308324"/>
          </a:xfrm>
          <a:prstGeom prst="rect">
            <a:avLst/>
          </a:prstGeom>
          <a:noFill/>
        </p:spPr>
        <p:txBody>
          <a:bodyPr wrap="square" rtlCol="0">
            <a:spAutoFit/>
          </a:bodyPr>
          <a:lstStyle/>
          <a:p>
            <a:endParaRPr lang="en-US" dirty="0"/>
          </a:p>
          <a:p>
            <a:endParaRPr lang="en-US" dirty="0"/>
          </a:p>
          <a:p>
            <a:r>
              <a:rPr lang="en-US" dirty="0"/>
              <a:t>Red</a:t>
            </a:r>
          </a:p>
          <a:p>
            <a:endParaRPr lang="en-US" dirty="0"/>
          </a:p>
          <a:p>
            <a:r>
              <a:rPr lang="en-US" dirty="0"/>
              <a:t>Green</a:t>
            </a:r>
          </a:p>
          <a:p>
            <a:endParaRPr lang="en-US" dirty="0"/>
          </a:p>
          <a:p>
            <a:r>
              <a:rPr lang="en-US" dirty="0"/>
              <a:t>Blue</a:t>
            </a:r>
          </a:p>
          <a:p>
            <a:endParaRPr lang="en-US" dirty="0"/>
          </a:p>
        </p:txBody>
      </p:sp>
      <p:pic>
        <p:nvPicPr>
          <p:cNvPr id="10242" name="Picture 2">
            <a:extLst>
              <a:ext uri="{FF2B5EF4-FFF2-40B4-BE49-F238E27FC236}">
                <a16:creationId xmlns:a16="http://schemas.microsoft.com/office/drawing/2014/main" id="{C5BF6358-E188-5C81-F3A1-47A57CDD5F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6748" y="1074702"/>
            <a:ext cx="7022885" cy="188341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63C8FFB6-81B5-F25A-0546-6404DEB57F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9910" y="3429000"/>
            <a:ext cx="1905000" cy="568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81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4BBC-9CB5-543C-B86A-067B48FA0B11}"/>
              </a:ext>
            </a:extLst>
          </p:cNvPr>
          <p:cNvSpPr>
            <a:spLocks noGrp="1"/>
          </p:cNvSpPr>
          <p:nvPr>
            <p:ph type="title"/>
          </p:nvPr>
        </p:nvSpPr>
        <p:spPr/>
        <p:txBody>
          <a:bodyPr/>
          <a:lstStyle/>
          <a:p>
            <a:r>
              <a:rPr lang="en-US" dirty="0"/>
              <a:t>CMY</a:t>
            </a:r>
          </a:p>
        </p:txBody>
      </p:sp>
      <p:pic>
        <p:nvPicPr>
          <p:cNvPr id="11266" name="Picture 2">
            <a:extLst>
              <a:ext uri="{FF2B5EF4-FFF2-40B4-BE49-F238E27FC236}">
                <a16:creationId xmlns:a16="http://schemas.microsoft.com/office/drawing/2014/main" id="{B2F14F7D-1DFB-7937-D593-AC6E3BF6E4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050" y="628650"/>
            <a:ext cx="2501900" cy="56007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9B492C71-683E-2A38-58AD-6512457204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2320" y="22066"/>
            <a:ext cx="3484880" cy="2604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829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4BBC-9CB5-543C-B86A-067B48FA0B11}"/>
              </a:ext>
            </a:extLst>
          </p:cNvPr>
          <p:cNvSpPr>
            <a:spLocks noGrp="1"/>
          </p:cNvSpPr>
          <p:nvPr>
            <p:ph type="title"/>
          </p:nvPr>
        </p:nvSpPr>
        <p:spPr/>
        <p:txBody>
          <a:bodyPr/>
          <a:lstStyle/>
          <a:p>
            <a:r>
              <a:rPr lang="en-US" dirty="0"/>
              <a:t>CMYK</a:t>
            </a:r>
          </a:p>
        </p:txBody>
      </p:sp>
      <p:pic>
        <p:nvPicPr>
          <p:cNvPr id="11268" name="Picture 4">
            <a:extLst>
              <a:ext uri="{FF2B5EF4-FFF2-40B4-BE49-F238E27FC236}">
                <a16:creationId xmlns:a16="http://schemas.microsoft.com/office/drawing/2014/main" id="{9B492C71-683E-2A38-58AD-651245720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2320" y="22066"/>
            <a:ext cx="3484880" cy="2604948"/>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a:extLst>
              <a:ext uri="{FF2B5EF4-FFF2-40B4-BE49-F238E27FC236}">
                <a16:creationId xmlns:a16="http://schemas.microsoft.com/office/drawing/2014/main" id="{F66A451E-24BD-4AC9-223D-E6E213565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4983" y="22066"/>
            <a:ext cx="22939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309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34BBC-9CB5-543C-B86A-067B48FA0B11}"/>
              </a:ext>
            </a:extLst>
          </p:cNvPr>
          <p:cNvSpPr>
            <a:spLocks noGrp="1"/>
          </p:cNvSpPr>
          <p:nvPr>
            <p:ph type="title"/>
          </p:nvPr>
        </p:nvSpPr>
        <p:spPr/>
        <p:txBody>
          <a:bodyPr/>
          <a:lstStyle/>
          <a:p>
            <a:r>
              <a:rPr lang="en-US" dirty="0"/>
              <a:t>CMYK</a:t>
            </a:r>
          </a:p>
        </p:txBody>
      </p:sp>
      <p:sp>
        <p:nvSpPr>
          <p:cNvPr id="3" name="TextBox 2">
            <a:extLst>
              <a:ext uri="{FF2B5EF4-FFF2-40B4-BE49-F238E27FC236}">
                <a16:creationId xmlns:a16="http://schemas.microsoft.com/office/drawing/2014/main" id="{8BA29D18-CE6B-7A56-3D13-7F97ABFD108F}"/>
              </a:ext>
            </a:extLst>
          </p:cNvPr>
          <p:cNvSpPr txBox="1"/>
          <p:nvPr/>
        </p:nvSpPr>
        <p:spPr>
          <a:xfrm>
            <a:off x="579120" y="2590800"/>
            <a:ext cx="1267142" cy="369332"/>
          </a:xfrm>
          <a:prstGeom prst="rect">
            <a:avLst/>
          </a:prstGeom>
          <a:noFill/>
        </p:spPr>
        <p:txBody>
          <a:bodyPr wrap="none" rtlCol="0">
            <a:spAutoFit/>
          </a:bodyPr>
          <a:lstStyle/>
          <a:p>
            <a:r>
              <a:rPr lang="en-US" dirty="0"/>
              <a:t>Half toning</a:t>
            </a:r>
          </a:p>
        </p:txBody>
      </p:sp>
      <p:pic>
        <p:nvPicPr>
          <p:cNvPr id="15362" name="Picture 2">
            <a:extLst>
              <a:ext uri="{FF2B5EF4-FFF2-40B4-BE49-F238E27FC236}">
                <a16:creationId xmlns:a16="http://schemas.microsoft.com/office/drawing/2014/main" id="{00FCA4E8-65C8-91C8-2599-85D89C54BC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319" y="710962"/>
            <a:ext cx="7562283" cy="5293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825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16C67-7135-6052-82E6-34CDBAA02DC8}"/>
              </a:ext>
            </a:extLst>
          </p:cNvPr>
          <p:cNvSpPr>
            <a:spLocks noGrp="1"/>
          </p:cNvSpPr>
          <p:nvPr>
            <p:ph type="title"/>
          </p:nvPr>
        </p:nvSpPr>
        <p:spPr/>
        <p:txBody>
          <a:bodyPr/>
          <a:lstStyle/>
          <a:p>
            <a:r>
              <a:rPr lang="en-US" dirty="0"/>
              <a:t>HSV </a:t>
            </a:r>
            <a:br>
              <a:rPr lang="en-US" dirty="0"/>
            </a:br>
            <a:r>
              <a:rPr lang="en-US" dirty="0"/>
              <a:t>Radial space</a:t>
            </a:r>
          </a:p>
        </p:txBody>
      </p:sp>
      <p:sp>
        <p:nvSpPr>
          <p:cNvPr id="4" name="TextBox 3">
            <a:extLst>
              <a:ext uri="{FF2B5EF4-FFF2-40B4-BE49-F238E27FC236}">
                <a16:creationId xmlns:a16="http://schemas.microsoft.com/office/drawing/2014/main" id="{D18D315F-1AC9-D97C-4D8E-4E938D5ACD68}"/>
              </a:ext>
            </a:extLst>
          </p:cNvPr>
          <p:cNvSpPr txBox="1"/>
          <p:nvPr/>
        </p:nvSpPr>
        <p:spPr>
          <a:xfrm>
            <a:off x="364490" y="1478512"/>
            <a:ext cx="6720840" cy="3693319"/>
          </a:xfrm>
          <a:prstGeom prst="rect">
            <a:avLst/>
          </a:prstGeom>
          <a:noFill/>
        </p:spPr>
        <p:txBody>
          <a:bodyPr wrap="square" rtlCol="0">
            <a:spAutoFit/>
          </a:bodyPr>
          <a:lstStyle/>
          <a:p>
            <a:endParaRPr lang="en-US" dirty="0"/>
          </a:p>
          <a:p>
            <a:endParaRPr lang="en-US" dirty="0"/>
          </a:p>
          <a:p>
            <a:r>
              <a:rPr lang="en-US" dirty="0"/>
              <a:t>Hue..  Angle </a:t>
            </a:r>
          </a:p>
          <a:p>
            <a:r>
              <a:rPr lang="en-US" dirty="0"/>
              <a:t>	Red = 0</a:t>
            </a:r>
          </a:p>
          <a:p>
            <a:r>
              <a:rPr lang="en-US" dirty="0"/>
              <a:t>	Green = 120</a:t>
            </a:r>
          </a:p>
          <a:p>
            <a:r>
              <a:rPr lang="en-US" dirty="0"/>
              <a:t>	Blue = 240</a:t>
            </a:r>
          </a:p>
          <a:p>
            <a:endParaRPr lang="en-US" dirty="0"/>
          </a:p>
          <a:p>
            <a:r>
              <a:rPr lang="en-US" dirty="0"/>
              <a:t>Saturation.  Radius</a:t>
            </a:r>
          </a:p>
          <a:p>
            <a:r>
              <a:rPr lang="en-US" dirty="0"/>
              <a:t>		</a:t>
            </a:r>
          </a:p>
          <a:p>
            <a:endParaRPr lang="en-US" dirty="0"/>
          </a:p>
          <a:p>
            <a:r>
              <a:rPr lang="en-US" dirty="0"/>
              <a:t>Value</a:t>
            </a:r>
          </a:p>
          <a:p>
            <a:r>
              <a:rPr lang="en-US" dirty="0"/>
              <a:t>	0 = Black</a:t>
            </a:r>
          </a:p>
          <a:p>
            <a:r>
              <a:rPr lang="en-US" dirty="0"/>
              <a:t>	1 = Full color  </a:t>
            </a:r>
          </a:p>
        </p:txBody>
      </p:sp>
      <p:pic>
        <p:nvPicPr>
          <p:cNvPr id="7170" name="Picture 2">
            <a:extLst>
              <a:ext uri="{FF2B5EF4-FFF2-40B4-BE49-F238E27FC236}">
                <a16:creationId xmlns:a16="http://schemas.microsoft.com/office/drawing/2014/main" id="{006C4C4E-B421-61A6-0047-2D3FC548A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330" y="-178689"/>
            <a:ext cx="4756150" cy="357314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59A5DE10-8C61-3363-8381-B444DB8FC9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5330" y="3463542"/>
            <a:ext cx="4756150" cy="3573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5944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16C67-7135-6052-82E6-34CDBAA02DC8}"/>
              </a:ext>
            </a:extLst>
          </p:cNvPr>
          <p:cNvSpPr>
            <a:spLocks noGrp="1"/>
          </p:cNvSpPr>
          <p:nvPr>
            <p:ph type="title"/>
          </p:nvPr>
        </p:nvSpPr>
        <p:spPr/>
        <p:txBody>
          <a:bodyPr/>
          <a:lstStyle/>
          <a:p>
            <a:r>
              <a:rPr lang="en-US" dirty="0"/>
              <a:t>HSL</a:t>
            </a:r>
            <a:br>
              <a:rPr lang="en-US" dirty="0"/>
            </a:br>
            <a:r>
              <a:rPr lang="en-US" dirty="0" err="1"/>
              <a:t>Sphereical</a:t>
            </a:r>
            <a:r>
              <a:rPr lang="en-US" dirty="0"/>
              <a:t> space</a:t>
            </a:r>
          </a:p>
        </p:txBody>
      </p:sp>
      <p:sp>
        <p:nvSpPr>
          <p:cNvPr id="4" name="TextBox 3">
            <a:extLst>
              <a:ext uri="{FF2B5EF4-FFF2-40B4-BE49-F238E27FC236}">
                <a16:creationId xmlns:a16="http://schemas.microsoft.com/office/drawing/2014/main" id="{D18D315F-1AC9-D97C-4D8E-4E938D5ACD68}"/>
              </a:ext>
            </a:extLst>
          </p:cNvPr>
          <p:cNvSpPr txBox="1"/>
          <p:nvPr/>
        </p:nvSpPr>
        <p:spPr>
          <a:xfrm>
            <a:off x="364490" y="1478512"/>
            <a:ext cx="6720840" cy="3693319"/>
          </a:xfrm>
          <a:prstGeom prst="rect">
            <a:avLst/>
          </a:prstGeom>
          <a:noFill/>
        </p:spPr>
        <p:txBody>
          <a:bodyPr wrap="square" rtlCol="0">
            <a:spAutoFit/>
          </a:bodyPr>
          <a:lstStyle/>
          <a:p>
            <a:endParaRPr lang="en-US" dirty="0"/>
          </a:p>
          <a:p>
            <a:endParaRPr lang="en-US" dirty="0"/>
          </a:p>
          <a:p>
            <a:r>
              <a:rPr lang="en-US" dirty="0"/>
              <a:t>Hue..  Angle </a:t>
            </a:r>
          </a:p>
          <a:p>
            <a:r>
              <a:rPr lang="en-US" dirty="0"/>
              <a:t>	Red = 0</a:t>
            </a:r>
          </a:p>
          <a:p>
            <a:r>
              <a:rPr lang="en-US" dirty="0"/>
              <a:t>	Green = 120</a:t>
            </a:r>
          </a:p>
          <a:p>
            <a:r>
              <a:rPr lang="en-US" dirty="0"/>
              <a:t>	Blue = 240</a:t>
            </a:r>
          </a:p>
          <a:p>
            <a:endParaRPr lang="en-US" dirty="0"/>
          </a:p>
          <a:p>
            <a:r>
              <a:rPr lang="en-US" dirty="0"/>
              <a:t>Saturation.  Radius</a:t>
            </a:r>
          </a:p>
          <a:p>
            <a:r>
              <a:rPr lang="en-US" dirty="0"/>
              <a:t>		</a:t>
            </a:r>
          </a:p>
          <a:p>
            <a:endParaRPr lang="en-US" dirty="0"/>
          </a:p>
          <a:p>
            <a:r>
              <a:rPr lang="en-US" dirty="0"/>
              <a:t>Lightness</a:t>
            </a:r>
          </a:p>
          <a:p>
            <a:r>
              <a:rPr lang="en-US" dirty="0"/>
              <a:t>	0 = Black</a:t>
            </a:r>
          </a:p>
          <a:p>
            <a:r>
              <a:rPr lang="en-US" dirty="0"/>
              <a:t>	1 = white</a:t>
            </a:r>
          </a:p>
        </p:txBody>
      </p:sp>
      <p:pic>
        <p:nvPicPr>
          <p:cNvPr id="9218" name="Picture 2">
            <a:extLst>
              <a:ext uri="{FF2B5EF4-FFF2-40B4-BE49-F238E27FC236}">
                <a16:creationId xmlns:a16="http://schemas.microsoft.com/office/drawing/2014/main" id="{086B2993-2C1F-B0B0-2B35-0164D9306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329" y="3934344"/>
            <a:ext cx="4297337" cy="322845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75D45F4B-528C-B9E4-5597-0FC068D231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5330" y="365125"/>
            <a:ext cx="4297336" cy="3228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824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68CEC-0D64-744E-6146-D7E5611ACA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4DBECB-4E60-DA44-2342-DD921296B737}"/>
              </a:ext>
            </a:extLst>
          </p:cNvPr>
          <p:cNvSpPr>
            <a:spLocks noGrp="1"/>
          </p:cNvSpPr>
          <p:nvPr>
            <p:ph idx="1"/>
          </p:nvPr>
        </p:nvSpPr>
        <p:spPr/>
        <p:txBody>
          <a:bodyPr/>
          <a:lstStyle/>
          <a:p>
            <a:r>
              <a:rPr lang="en-US" dirty="0"/>
              <a:t>Color channels</a:t>
            </a:r>
          </a:p>
        </p:txBody>
      </p:sp>
      <p:pic>
        <p:nvPicPr>
          <p:cNvPr id="4" name="Picture 3" descr="A comparison of a lake&#10;&#10;Description automatically generated with medium confidence">
            <a:extLst>
              <a:ext uri="{FF2B5EF4-FFF2-40B4-BE49-F238E27FC236}">
                <a16:creationId xmlns:a16="http://schemas.microsoft.com/office/drawing/2014/main" id="{EDE1BEE0-A040-3838-C0D4-9FA6804A76C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296793"/>
            <a:ext cx="15102740" cy="2880170"/>
          </a:xfrm>
          <a:prstGeom prst="rect">
            <a:avLst/>
          </a:prstGeom>
          <a:noFill/>
          <a:ln>
            <a:noFill/>
          </a:ln>
        </p:spPr>
      </p:pic>
    </p:spTree>
    <p:extLst>
      <p:ext uri="{BB962C8B-B14F-4D97-AF65-F5344CB8AC3E}">
        <p14:creationId xmlns:p14="http://schemas.microsoft.com/office/powerpoint/2010/main" val="727632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5AE3B-3913-45C2-20D2-4CB2D7A3DD7B}"/>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EF9C2CC2-24A6-50F3-B643-B8D58E329537}"/>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Splitting and Merging Color Channels</a:t>
            </a:r>
            <a:endParaRPr kumimoji="0" lang="en-US" altLang="en-US" sz="14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000" b="1" i="0" u="none" strike="noStrike" cap="none" normalizeH="0" baseline="0">
                <a:ln>
                  <a:noFill/>
                </a:ln>
                <a:solidFill>
                  <a:srgbClr val="000000"/>
                </a:solidFill>
                <a:effectLst/>
                <a:latin typeface="var(--jp-code-font-family)" charset="0"/>
                <a:ea typeface="Times New Roman" panose="02020603050405020304" pitchFamily="18" charset="0"/>
                <a:cs typeface="Courier New" panose="02070309020205020404" pitchFamily="49" charset="0"/>
              </a:rPr>
              <a:t>cv2.split()</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 Divides a multi-channel array into several single-channel arrays.</a:t>
            </a:r>
            <a:endParaRPr kumimoji="0" lang="en-US" altLang="en-US" sz="1000" b="0" i="0" u="none" strike="noStrike" cap="none" normalizeH="0" baseline="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000" b="1" i="0" u="none" strike="noStrike" cap="none" normalizeH="0" baseline="0">
                <a:ln>
                  <a:noFill/>
                </a:ln>
                <a:solidFill>
                  <a:srgbClr val="000000"/>
                </a:solidFill>
                <a:effectLst/>
                <a:latin typeface="var(--jp-code-font-family)" charset="0"/>
                <a:ea typeface="Times New Roman" panose="02020603050405020304" pitchFamily="18" charset="0"/>
                <a:cs typeface="Courier New" panose="02070309020205020404" pitchFamily="49" charset="0"/>
              </a:rPr>
              <a:t>cv2.merge()</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 Merges several arrays to make a single multi-channel array. All the input matrices must have the same size.</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200" b="0" i="0" u="none" strike="noStrike" cap="none" normalizeH="0" baseline="0">
                <a:ln>
                  <a:noFill/>
                </a:ln>
                <a:solidFill>
                  <a:srgbClr val="088525"/>
                </a:solidFill>
                <a:effectLst/>
                <a:latin typeface="var(--jp-content-font-family)" charset="0"/>
                <a:ea typeface="Times New Roman" panose="02020603050405020304" pitchFamily="18" charset="0"/>
                <a:cs typeface="Segoe UI" panose="020B0502040204020203" pitchFamily="34" charset="0"/>
              </a:rPr>
              <a:t>OpenCV Documentation</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000" b="0" i="0" u="none" strike="noStrike" cap="none" normalizeH="0" baseline="0">
                <a:ln>
                  <a:noFill/>
                </a:ln>
                <a:solidFill>
                  <a:schemeClr val="tx1"/>
                </a:solidFill>
                <a:effectLst/>
                <a:latin typeface="var(--jp-content-font-family)" charset="0"/>
                <a:ea typeface="Times New Roman" panose="02020603050405020304" pitchFamily="18" charset="0"/>
                <a:cs typeface="Segoe UI" panose="020B0502040204020203" pitchFamily="34" charset="0"/>
                <a:hlinkClick r:id="rId2"/>
              </a:rPr>
              <a:t>Documentation link</a:t>
            </a:r>
            <a:endParaRPr kumimoji="0" lang="en-US" altLang="en-US" sz="1000" b="0" i="0" u="none" strike="noStrike" cap="none" normalizeH="0" baseline="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000" b="0" i="0" u="none" strike="noStrike" cap="none" normalizeH="0" baseline="0">
                <a:ln>
                  <a:noFill/>
                </a:ln>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In</a:t>
            </a:r>
            <a:r>
              <a:rPr kumimoji="0" lang="en-US" altLang="en-US" sz="1000" b="0" i="0" u="none" strike="noStrike" cap="none" normalizeH="0" baseline="0">
                <a:ln>
                  <a:noFill/>
                </a:ln>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a:t>
            </a:r>
            <a:r>
              <a:rPr kumimoji="0" lang="en-US" altLang="en-US" sz="1000" b="0" i="0" u="none" strike="noStrike" cap="none" normalizeH="0" baseline="0">
                <a:ln>
                  <a:noFill/>
                </a:ln>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[15]:</a:t>
            </a:r>
            <a:endParaRPr kumimoji="0" lang="en-US" altLang="en-US" sz="1000" b="0" i="1" u="none" strike="noStrike" cap="none" normalizeH="0" baseline="0">
              <a:ln>
                <a:noFill/>
              </a:ln>
              <a:solidFill>
                <a:srgbClr val="000000"/>
              </a:solidFill>
              <a:effectLst/>
              <a:latin typeface="Courier New" panose="02070309020205020404" pitchFamily="49" charset="0"/>
              <a:ea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000" b="0" i="1"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Split the image into the B,G,R components</a:t>
            </a:r>
            <a:r>
              <a:rPr kumimoji="0" lang="en-US" altLang="en-US" sz="1200" b="0" i="0" u="none" strike="noStrike" cap="none" normalizeH="0" baseline="0">
                <a:ln>
                  <a:noFill/>
                </a:ln>
                <a:solidFill>
                  <a:srgbClr val="000000"/>
                </a:solidFill>
                <a:effectLst/>
                <a:latin typeface="Arial" panose="020B0604020202020204" pitchFamily="34" charset="0"/>
              </a:rPr>
              <a:t>img_NZ_bgr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imread</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("New_Zealand_Lake.jpg", </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IMREAD_COLOR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rgbClr val="000000"/>
                </a:solidFill>
                <a:effectLst/>
                <a:latin typeface="Arial" panose="020B0604020202020204" pitchFamily="34" charset="0"/>
              </a:rPr>
              <a:t>b</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g</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split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img_NZ_bgr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0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00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D1DB-2304-EB14-F704-35C14D85E977}"/>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E9355130-F2ED-1E7A-2E6B-7813CF46189F}"/>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4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Converting to different Color Spaces</a:t>
            </a:r>
            <a:endParaRPr kumimoji="0" lang="en-US" altLang="en-US" sz="14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000" b="1" i="0" u="none" strike="noStrike" cap="none" normalizeH="0" baseline="0">
                <a:ln>
                  <a:noFill/>
                </a:ln>
                <a:solidFill>
                  <a:srgbClr val="000000"/>
                </a:solidFill>
                <a:effectLst/>
                <a:latin typeface="var(--jp-code-font-family)" charset="0"/>
                <a:ea typeface="Times New Roman" panose="02020603050405020304" pitchFamily="18" charset="0"/>
                <a:cs typeface="Courier New" panose="02070309020205020404" pitchFamily="49" charset="0"/>
              </a:rPr>
              <a:t>cv2.cvtColor()</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 Converts an image from one color space to another. The function converts an input image from one color space to another. In case of a transformation to-from RGB color space, the order of the channels should be specified explicitly (RGB or BGR). Note that the default color format in OpenCV is often referred to as RGB but it is actually BGR (the bytes are reversed). So the first byte in a standard (24-bit) color image will be an 8-bit Blue component, the second byte will be Green, and the third byte will be Red. The fourth, fifth, and sixth bytes would then be the second pixel (Blue, then Green, then Red), and so on.</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200" b="0" i="0" u="none" strike="noStrike" cap="none" normalizeH="0" baseline="0">
                <a:ln>
                  <a:noFill/>
                </a:ln>
                <a:solidFill>
                  <a:srgbClr val="088525"/>
                </a:solidFill>
                <a:effectLst/>
                <a:latin typeface="var(--jp-content-font-family)" charset="0"/>
                <a:ea typeface="Times New Roman" panose="02020603050405020304" pitchFamily="18" charset="0"/>
                <a:cs typeface="Segoe UI" panose="020B0502040204020203" pitchFamily="34" charset="0"/>
              </a:rPr>
              <a:t>Function Syntax</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tab pos="457200" algn="l"/>
              </a:tabLst>
            </a:pPr>
            <a:r>
              <a:rPr kumimoji="0" lang="en-US" altLang="en-US" sz="1200" b="0" i="0" u="none" strike="noStrike" cap="none" normalizeH="0" baseline="0">
                <a:ln>
                  <a:noFill/>
                </a:ln>
                <a:solidFill>
                  <a:srgbClr val="000000"/>
                </a:solidFill>
                <a:effectLst/>
                <a:latin typeface="var(--jp-code-font-family)" charset="0"/>
              </a:rPr>
              <a:t>dst</a:t>
            </a:r>
            <a:r>
              <a:rPr kumimoji="0" lang="en-US" altLang="en-US" sz="1000" b="0" i="0" u="none" strike="noStrike" cap="none" normalizeH="0" baseline="0">
                <a:ln>
                  <a:noFill/>
                </a:ln>
                <a:solidFill>
                  <a:srgbClr val="000000"/>
                </a:solidFill>
                <a:effectLst/>
                <a:latin typeface="var(--jp-code-font-family)" charset="0"/>
                <a:ea typeface="Times New Roman" panose="02020603050405020304" pitchFamily="18" charset="0"/>
              </a:rPr>
              <a:t> </a:t>
            </a:r>
            <a:r>
              <a:rPr kumimoji="0" lang="en-US" altLang="en-US" sz="1800" b="0"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var(--jp-code-font-family)"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0"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cvtColor</a:t>
            </a:r>
            <a:r>
              <a:rPr kumimoji="0" lang="en-US" altLang="en-US" sz="1000" b="0" i="0" u="none" strike="noStrike" cap="none" normalizeH="0" baseline="0">
                <a:ln>
                  <a:noFill/>
                </a:ln>
                <a:solidFill>
                  <a:srgbClr val="000000"/>
                </a:solidFill>
                <a:effectLst/>
                <a:latin typeface="var(--jp-code-font-family)"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src</a:t>
            </a:r>
            <a:r>
              <a:rPr kumimoji="0" lang="en-US" altLang="en-US" sz="1000" b="0" i="0" u="none" strike="noStrike" cap="none" normalizeH="0" baseline="0">
                <a:ln>
                  <a:noFill/>
                </a:ln>
                <a:solidFill>
                  <a:srgbClr val="000000"/>
                </a:solidFill>
                <a:effectLst/>
                <a:latin typeface="var(--jp-code-font-family)"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code</a:t>
            </a:r>
            <a:r>
              <a:rPr kumimoji="0" lang="en-US" altLang="en-US" sz="1000" b="0" i="0" u="none" strike="noStrike" cap="none" normalizeH="0" baseline="0">
                <a:ln>
                  <a:noFill/>
                </a:ln>
                <a:solidFill>
                  <a:srgbClr val="000000"/>
                </a:solidFill>
                <a:effectLst/>
                <a:latin typeface="var(--jp-code-font-family)" charset="0"/>
                <a:ea typeface="Times New Roman" panose="02020603050405020304" pitchFamily="18" charset="0"/>
              </a:rPr>
              <a:t> )</a:t>
            </a:r>
            <a:r>
              <a:rPr kumimoji="0" lang="en-US" altLang="en-US" sz="1000" b="0" i="0" u="none" strike="noStrike" cap="none" normalizeH="0" baseline="0">
                <a:ln>
                  <a:noFill/>
                </a:ln>
                <a:solidFill>
                  <a:schemeClr val="tx1"/>
                </a:solidFill>
                <a:effectLst/>
              </a:rPr>
              <a:t> </a:t>
            </a:r>
            <a:endParaRPr kumimoji="0" lang="en-US"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000" b="0" i="0" u="none" strike="noStrike" cap="none" normalizeH="0" baseline="0">
                <a:ln>
                  <a:noFill/>
                </a:ln>
                <a:solidFill>
                  <a:srgbClr val="000000"/>
                </a:solidFill>
                <a:effectLst/>
                <a:latin typeface="var(--jp-code-font-family)" charset="0"/>
                <a:ea typeface="Times New Roman" panose="02020603050405020304" pitchFamily="18" charset="0"/>
                <a:cs typeface="Courier New" panose="02070309020205020404" pitchFamily="49" charset="0"/>
              </a:rPr>
              <a:t>dst</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 Is the output image of the same size and depth as </a:t>
            </a:r>
            <a:r>
              <a:rPr kumimoji="0" lang="en-US" altLang="en-US" sz="1000" b="0" i="0" u="none" strike="noStrike" cap="none" normalizeH="0" baseline="0">
                <a:ln>
                  <a:noFill/>
                </a:ln>
                <a:solidFill>
                  <a:srgbClr val="000000"/>
                </a:solidFill>
                <a:effectLst/>
                <a:latin typeface="var(--jp-code-font-family)" charset="0"/>
                <a:ea typeface="Times New Roman" panose="02020603050405020304" pitchFamily="18" charset="0"/>
                <a:cs typeface="Courier New" panose="02070309020205020404" pitchFamily="49" charset="0"/>
              </a:rPr>
              <a:t>src</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The function has </a:t>
            </a:r>
            <a:r>
              <a:rPr kumimoji="0" lang="en-US" altLang="en-US" sz="1000" b="1"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2 required arguments</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a:t>
            </a:r>
            <a:endParaRPr kumimoji="0" lang="en-US" altLang="en-US" sz="1000" b="0" i="0" u="none" strike="noStrike" cap="none" normalizeH="0" baseline="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000" b="0" i="0" u="none" strike="noStrike" cap="none" normalizeH="0" baseline="0">
                <a:ln>
                  <a:noFill/>
                </a:ln>
                <a:solidFill>
                  <a:srgbClr val="000000"/>
                </a:solidFill>
                <a:effectLst/>
                <a:latin typeface="var(--jp-code-font-family)" charset="0"/>
                <a:ea typeface="Times New Roman" panose="02020603050405020304" pitchFamily="18" charset="0"/>
                <a:cs typeface="Courier New" panose="02070309020205020404" pitchFamily="49" charset="0"/>
              </a:rPr>
              <a:t>src</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 input image: 8-bit unsigned, 16-bit unsigned ( CV_16UC... ), or single-precision floating-point.</a:t>
            </a:r>
            <a:endParaRPr kumimoji="0" lang="en-US" altLang="en-US" sz="1000" b="0" i="0" u="none" strike="noStrike" cap="none" normalizeH="0" baseline="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000" b="0" i="0" u="none" strike="noStrike" cap="none" normalizeH="0" baseline="0">
                <a:ln>
                  <a:noFill/>
                </a:ln>
                <a:solidFill>
                  <a:srgbClr val="000000"/>
                </a:solidFill>
                <a:effectLst/>
                <a:latin typeface="var(--jp-code-font-family)" charset="0"/>
                <a:ea typeface="Times New Roman" panose="02020603050405020304" pitchFamily="18" charset="0"/>
                <a:cs typeface="Courier New" panose="02070309020205020404" pitchFamily="49" charset="0"/>
              </a:rPr>
              <a:t>code</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 color space conversion code (see ColorConversionCodes).</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200" b="0" i="0" u="none" strike="noStrike" cap="none" normalizeH="0" baseline="0">
                <a:ln>
                  <a:noFill/>
                </a:ln>
                <a:solidFill>
                  <a:srgbClr val="088525"/>
                </a:solidFill>
                <a:effectLst/>
                <a:latin typeface="var(--jp-content-font-family)" charset="0"/>
                <a:ea typeface="Times New Roman" panose="02020603050405020304" pitchFamily="18" charset="0"/>
                <a:cs typeface="Segoe UI" panose="020B0502040204020203" pitchFamily="34" charset="0"/>
              </a:rPr>
              <a:t>OpenCV Documentation</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000" b="1" i="0" u="none" strike="noStrike" cap="none" normalizeH="0" baseline="0">
                <a:ln>
                  <a:noFill/>
                </a:ln>
                <a:solidFill>
                  <a:srgbClr val="000000"/>
                </a:solidFill>
                <a:effectLst/>
                <a:latin typeface="var(--jp-code-font-family)" charset="0"/>
                <a:ea typeface="Times New Roman" panose="02020603050405020304" pitchFamily="18" charset="0"/>
                <a:cs typeface="Courier New" panose="02070309020205020404" pitchFamily="49" charset="0"/>
              </a:rPr>
              <a:t>cv2.cvtColor</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 </a:t>
            </a:r>
            <a:r>
              <a:rPr kumimoji="0" lang="en-US" altLang="en-US" sz="1000" b="0" i="0" u="none" strike="noStrike" cap="none" normalizeH="0" baseline="0">
                <a:ln>
                  <a:noFill/>
                </a:ln>
                <a:solidFill>
                  <a:schemeClr val="tx1"/>
                </a:solidFill>
                <a:effectLst/>
                <a:latin typeface="var(--jp-content-font-family)" charset="0"/>
                <a:ea typeface="Times New Roman" panose="02020603050405020304" pitchFamily="18" charset="0"/>
                <a:cs typeface="Segoe UI" panose="020B0502040204020203" pitchFamily="34" charset="0"/>
                <a:hlinkClick r:id="rId2"/>
              </a:rPr>
              <a:t>Documentation link</a:t>
            </a:r>
            <a:endParaRPr kumimoji="0" lang="en-US" altLang="en-US" sz="1000" b="0" i="0" u="none" strike="noStrike" cap="none" normalizeH="0" baseline="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altLang="en-US" sz="1000" b="1" i="0" u="none" strike="noStrike" cap="none" normalizeH="0" baseline="0">
                <a:ln>
                  <a:noFill/>
                </a:ln>
                <a:solidFill>
                  <a:srgbClr val="000000"/>
                </a:solidFill>
                <a:effectLst/>
                <a:latin typeface="var(--jp-code-font-family)" charset="0"/>
                <a:ea typeface="Times New Roman" panose="02020603050405020304" pitchFamily="18" charset="0"/>
                <a:cs typeface="Courier New" panose="02070309020205020404" pitchFamily="49" charset="0"/>
              </a:rPr>
              <a:t>ColorConversionCodes</a:t>
            </a:r>
            <a:r>
              <a:rPr kumimoji="0" lang="en-US" altLang="en-US" sz="10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 </a:t>
            </a:r>
            <a:r>
              <a:rPr kumimoji="0" lang="en-US" altLang="en-US" sz="1000" b="0" i="0" u="none" strike="noStrike" cap="none" normalizeH="0" baseline="0">
                <a:ln>
                  <a:noFill/>
                </a:ln>
                <a:solidFill>
                  <a:schemeClr val="tx1"/>
                </a:solidFill>
                <a:effectLst/>
                <a:latin typeface="var(--jp-content-font-family)" charset="0"/>
                <a:ea typeface="Times New Roman" panose="02020603050405020304" pitchFamily="18" charset="0"/>
                <a:cs typeface="Segoe UI" panose="020B0502040204020203" pitchFamily="34" charset="0"/>
                <a:hlinkClick r:id="rId3"/>
              </a:rPr>
              <a:t>Documentation link</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200" b="0" i="0" u="none" strike="noStrike" cap="none" normalizeH="0" baseline="0">
                <a:ln>
                  <a:noFill/>
                </a:ln>
                <a:solidFill>
                  <a:srgbClr val="000000"/>
                </a:solidFill>
                <a:effectLst/>
                <a:latin typeface="var(--jp-content-font-family)" charset="0"/>
                <a:ea typeface="Times New Roman" panose="02020603050405020304" pitchFamily="18" charset="0"/>
                <a:cs typeface="Segoe UI" panose="020B0502040204020203" pitchFamily="34" charset="0"/>
              </a:rPr>
              <a:t>Changing from BGR to RGB</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en-US" sz="1000" b="0" i="0" u="none" strike="noStrike" cap="none" normalizeH="0" baseline="0">
                <a:ln>
                  <a:noFill/>
                </a:ln>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In</a:t>
            </a:r>
            <a:r>
              <a:rPr kumimoji="0" lang="en-US" altLang="en-US" sz="1000" b="0" i="0" u="none" strike="noStrike" cap="none" normalizeH="0" baseline="0">
                <a:ln>
                  <a:noFill/>
                </a:ln>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a:t>
            </a:r>
            <a:r>
              <a:rPr kumimoji="0" lang="en-US" altLang="en-US" sz="1000" b="0" i="0" u="none" strike="noStrike" cap="none" normalizeH="0" baseline="0">
                <a:ln>
                  <a:noFill/>
                </a:ln>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[16]:</a:t>
            </a:r>
            <a:endParaRPr kumimoji="0" lang="en-US" altLang="en-US" sz="1000" b="0" i="1" u="none" strike="noStrike" cap="none" normalizeH="0" baseline="0">
              <a:ln>
                <a:noFill/>
              </a:ln>
              <a:solidFill>
                <a:srgbClr val="000000"/>
              </a:solidFill>
              <a:effectLst/>
              <a:latin typeface="Courier New" panose="02070309020205020404" pitchFamily="49" charset="0"/>
              <a:ea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000" b="0" i="1"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OpenCV stores color channels in a differnet order than most other applications (BGR vs RGB).</a:t>
            </a:r>
            <a:r>
              <a:rPr kumimoji="0" lang="en-US" altLang="en-US" sz="1200" b="0" i="0" u="none" strike="noStrike" cap="none" normalizeH="0" baseline="0">
                <a:ln>
                  <a:noFill/>
                </a:ln>
                <a:solidFill>
                  <a:srgbClr val="000000"/>
                </a:solidFill>
                <a:effectLst/>
                <a:latin typeface="Arial" panose="020B0604020202020204" pitchFamily="34" charset="0"/>
              </a:rPr>
              <a:t>img_NZ_rgb</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0"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0"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cvtColor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img_NZ_bgr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0"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COLOR_BGR2RGB</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0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4416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F6D51-EA52-5BC8-E707-42CF107ECA96}"/>
              </a:ext>
            </a:extLst>
          </p:cNvPr>
          <p:cNvSpPr>
            <a:spLocks noGrp="1"/>
          </p:cNvSpPr>
          <p:nvPr>
            <p:ph type="title"/>
          </p:nvPr>
        </p:nvSpPr>
        <p:spPr/>
        <p:txBody>
          <a:bodyPr/>
          <a:lstStyle/>
          <a:p>
            <a:r>
              <a:rPr lang="en-US" dirty="0"/>
              <a:t>HSV</a:t>
            </a:r>
          </a:p>
        </p:txBody>
      </p:sp>
      <p:pic>
        <p:nvPicPr>
          <p:cNvPr id="5122" name="Picture 4" descr="A long shot of a lake&#10;&#10;Description automatically generated">
            <a:extLst>
              <a:ext uri="{FF2B5EF4-FFF2-40B4-BE49-F238E27FC236}">
                <a16:creationId xmlns:a16="http://schemas.microsoft.com/office/drawing/2014/main" id="{A2599F38-F98E-2F41-3D7C-5AFA909DD8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57300"/>
            <a:ext cx="5943600" cy="43434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3" descr="A comparison of a mountain range&#10;&#10;Description automatically generated">
            <a:extLst>
              <a:ext uri="{FF2B5EF4-FFF2-40B4-BE49-F238E27FC236}">
                <a16:creationId xmlns:a16="http://schemas.microsoft.com/office/drawing/2014/main" id="{601D4501-BADA-BB27-739D-C43AE3009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600700"/>
            <a:ext cx="5943600" cy="11303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A50A87B-0BBC-962B-23A3-959A8C0B4806}"/>
              </a:ext>
            </a:extLst>
          </p:cNvPr>
          <p:cNvSpPr>
            <a:spLocks noChangeArrowheads="1"/>
          </p:cNvSpPr>
          <p:nvPr/>
        </p:nvSpPr>
        <p:spPr bwMode="auto">
          <a:xfrm>
            <a:off x="838200" y="8001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a:extLst>
              <a:ext uri="{FF2B5EF4-FFF2-40B4-BE49-F238E27FC236}">
                <a16:creationId xmlns:a16="http://schemas.microsoft.com/office/drawing/2014/main" id="{38562E14-2D78-6FC6-5565-F3E57299608E}"/>
              </a:ext>
            </a:extLst>
          </p:cNvPr>
          <p:cNvSpPr>
            <a:spLocks noChangeArrowheads="1"/>
          </p:cNvSpPr>
          <p:nvPr/>
        </p:nvSpPr>
        <p:spPr bwMode="auto">
          <a:xfrm>
            <a:off x="838200" y="5600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var(--jp-content-font-family)" charset="0"/>
                <a:cs typeface="Segoe UI" panose="020B0502040204020203" pitchFamily="34" charset="0"/>
              </a:rPr>
              <a:t>Changing to HSV color space</a:t>
            </a:r>
            <a:endParaRPr kumimoji="0" lang="en-US" altLang="en-US" sz="1200" b="0" i="0" u="none" strike="noStrike" cap="none" normalizeH="0" baseline="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In</a:t>
            </a:r>
            <a:r>
              <a:rPr kumimoji="0" lang="en-US" altLang="en-US" sz="1000" b="0" i="0" u="none" strike="noStrike" cap="none" normalizeH="0" baseline="0">
                <a:ln>
                  <a:noFill/>
                </a:ln>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a:t>
            </a:r>
            <a:r>
              <a:rPr kumimoji="0" lang="en-US" altLang="en-US" sz="1000" b="0" i="0" u="none" strike="noStrike" cap="none" normalizeH="0" baseline="0">
                <a:ln>
                  <a:noFill/>
                </a:ln>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[17]:</a:t>
            </a:r>
            <a:endParaRPr kumimoji="0" lang="en-US" altLang="en-US" sz="1200" b="0" i="0" u="none" strike="noStrike" cap="none" normalizeH="0" baseline="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200" b="0" i="0" u="none" strike="noStrike" cap="none" normalizeH="0" baseline="0">
                <a:ln>
                  <a:noFill/>
                </a:ln>
                <a:solidFill>
                  <a:srgbClr val="000000"/>
                </a:solidFill>
                <a:effectLst/>
                <a:latin typeface="Arial" panose="020B0604020202020204" pitchFamily="34" charset="0"/>
              </a:rPr>
              <a:t>img_hsv</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cvtColor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img_NZ_bgr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COLOR_BGR2HSV</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000" b="0" i="1"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Split the image into the B,G,R components</a:t>
            </a:r>
            <a:r>
              <a:rPr kumimoji="0" lang="en-US" altLang="en-US" sz="1200" b="0" i="0" u="none" strike="noStrike" cap="none" normalizeH="0" baseline="0">
                <a:ln>
                  <a:noFill/>
                </a:ln>
                <a:solidFill>
                  <a:srgbClr val="000000"/>
                </a:solidFill>
                <a:effectLst/>
                <a:latin typeface="Arial" panose="020B0604020202020204" pitchFamily="34" charset="0"/>
              </a:rPr>
              <a:t>h</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rgbClr val="000000"/>
                </a:solidFill>
                <a:effectLst/>
                <a:latin typeface="Arial" panose="020B0604020202020204" pitchFamily="34" charset="0"/>
              </a:rPr>
              <a:t>s</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rgbClr val="000000"/>
                </a:solidFill>
                <a:effectLst/>
                <a:latin typeface="Arial" panose="020B0604020202020204" pitchFamily="34" charset="0"/>
              </a:rPr>
              <a:t>v</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split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img_hsv</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000" b="0" i="1"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Show the channels</a:t>
            </a:r>
            <a:r>
              <a:rPr kumimoji="0" lang="en-US" altLang="en-US" sz="1200" b="0" i="0" u="none" strike="noStrike" cap="none" normalizeH="0" baseline="0">
                <a:ln>
                  <a:noFill/>
                </a:ln>
                <a:solidFill>
                  <a:srgbClr val="000000"/>
                </a:solidFill>
                <a:effectLst/>
                <a:latin typeface="Arial" panose="020B0604020202020204" pitchFamily="34" charset="0"/>
              </a:rPr>
              <a:t>plt</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200" b="0" i="0" u="none" strike="noStrike" cap="none" normalizeH="0" baseline="0">
                <a:ln>
                  <a:noFill/>
                </a:ln>
                <a:solidFill>
                  <a:srgbClr val="000000"/>
                </a:solidFill>
                <a:effectLst/>
                <a:latin typeface="Arial" panose="020B0604020202020204" pitchFamily="34" charset="0"/>
              </a:rPr>
              <a:t>figure</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rgbClr val="000000"/>
                </a:solidFill>
                <a:effectLst/>
                <a:latin typeface="Arial" panose="020B0604020202020204" pitchFamily="34" charset="0"/>
              </a:rPr>
              <a:t>figsize</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[20,5])</a:t>
            </a:r>
            <a:r>
              <a:rPr kumimoji="0" lang="en-US" altLang="en-US" sz="1200" b="0" i="0" u="none" strike="noStrike" cap="none" normalizeH="0" baseline="0">
                <a:ln>
                  <a:noFill/>
                </a:ln>
                <a:solidFill>
                  <a:srgbClr val="000000"/>
                </a:solidFill>
                <a:effectLst/>
                <a:latin typeface="Arial" panose="020B0604020202020204" pitchFamily="34" charset="0"/>
              </a:rPr>
              <a:t>plt</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200" b="0" i="0" u="none" strike="noStrike" cap="none" normalizeH="0" baseline="0">
                <a:ln>
                  <a:noFill/>
                </a:ln>
                <a:solidFill>
                  <a:srgbClr val="000000"/>
                </a:solidFill>
                <a:effectLst/>
                <a:latin typeface="Arial" panose="020B0604020202020204" pitchFamily="34" charset="0"/>
              </a:rPr>
              <a:t>subplot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(141);</a:t>
            </a:r>
            <a:r>
              <a:rPr kumimoji="0" lang="en-US" altLang="en-US" sz="1200" b="0" i="0" u="none" strike="noStrike" cap="none" normalizeH="0" baseline="0">
                <a:ln>
                  <a:noFill/>
                </a:ln>
                <a:solidFill>
                  <a:srgbClr val="000000"/>
                </a:solidFill>
                <a:effectLst/>
                <a:latin typeface="Arial" panose="020B0604020202020204" pitchFamily="34" charset="0"/>
              </a:rPr>
              <a:t>plt</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200" b="0" i="0" u="none" strike="noStrike" cap="none" normalizeH="0" baseline="0">
                <a:ln>
                  <a:noFill/>
                </a:ln>
                <a:solidFill>
                  <a:srgbClr val="000000"/>
                </a:solidFill>
                <a:effectLst/>
                <a:latin typeface="Arial" panose="020B0604020202020204" pitchFamily="34" charset="0"/>
              </a:rPr>
              <a:t>imshow</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rgbClr val="000000"/>
                </a:solidFill>
                <a:effectLst/>
                <a:latin typeface="Arial" panose="020B0604020202020204" pitchFamily="34" charset="0"/>
              </a:rPr>
              <a:t>h</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cmap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"gray");</a:t>
            </a:r>
            <a:r>
              <a:rPr kumimoji="0" lang="en-US" altLang="en-US" sz="1200" b="0" i="0" u="none" strike="noStrike" cap="none" normalizeH="0" baseline="0">
                <a:ln>
                  <a:noFill/>
                </a:ln>
                <a:solidFill>
                  <a:schemeClr val="tx1"/>
                </a:solidFill>
                <a:effectLst/>
                <a:latin typeface="Arial" panose="020B0604020202020204" pitchFamily="34" charset="0"/>
              </a:rPr>
              <a:t>plt</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title</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("H Channel");</a:t>
            </a:r>
            <a:r>
              <a:rPr kumimoji="0" lang="en-US" altLang="en-US" sz="1200" b="0" i="0" u="none" strike="noStrike" cap="none" normalizeH="0" baseline="0">
                <a:ln>
                  <a:noFill/>
                </a:ln>
                <a:solidFill>
                  <a:srgbClr val="000000"/>
                </a:solidFill>
                <a:effectLst/>
                <a:latin typeface="Arial" panose="020B0604020202020204" pitchFamily="34" charset="0"/>
              </a:rPr>
              <a:t>plt</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200" b="0" i="0" u="none" strike="noStrike" cap="none" normalizeH="0" baseline="0">
                <a:ln>
                  <a:noFill/>
                </a:ln>
                <a:solidFill>
                  <a:srgbClr val="000000"/>
                </a:solidFill>
                <a:effectLst/>
                <a:latin typeface="Arial" panose="020B0604020202020204" pitchFamily="34" charset="0"/>
              </a:rPr>
              <a:t>subplot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(142);</a:t>
            </a:r>
            <a:r>
              <a:rPr kumimoji="0" lang="en-US" altLang="en-US" sz="1200" b="0" i="0" u="none" strike="noStrike" cap="none" normalizeH="0" baseline="0">
                <a:ln>
                  <a:noFill/>
                </a:ln>
                <a:solidFill>
                  <a:srgbClr val="000000"/>
                </a:solidFill>
                <a:effectLst/>
                <a:latin typeface="Arial" panose="020B0604020202020204" pitchFamily="34" charset="0"/>
              </a:rPr>
              <a:t>plt</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200" b="0" i="0" u="none" strike="noStrike" cap="none" normalizeH="0" baseline="0">
                <a:ln>
                  <a:noFill/>
                </a:ln>
                <a:solidFill>
                  <a:srgbClr val="000000"/>
                </a:solidFill>
                <a:effectLst/>
                <a:latin typeface="Arial" panose="020B0604020202020204" pitchFamily="34" charset="0"/>
              </a:rPr>
              <a:t>imshow</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rgbClr val="000000"/>
                </a:solidFill>
                <a:effectLst/>
                <a:latin typeface="Arial" panose="020B0604020202020204" pitchFamily="34" charset="0"/>
              </a:rPr>
              <a:t>s</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cmap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"gray");</a:t>
            </a:r>
            <a:r>
              <a:rPr kumimoji="0" lang="en-US" altLang="en-US" sz="1200" b="0" i="0" u="none" strike="noStrike" cap="none" normalizeH="0" baseline="0">
                <a:ln>
                  <a:noFill/>
                </a:ln>
                <a:solidFill>
                  <a:schemeClr val="tx1"/>
                </a:solidFill>
                <a:effectLst/>
                <a:latin typeface="Arial" panose="020B0604020202020204" pitchFamily="34" charset="0"/>
              </a:rPr>
              <a:t>plt</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title</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("S Channel");</a:t>
            </a:r>
            <a:r>
              <a:rPr kumimoji="0" lang="en-US" altLang="en-US" sz="1200" b="0" i="0" u="none" strike="noStrike" cap="none" normalizeH="0" baseline="0">
                <a:ln>
                  <a:noFill/>
                </a:ln>
                <a:solidFill>
                  <a:srgbClr val="000000"/>
                </a:solidFill>
                <a:effectLst/>
                <a:latin typeface="Arial" panose="020B0604020202020204" pitchFamily="34" charset="0"/>
              </a:rPr>
              <a:t>plt</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200" b="0" i="0" u="none" strike="noStrike" cap="none" normalizeH="0" baseline="0">
                <a:ln>
                  <a:noFill/>
                </a:ln>
                <a:solidFill>
                  <a:srgbClr val="000000"/>
                </a:solidFill>
                <a:effectLst/>
                <a:latin typeface="Arial" panose="020B0604020202020204" pitchFamily="34" charset="0"/>
              </a:rPr>
              <a:t>subplot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(143);</a:t>
            </a:r>
            <a:r>
              <a:rPr kumimoji="0" lang="en-US" altLang="en-US" sz="1200" b="0" i="0" u="none" strike="noStrike" cap="none" normalizeH="0" baseline="0">
                <a:ln>
                  <a:noFill/>
                </a:ln>
                <a:solidFill>
                  <a:srgbClr val="000000"/>
                </a:solidFill>
                <a:effectLst/>
                <a:latin typeface="Arial" panose="020B0604020202020204" pitchFamily="34" charset="0"/>
              </a:rPr>
              <a:t>plt</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200" b="0" i="0" u="none" strike="noStrike" cap="none" normalizeH="0" baseline="0">
                <a:ln>
                  <a:noFill/>
                </a:ln>
                <a:solidFill>
                  <a:srgbClr val="000000"/>
                </a:solidFill>
                <a:effectLst/>
                <a:latin typeface="Arial" panose="020B0604020202020204" pitchFamily="34" charset="0"/>
              </a:rPr>
              <a:t>imshow</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rgbClr val="000000"/>
                </a:solidFill>
                <a:effectLst/>
                <a:latin typeface="Arial" panose="020B0604020202020204" pitchFamily="34" charset="0"/>
              </a:rPr>
              <a:t>v</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cmap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"gray");</a:t>
            </a:r>
            <a:r>
              <a:rPr kumimoji="0" lang="en-US" altLang="en-US" sz="1200" b="0" i="0" u="none" strike="noStrike" cap="none" normalizeH="0" baseline="0">
                <a:ln>
                  <a:noFill/>
                </a:ln>
                <a:solidFill>
                  <a:schemeClr val="tx1"/>
                </a:solidFill>
                <a:effectLst/>
                <a:latin typeface="Arial" panose="020B0604020202020204" pitchFamily="34" charset="0"/>
              </a:rPr>
              <a:t>plt</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title</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("V Channel");</a:t>
            </a:r>
            <a:r>
              <a:rPr kumimoji="0" lang="en-US" altLang="en-US" sz="1200" b="0" i="0" u="none" strike="noStrike" cap="none" normalizeH="0" baseline="0">
                <a:ln>
                  <a:noFill/>
                </a:ln>
                <a:solidFill>
                  <a:srgbClr val="000000"/>
                </a:solidFill>
                <a:effectLst/>
                <a:latin typeface="Arial" panose="020B0604020202020204" pitchFamily="34" charset="0"/>
              </a:rPr>
              <a:t>plt</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200" b="0" i="0" u="none" strike="noStrike" cap="none" normalizeH="0" baseline="0">
                <a:ln>
                  <a:noFill/>
                </a:ln>
                <a:solidFill>
                  <a:srgbClr val="000000"/>
                </a:solidFill>
                <a:effectLst/>
                <a:latin typeface="Arial" panose="020B0604020202020204" pitchFamily="34" charset="0"/>
              </a:rPr>
              <a:t>subplot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(144);</a:t>
            </a:r>
            <a:r>
              <a:rPr kumimoji="0" lang="en-US" altLang="en-US" sz="1200" b="0" i="0" u="none" strike="noStrike" cap="none" normalizeH="0" baseline="0">
                <a:ln>
                  <a:noFill/>
                </a:ln>
                <a:solidFill>
                  <a:srgbClr val="000000"/>
                </a:solidFill>
                <a:effectLst/>
                <a:latin typeface="Arial" panose="020B0604020202020204" pitchFamily="34" charset="0"/>
              </a:rPr>
              <a:t>plt</a:t>
            </a:r>
            <a:r>
              <a:rPr kumimoji="0" lang="en-US" altLang="en-US" sz="1800" b="1" i="0" u="none" strike="noStrike" cap="none" normalizeH="0" baseline="0">
                <a:ln>
                  <a:noFill/>
                </a:ln>
                <a:solidFill>
                  <a:srgbClr val="000000"/>
                </a:solidFill>
                <a:effectLst/>
                <a:latin typeface="Arial" panose="020B0604020202020204" pitchFamily="34" charset="0"/>
              </a:rPr>
              <a:t>.</a:t>
            </a:r>
            <a:r>
              <a:rPr kumimoji="0" lang="en-US" altLang="en-US" sz="1200" b="0" i="0" u="none" strike="noStrike" cap="none" normalizeH="0" baseline="0">
                <a:ln>
                  <a:noFill/>
                </a:ln>
                <a:solidFill>
                  <a:srgbClr val="000000"/>
                </a:solidFill>
                <a:effectLst/>
                <a:latin typeface="Arial" panose="020B0604020202020204" pitchFamily="34" charset="0"/>
              </a:rPr>
              <a:t>imshow</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rgbClr val="000000"/>
                </a:solidFill>
                <a:effectLst/>
                <a:latin typeface="Arial" panose="020B0604020202020204" pitchFamily="34" charset="0"/>
              </a:rPr>
              <a:t>img_NZ_rgb</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plt</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title</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("Original");</a:t>
            </a:r>
            <a:r>
              <a:rPr kumimoji="0" lang="en-US" altLang="en-US" sz="10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F422DCF0-48A0-F5C1-FD82-A3962B942327}"/>
              </a:ext>
            </a:extLst>
          </p:cNvPr>
          <p:cNvSpPr>
            <a:spLocks noChangeArrowheads="1"/>
          </p:cNvSpPr>
          <p:nvPr/>
        </p:nvSpPr>
        <p:spPr bwMode="auto">
          <a:xfrm>
            <a:off x="838200" y="6731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4989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119B8-82F0-4541-4036-9564AF52E7ED}"/>
              </a:ext>
            </a:extLst>
          </p:cNvPr>
          <p:cNvSpPr>
            <a:spLocks noGrp="1"/>
          </p:cNvSpPr>
          <p:nvPr>
            <p:ph type="title"/>
          </p:nvPr>
        </p:nvSpPr>
        <p:spPr/>
        <p:txBody>
          <a:bodyPr/>
          <a:lstStyle/>
          <a:p>
            <a:r>
              <a:rPr lang="en-US" dirty="0"/>
              <a:t>HSV</a:t>
            </a:r>
          </a:p>
        </p:txBody>
      </p:sp>
      <p:sp>
        <p:nvSpPr>
          <p:cNvPr id="3" name="Content Placeholder 2">
            <a:extLst>
              <a:ext uri="{FF2B5EF4-FFF2-40B4-BE49-F238E27FC236}">
                <a16:creationId xmlns:a16="http://schemas.microsoft.com/office/drawing/2014/main" id="{D82EDDF5-7AB7-DF39-41E3-211D113D4300}"/>
              </a:ext>
            </a:extLst>
          </p:cNvPr>
          <p:cNvSpPr>
            <a:spLocks noGrp="1"/>
          </p:cNvSpPr>
          <p:nvPr>
            <p:ph idx="1"/>
          </p:nvPr>
        </p:nvSpPr>
        <p:spPr/>
        <p:txBody>
          <a:bodyPr/>
          <a:lstStyle/>
          <a:p>
            <a:pPr marL="0" marR="0" algn="just">
              <a:lnSpc>
                <a:spcPct val="115000"/>
              </a:lnSpc>
              <a:spcBef>
                <a:spcPts val="0"/>
              </a:spcBef>
              <a:spcAft>
                <a:spcPts val="1000"/>
              </a:spcAft>
            </a:pPr>
            <a:r>
              <a:rPr lang="en-US" sz="1800" dirty="0">
                <a:effectLst/>
                <a:latin typeface="Aptos" panose="020B0004020202020204" pitchFamily="34" charset="0"/>
                <a:ea typeface="Times New Roman" panose="02020603050405020304" pitchFamily="18" charset="0"/>
                <a:cs typeface="Times New Roman" panose="02020603050405020304" pitchFamily="18" charset="0"/>
              </a:rPr>
              <a:t>		Hue- color of image</a:t>
            </a:r>
          </a:p>
          <a:p>
            <a:pPr marL="0" marR="0" algn="just">
              <a:lnSpc>
                <a:spcPct val="115000"/>
              </a:lnSpc>
              <a:spcBef>
                <a:spcPts val="0"/>
              </a:spcBef>
              <a:spcAft>
                <a:spcPts val="1000"/>
              </a:spcAft>
            </a:pPr>
            <a:r>
              <a:rPr lang="en-US" sz="1800" dirty="0">
                <a:effectLst/>
                <a:latin typeface="Aptos" panose="020B0004020202020204" pitchFamily="34" charset="0"/>
                <a:ea typeface="Times New Roman" panose="02020603050405020304" pitchFamily="18" charset="0"/>
                <a:cs typeface="Times New Roman" panose="02020603050405020304" pitchFamily="18" charset="0"/>
              </a:rPr>
              <a:t>		Sat- intensity of color (pure red vs dark red)</a:t>
            </a:r>
          </a:p>
          <a:p>
            <a:pPr marL="0" marR="0" algn="just">
              <a:lnSpc>
                <a:spcPct val="115000"/>
              </a:lnSpc>
              <a:spcBef>
                <a:spcPts val="0"/>
              </a:spcBef>
              <a:spcAft>
                <a:spcPts val="1000"/>
              </a:spcAft>
            </a:pPr>
            <a:r>
              <a:rPr lang="en-US" sz="1800" dirty="0">
                <a:effectLst/>
                <a:latin typeface="Aptos" panose="020B0004020202020204" pitchFamily="34" charset="0"/>
                <a:ea typeface="Times New Roman" panose="02020603050405020304" pitchFamily="18" charset="0"/>
                <a:cs typeface="Times New Roman" panose="02020603050405020304" pitchFamily="18" charset="0"/>
              </a:rPr>
              <a:t>		V- value (independent of color)</a:t>
            </a:r>
          </a:p>
        </p:txBody>
      </p:sp>
    </p:spTree>
    <p:extLst>
      <p:ext uri="{BB962C8B-B14F-4D97-AF65-F5344CB8AC3E}">
        <p14:creationId xmlns:p14="http://schemas.microsoft.com/office/powerpoint/2010/main" val="2029547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1FBA0-E79A-4C76-216D-9ED72F448BB7}"/>
              </a:ext>
            </a:extLst>
          </p:cNvPr>
          <p:cNvSpPr>
            <a:spLocks noGrp="1"/>
          </p:cNvSpPr>
          <p:nvPr>
            <p:ph type="title"/>
          </p:nvPr>
        </p:nvSpPr>
        <p:spPr/>
        <p:txBody>
          <a:bodyPr/>
          <a:lstStyle/>
          <a:p>
            <a:r>
              <a:rPr lang="en-US" dirty="0"/>
              <a:t>Brightness</a:t>
            </a:r>
          </a:p>
        </p:txBody>
      </p:sp>
      <p:sp>
        <p:nvSpPr>
          <p:cNvPr id="3" name="Content Placeholder 2">
            <a:extLst>
              <a:ext uri="{FF2B5EF4-FFF2-40B4-BE49-F238E27FC236}">
                <a16:creationId xmlns:a16="http://schemas.microsoft.com/office/drawing/2014/main" id="{EC0F9B05-C2D4-E175-37FE-507902497155}"/>
              </a:ext>
            </a:extLst>
          </p:cNvPr>
          <p:cNvSpPr>
            <a:spLocks noGrp="1"/>
          </p:cNvSpPr>
          <p:nvPr>
            <p:ph idx="1"/>
          </p:nvPr>
        </p:nvSpPr>
        <p:spPr/>
        <p:txBody>
          <a:bodyPr/>
          <a:lstStyle/>
          <a:p>
            <a:pPr marL="0" marR="0" algn="l">
              <a:lnSpc>
                <a:spcPct val="115000"/>
              </a:lnSpc>
              <a:spcBef>
                <a:spcPts val="1200"/>
              </a:spcBef>
              <a:spcAft>
                <a:spcPts val="400"/>
              </a:spcAft>
            </a:pPr>
            <a:r>
              <a:rPr lang="en-US" sz="1800" b="1" cap="small" spc="25" dirty="0">
                <a:solidFill>
                  <a:srgbClr val="000000"/>
                </a:solidFill>
                <a:effectLst/>
                <a:latin typeface="var(--jp-content-font-family)"/>
                <a:ea typeface="Times New Roman" panose="02020603050405020304" pitchFamily="18" charset="0"/>
                <a:cs typeface="Segoe UI" panose="020B0502040204020203" pitchFamily="34" charset="0"/>
              </a:rPr>
              <a:t>Addition or Brightness</a:t>
            </a:r>
            <a:endParaRPr lang="en-US" sz="1800" b="1" cap="small" spc="25" dirty="0">
              <a:effectLst/>
              <a:latin typeface="Aptos" panose="020B0004020202020204" pitchFamily="34" charset="0"/>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600"/>
              </a:spcAft>
            </a:pPr>
            <a:r>
              <a:rPr lang="en-US" sz="1800" dirty="0">
                <a:solidFill>
                  <a:srgbClr val="000000"/>
                </a:solidFill>
                <a:effectLst/>
                <a:latin typeface="var(--jp-content-font-family)"/>
                <a:ea typeface="Times New Roman" panose="02020603050405020304" pitchFamily="18" charset="0"/>
                <a:cs typeface="Segoe UI" panose="020B0502040204020203" pitchFamily="34" charset="0"/>
              </a:rPr>
              <a:t>The first operation we discuss is simple addition of images. This results in increasing or decreasing the brightness of the image since we are eventually increasing or decreasing the intensity values of each pixel by the same amount. So, this will result in a global increase/decrease in brightness.</a:t>
            </a: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4" name="Picture 3" descr="A foggy landscape of a beach&#10;&#10;Description automatically generated with medium confidence">
            <a:extLst>
              <a:ext uri="{FF2B5EF4-FFF2-40B4-BE49-F238E27FC236}">
                <a16:creationId xmlns:a16="http://schemas.microsoft.com/office/drawing/2014/main" id="{B8C8D461-A14E-C812-570D-24B77545DD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429000"/>
            <a:ext cx="4117848" cy="2941446"/>
          </a:xfrm>
          <a:prstGeom prst="rect">
            <a:avLst/>
          </a:prstGeom>
          <a:noFill/>
          <a:ln>
            <a:noFill/>
          </a:ln>
        </p:spPr>
      </p:pic>
    </p:spTree>
    <p:extLst>
      <p:ext uri="{BB962C8B-B14F-4D97-AF65-F5344CB8AC3E}">
        <p14:creationId xmlns:p14="http://schemas.microsoft.com/office/powerpoint/2010/main" val="4053753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192B5B4-ED0E-0D4A-6B8B-AAA41F19B460}"/>
              </a:ext>
            </a:extLst>
          </p:cNvPr>
          <p:cNvSpPr>
            <a:spLocks noChangeArrowheads="1"/>
          </p:cNvSpPr>
          <p:nvPr/>
        </p:nvSpPr>
        <p:spPr bwMode="auto">
          <a:xfrm>
            <a:off x="876447" y="774700"/>
            <a:ext cx="6096000" cy="1790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matrix</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np</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ones</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shape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dtype</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"uint8")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50</a:t>
            </a:r>
            <a:r>
              <a:rPr kumimoji="0" lang="en-US" altLang="en-US" sz="1200" b="0" i="0" u="none" strike="noStrike" cap="none" normalizeH="0" baseline="0" dirty="0">
                <a:ln>
                  <a:noFill/>
                </a:ln>
                <a:solidFill>
                  <a:srgbClr val="000000"/>
                </a:solidFill>
                <a:effectLst/>
                <a:latin typeface="Arial" panose="020B0604020202020204" pitchFamily="34" charset="0"/>
              </a:rPr>
              <a:t>img_rgb_brighter</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rPr>
              <a:t>cv2</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200" b="0" i="0" u="none" strike="noStrike" cap="none" normalizeH="0" baseline="0" dirty="0">
                <a:ln>
                  <a:noFill/>
                </a:ln>
                <a:solidFill>
                  <a:schemeClr val="tx1"/>
                </a:solidFill>
                <a:effectLst/>
                <a:latin typeface="Arial" panose="020B0604020202020204" pitchFamily="34" charset="0"/>
              </a:rPr>
              <a:t>add</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rPr>
              <a:t>matrix</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img_rgb_darker</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rPr>
              <a:t>cv2</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200" b="0" i="0" u="none" strike="noStrike" cap="none" normalizeH="0" baseline="0" dirty="0">
                <a:ln>
                  <a:noFill/>
                </a:ln>
                <a:solidFill>
                  <a:schemeClr val="tx1"/>
                </a:solidFill>
                <a:effectLst/>
                <a:latin typeface="Arial" panose="020B0604020202020204" pitchFamily="34" charset="0"/>
              </a:rPr>
              <a:t>subtract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rPr>
              <a:t>matrix</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000" b="0" i="1"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Show the </a:t>
            </a:r>
            <a:r>
              <a:rPr kumimoji="0" lang="en-US" altLang="en-US" sz="1000" b="0" i="1" u="none" strike="noStrike" cap="none" normalizeH="0" baseline="0" dirty="0" err="1">
                <a:ln>
                  <a:noFill/>
                </a:ln>
                <a:solidFill>
                  <a:srgbClr val="000000"/>
                </a:solidFill>
                <a:effectLst/>
                <a:latin typeface="Courier New" panose="02070309020205020404" pitchFamily="49" charset="0"/>
                <a:ea typeface="Times New Roman" panose="02020603050405020304" pitchFamily="18" charset="0"/>
              </a:rPr>
              <a:t>images</a:t>
            </a:r>
            <a:r>
              <a:rPr kumimoji="0" lang="en-US" altLang="en-US" sz="1200" b="0" i="0" u="none" strike="noStrike" cap="none" normalizeH="0" baseline="0" dirty="0" err="1">
                <a:ln>
                  <a:noFill/>
                </a:ln>
                <a:solidFill>
                  <a:srgbClr val="000000"/>
                </a:solidFill>
                <a:effectLst/>
                <a:latin typeface="Arial" panose="020B0604020202020204" pitchFamily="34" charset="0"/>
              </a:rPr>
              <a:t>plt</a:t>
            </a:r>
            <a:r>
              <a:rPr kumimoji="0" lang="en-US" altLang="en-US" sz="1800" b="1" i="0" u="none" strike="noStrike" cap="none" normalizeH="0" baseline="0" dirty="0" err="1">
                <a:ln>
                  <a:noFill/>
                </a:ln>
                <a:solidFill>
                  <a:srgbClr val="000000"/>
                </a:solidFill>
                <a:effectLst/>
                <a:latin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figure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figsize</a:t>
            </a:r>
            <a:r>
              <a:rPr kumimoji="0" lang="en-US" altLang="en-US" sz="1800" b="1" i="0" u="none" strike="noStrike" cap="none" normalizeH="0" baseline="0" dirty="0">
                <a:ln>
                  <a:noFill/>
                </a:ln>
                <a:solidFill>
                  <a:srgbClr val="000000"/>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[18, 5])</a:t>
            </a:r>
            <a:r>
              <a:rPr kumimoji="0" lang="en-US" altLang="en-US" sz="1200" b="0" i="0" u="none" strike="noStrike" cap="none" normalizeH="0" baseline="0" dirty="0" err="1">
                <a:ln>
                  <a:noFill/>
                </a:ln>
                <a:solidFill>
                  <a:srgbClr val="000000"/>
                </a:solidFill>
                <a:effectLst/>
                <a:latin typeface="Arial" panose="020B0604020202020204" pitchFamily="34" charset="0"/>
              </a:rPr>
              <a:t>plt</a:t>
            </a:r>
            <a:r>
              <a:rPr kumimoji="0" lang="en-US" altLang="en-US" sz="1800" b="1" i="0" u="none" strike="noStrike" cap="none" normalizeH="0" baseline="0" dirty="0" err="1">
                <a:ln>
                  <a:noFill/>
                </a:ln>
                <a:solidFill>
                  <a:srgbClr val="000000"/>
                </a:solidFill>
                <a:effectLst/>
                <a:latin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subplot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(131);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imshow</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img_rgb_darker</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title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("Darker");</a:t>
            </a:r>
            <a:r>
              <a:rPr kumimoji="0" lang="en-US" altLang="en-US" sz="1200" b="0" i="0" u="none" strike="noStrike" cap="none" normalizeH="0" baseline="0" dirty="0" err="1">
                <a:ln>
                  <a:noFill/>
                </a:ln>
                <a:solidFill>
                  <a:srgbClr val="000000"/>
                </a:solidFill>
                <a:effectLst/>
                <a:latin typeface="Arial" panose="020B0604020202020204" pitchFamily="34" charset="0"/>
              </a:rPr>
              <a:t>plt</a:t>
            </a:r>
            <a:r>
              <a:rPr kumimoji="0" lang="en-US" altLang="en-US" sz="1800" b="1" i="0" u="none" strike="noStrike" cap="none" normalizeH="0" baseline="0" dirty="0" err="1">
                <a:ln>
                  <a:noFill/>
                </a:ln>
                <a:solidFill>
                  <a:srgbClr val="000000"/>
                </a:solidFill>
                <a:effectLst/>
                <a:latin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subplot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(132);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imshow</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title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("Original");</a:t>
            </a:r>
            <a:r>
              <a:rPr kumimoji="0" lang="en-US" altLang="en-US" sz="1200" b="0" i="0" u="none" strike="noStrike" cap="none" normalizeH="0" baseline="0" dirty="0" err="1">
                <a:ln>
                  <a:noFill/>
                </a:ln>
                <a:solidFill>
                  <a:srgbClr val="000000"/>
                </a:solidFill>
                <a:effectLst/>
                <a:latin typeface="Arial" panose="020B0604020202020204" pitchFamily="34" charset="0"/>
              </a:rPr>
              <a:t>plt</a:t>
            </a:r>
            <a:r>
              <a:rPr kumimoji="0" lang="en-US" altLang="en-US" sz="1800" b="1" i="0" u="none" strike="noStrike" cap="none" normalizeH="0" baseline="0" dirty="0" err="1">
                <a:ln>
                  <a:noFill/>
                </a:ln>
                <a:solidFill>
                  <a:srgbClr val="000000"/>
                </a:solidFill>
                <a:effectLst/>
                <a:latin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subplot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(133);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imshow</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img_rgb_brighter</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title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("Brighter");</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12292" name="Picture 46" descr="A view of a beach and a rocky shore&#10;&#10;Description automatically generated with medium confidence">
            <a:extLst>
              <a:ext uri="{FF2B5EF4-FFF2-40B4-BE49-F238E27FC236}">
                <a16:creationId xmlns:a16="http://schemas.microsoft.com/office/drawing/2014/main" id="{B3AADC51-573A-CFB4-9C1F-6422EB958B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99386"/>
            <a:ext cx="13944895" cy="345642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0CA073C-5B30-7E84-B6F0-C25D5C8C8690}"/>
              </a:ext>
            </a:extLst>
          </p:cNvPr>
          <p:cNvSpPr>
            <a:spLocks noChangeArrowheads="1"/>
          </p:cNvSpPr>
          <p:nvPr/>
        </p:nvSpPr>
        <p:spPr bwMode="auto">
          <a:xfrm>
            <a:off x="0" y="1930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6736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D95B-2C42-1FB4-AFC8-64C50422A58E}"/>
              </a:ext>
            </a:extLst>
          </p:cNvPr>
          <p:cNvSpPr>
            <a:spLocks noGrp="1"/>
          </p:cNvSpPr>
          <p:nvPr>
            <p:ph type="title"/>
          </p:nvPr>
        </p:nvSpPr>
        <p:spPr/>
        <p:txBody>
          <a:bodyPr/>
          <a:lstStyle/>
          <a:p>
            <a:r>
              <a:rPr lang="en-US" dirty="0" err="1"/>
              <a:t>COntrast</a:t>
            </a:r>
            <a:endParaRPr lang="en-US" dirty="0"/>
          </a:p>
        </p:txBody>
      </p:sp>
      <p:sp>
        <p:nvSpPr>
          <p:cNvPr id="3" name="Content Placeholder 2">
            <a:extLst>
              <a:ext uri="{FF2B5EF4-FFF2-40B4-BE49-F238E27FC236}">
                <a16:creationId xmlns:a16="http://schemas.microsoft.com/office/drawing/2014/main" id="{F80E9A2B-1777-90F9-1507-48FDB581D941}"/>
              </a:ext>
            </a:extLst>
          </p:cNvPr>
          <p:cNvSpPr>
            <a:spLocks noGrp="1"/>
          </p:cNvSpPr>
          <p:nvPr>
            <p:ph idx="1"/>
          </p:nvPr>
        </p:nvSpPr>
        <p:spPr/>
        <p:txBody>
          <a:bodyPr/>
          <a:lstStyle/>
          <a:p>
            <a:pPr marL="0" marR="0" algn="l">
              <a:lnSpc>
                <a:spcPct val="115000"/>
              </a:lnSpc>
              <a:spcBef>
                <a:spcPts val="1200"/>
              </a:spcBef>
              <a:spcAft>
                <a:spcPts val="400"/>
              </a:spcAft>
            </a:pPr>
            <a:r>
              <a:rPr lang="en-US" sz="1800" b="1" cap="small" spc="25" dirty="0">
                <a:solidFill>
                  <a:srgbClr val="000000"/>
                </a:solidFill>
                <a:effectLst/>
                <a:latin typeface="var(--jp-content-font-family)"/>
                <a:ea typeface="Times New Roman" panose="02020603050405020304" pitchFamily="18" charset="0"/>
                <a:cs typeface="Segoe UI" panose="020B0502040204020203" pitchFamily="34" charset="0"/>
              </a:rPr>
              <a:t>Multiplication or Contrast</a:t>
            </a:r>
            <a:endParaRPr lang="en-US" sz="1800" b="1" cap="small" spc="25" dirty="0">
              <a:effectLst/>
              <a:latin typeface="Aptos" panose="020B0004020202020204" pitchFamily="34" charset="0"/>
              <a:ea typeface="Times New Roman" panose="02020603050405020304" pitchFamily="18" charset="0"/>
              <a:cs typeface="Times New Roman" panose="02020603050405020304" pitchFamily="18" charset="0"/>
            </a:endParaRPr>
          </a:p>
          <a:p>
            <a:pPr marL="0" marR="0" algn="just">
              <a:lnSpc>
                <a:spcPct val="115000"/>
              </a:lnSpc>
              <a:spcBef>
                <a:spcPts val="0"/>
              </a:spcBef>
              <a:spcAft>
                <a:spcPts val="1200"/>
              </a:spcAft>
            </a:pPr>
            <a:r>
              <a:rPr lang="en-US" sz="1800" dirty="0">
                <a:solidFill>
                  <a:srgbClr val="000000"/>
                </a:solidFill>
                <a:effectLst/>
                <a:latin typeface="var(--jp-content-font-family)"/>
                <a:ea typeface="Times New Roman" panose="02020603050405020304" pitchFamily="18" charset="0"/>
                <a:cs typeface="Segoe UI" panose="020B0502040204020203" pitchFamily="34" charset="0"/>
              </a:rPr>
              <a:t>Just like addition can result in brightness change, multiplication can be used to improve the contrast of the image.</a:t>
            </a:r>
            <a:endParaRPr lang="en-US" sz="1800" dirty="0">
              <a:effectLst/>
              <a:latin typeface="Times New Roman" panose="02020603050405020304" pitchFamily="18" charset="0"/>
              <a:ea typeface="Times New Roman" panose="02020603050405020304" pitchFamily="18" charset="0"/>
            </a:endParaRPr>
          </a:p>
          <a:p>
            <a:pPr marL="0" marR="0" algn="just">
              <a:lnSpc>
                <a:spcPct val="115000"/>
              </a:lnSpc>
              <a:spcBef>
                <a:spcPts val="0"/>
              </a:spcBef>
              <a:spcAft>
                <a:spcPts val="600"/>
              </a:spcAft>
            </a:pPr>
            <a:r>
              <a:rPr lang="en-US" sz="1800" dirty="0">
                <a:solidFill>
                  <a:srgbClr val="000000"/>
                </a:solidFill>
                <a:effectLst/>
                <a:latin typeface="var(--jp-content-font-family)"/>
                <a:ea typeface="Times New Roman" panose="02020603050405020304" pitchFamily="18" charset="0"/>
                <a:cs typeface="Segoe UI" panose="020B0502040204020203" pitchFamily="34" charset="0"/>
              </a:rPr>
              <a:t>Contrast is the difference in the intensity values of the pixels of an image. Multiplying the intensity values with a constant can make the difference larger or smaller ( if multiplying factor is &lt; 1 ).</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310316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3809-BC22-C394-21B3-42AC129A31D6}"/>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619FFF23-DBC2-BEF1-0D33-754150623F0A}"/>
              </a:ext>
            </a:extLst>
          </p:cNvPr>
          <p:cNvSpPr>
            <a:spLocks noGrp="1" noChangeArrowheads="1"/>
          </p:cNvSpPr>
          <p:nvPr>
            <p:ph idx="1"/>
          </p:nvPr>
        </p:nvSpPr>
        <p:spPr bwMode="auto">
          <a:xfrm>
            <a:off x="582168" y="1972341"/>
            <a:ext cx="7318248" cy="1790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rPr>
              <a:t>matrix1</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np</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ones</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shape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0.8</a:t>
            </a:r>
            <a:r>
              <a:rPr kumimoji="0" lang="en-US" altLang="en-US" sz="1200" b="0" i="0" u="none" strike="noStrike" cap="none" normalizeH="0" baseline="0" dirty="0">
                <a:ln>
                  <a:noFill/>
                </a:ln>
                <a:solidFill>
                  <a:srgbClr val="000000"/>
                </a:solidFill>
                <a:effectLst/>
                <a:latin typeface="Arial" panose="020B0604020202020204" pitchFamily="34" charset="0"/>
              </a:rPr>
              <a:t>matrix2</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np</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ones</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shape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1.2</a:t>
            </a:r>
            <a:r>
              <a:rPr kumimoji="0" lang="en-US" altLang="en-US" sz="1200" b="0" i="0" u="none" strike="noStrike" cap="none" normalizeH="0" baseline="0" dirty="0">
                <a:ln>
                  <a:noFill/>
                </a:ln>
                <a:solidFill>
                  <a:srgbClr val="000000"/>
                </a:solidFill>
                <a:effectLst/>
                <a:latin typeface="Arial" panose="020B0604020202020204" pitchFamily="34" charset="0"/>
              </a:rPr>
              <a:t>img_rgb_darker</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rPr>
              <a:t>np</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200" b="0" i="0" u="none" strike="noStrike" cap="none" normalizeH="0" baseline="0" dirty="0">
                <a:ln>
                  <a:noFill/>
                </a:ln>
                <a:solidFill>
                  <a:schemeClr val="tx1"/>
                </a:solidFill>
                <a:effectLst/>
                <a:latin typeface="Arial" panose="020B0604020202020204" pitchFamily="34" charset="0"/>
              </a:rPr>
              <a:t>uint8</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a:ln>
                  <a:noFill/>
                </a:ln>
                <a:solidFill>
                  <a:schemeClr val="tx1"/>
                </a:solidFill>
                <a:effectLst/>
                <a:latin typeface="Arial" panose="020B0604020202020204" pitchFamily="34" charset="0"/>
              </a:rPr>
              <a:t>cv2</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200" b="0" i="0" u="none" strike="noStrike" cap="none" normalizeH="0" baseline="0" dirty="0">
                <a:ln>
                  <a:noFill/>
                </a:ln>
                <a:solidFill>
                  <a:schemeClr val="tx1"/>
                </a:solidFill>
                <a:effectLst/>
                <a:latin typeface="Arial" panose="020B0604020202020204" pitchFamily="34" charset="0"/>
              </a:rPr>
              <a:t>multiply</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a:ln>
                  <a:noFill/>
                </a:ln>
                <a:solidFill>
                  <a:schemeClr val="tx1"/>
                </a:solidFill>
                <a:effectLst/>
                <a:latin typeface="Arial" panose="020B0604020202020204" pitchFamily="34" charset="0"/>
              </a:rPr>
              <a:t>np</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200" b="0" i="0" u="none" strike="noStrike" cap="none" normalizeH="0" baseline="0" dirty="0">
                <a:ln>
                  <a:noFill/>
                </a:ln>
                <a:solidFill>
                  <a:schemeClr val="tx1"/>
                </a:solidFill>
                <a:effectLst/>
                <a:latin typeface="Arial" panose="020B0604020202020204" pitchFamily="34" charset="0"/>
              </a:rPr>
              <a:t>float64</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rPr>
              <a:t>matrix1</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img_rgb_brighter</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rPr>
              <a:t>np</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200" b="0" i="0" u="none" strike="noStrike" cap="none" normalizeH="0" baseline="0" dirty="0">
                <a:ln>
                  <a:noFill/>
                </a:ln>
                <a:solidFill>
                  <a:schemeClr val="tx1"/>
                </a:solidFill>
                <a:effectLst/>
                <a:latin typeface="Arial" panose="020B0604020202020204" pitchFamily="34" charset="0"/>
              </a:rPr>
              <a:t>uint8</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a:ln>
                  <a:noFill/>
                </a:ln>
                <a:solidFill>
                  <a:schemeClr val="tx1"/>
                </a:solidFill>
                <a:effectLst/>
                <a:latin typeface="Arial" panose="020B0604020202020204" pitchFamily="34" charset="0"/>
              </a:rPr>
              <a:t>cv2</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200" b="0" i="0" u="none" strike="noStrike" cap="none" normalizeH="0" baseline="0" dirty="0">
                <a:ln>
                  <a:noFill/>
                </a:ln>
                <a:solidFill>
                  <a:schemeClr val="tx1"/>
                </a:solidFill>
                <a:effectLst/>
                <a:latin typeface="Arial" panose="020B0604020202020204" pitchFamily="34" charset="0"/>
              </a:rPr>
              <a:t>multiply</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a:ln>
                  <a:noFill/>
                </a:ln>
                <a:solidFill>
                  <a:schemeClr val="tx1"/>
                </a:solidFill>
                <a:effectLst/>
                <a:latin typeface="Arial" panose="020B0604020202020204" pitchFamily="34" charset="0"/>
              </a:rPr>
              <a:t>np</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200" b="0" i="0" u="none" strike="noStrike" cap="none" normalizeH="0" baseline="0" dirty="0">
                <a:ln>
                  <a:noFill/>
                </a:ln>
                <a:solidFill>
                  <a:schemeClr val="tx1"/>
                </a:solidFill>
                <a:effectLst/>
                <a:latin typeface="Arial" panose="020B0604020202020204" pitchFamily="34" charset="0"/>
              </a:rPr>
              <a:t>float64</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panose="020B0604020202020204" pitchFamily="34" charset="0"/>
              </a:rPr>
              <a:t>matrix2</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000" b="0" i="1"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Show the </a:t>
            </a:r>
            <a:r>
              <a:rPr kumimoji="0" lang="en-US" altLang="en-US" sz="1000" b="0" i="1" u="none" strike="noStrike" cap="none" normalizeH="0" baseline="0" dirty="0" err="1">
                <a:ln>
                  <a:noFill/>
                </a:ln>
                <a:solidFill>
                  <a:srgbClr val="000000"/>
                </a:solidFill>
                <a:effectLst/>
                <a:latin typeface="Courier New" panose="02070309020205020404" pitchFamily="49" charset="0"/>
                <a:ea typeface="Times New Roman" panose="02020603050405020304" pitchFamily="18" charset="0"/>
              </a:rPr>
              <a:t>images</a:t>
            </a:r>
            <a:r>
              <a:rPr kumimoji="0" lang="en-US" altLang="en-US" sz="1200" b="0" i="0" u="none" strike="noStrike" cap="none" normalizeH="0" baseline="0" dirty="0" err="1">
                <a:ln>
                  <a:noFill/>
                </a:ln>
                <a:solidFill>
                  <a:srgbClr val="000000"/>
                </a:solidFill>
                <a:effectLst/>
                <a:latin typeface="Arial" panose="020B0604020202020204" pitchFamily="34" charset="0"/>
              </a:rPr>
              <a:t>plt</a:t>
            </a:r>
            <a:r>
              <a:rPr kumimoji="0" lang="en-US" altLang="en-US" sz="1800" b="1" i="0" u="none" strike="noStrike" cap="none" normalizeH="0" baseline="0" dirty="0" err="1">
                <a:ln>
                  <a:noFill/>
                </a:ln>
                <a:solidFill>
                  <a:srgbClr val="000000"/>
                </a:solidFill>
                <a:effectLst/>
                <a:latin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figure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figsize</a:t>
            </a:r>
            <a:r>
              <a:rPr kumimoji="0" lang="en-US" altLang="en-US" sz="1800" b="1" i="0" u="none" strike="noStrike" cap="none" normalizeH="0" baseline="0" dirty="0">
                <a:ln>
                  <a:noFill/>
                </a:ln>
                <a:solidFill>
                  <a:srgbClr val="000000"/>
                </a:solidFill>
                <a:effectLst/>
                <a:latin typeface="Arial" panose="020B0604020202020204" pitchFamily="34" charset="0"/>
              </a:rPr>
              <a: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[18,5])</a:t>
            </a:r>
            <a:r>
              <a:rPr kumimoji="0" lang="en-US" altLang="en-US" sz="1200" b="0" i="0" u="none" strike="noStrike" cap="none" normalizeH="0" baseline="0" dirty="0" err="1">
                <a:ln>
                  <a:noFill/>
                </a:ln>
                <a:solidFill>
                  <a:srgbClr val="000000"/>
                </a:solidFill>
                <a:effectLst/>
                <a:latin typeface="Arial" panose="020B0604020202020204" pitchFamily="34" charset="0"/>
              </a:rPr>
              <a:t>plt</a:t>
            </a:r>
            <a:r>
              <a:rPr kumimoji="0" lang="en-US" altLang="en-US" sz="1800" b="1" i="0" u="none" strike="noStrike" cap="none" normalizeH="0" baseline="0" dirty="0" err="1">
                <a:ln>
                  <a:noFill/>
                </a:ln>
                <a:solidFill>
                  <a:srgbClr val="000000"/>
                </a:solidFill>
                <a:effectLst/>
                <a:latin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subplot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(131);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imshow</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img_rgb_darker</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title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("Lower Contrast");</a:t>
            </a:r>
            <a:r>
              <a:rPr kumimoji="0" lang="en-US" altLang="en-US" sz="1200" b="0" i="0" u="none" strike="noStrike" cap="none" normalizeH="0" baseline="0" dirty="0" err="1">
                <a:ln>
                  <a:noFill/>
                </a:ln>
                <a:solidFill>
                  <a:srgbClr val="000000"/>
                </a:solidFill>
                <a:effectLst/>
                <a:latin typeface="Arial" panose="020B0604020202020204" pitchFamily="34" charset="0"/>
              </a:rPr>
              <a:t>plt</a:t>
            </a:r>
            <a:r>
              <a:rPr kumimoji="0" lang="en-US" altLang="en-US" sz="1800" b="1" i="0" u="none" strike="noStrike" cap="none" normalizeH="0" baseline="0" dirty="0" err="1">
                <a:ln>
                  <a:noFill/>
                </a:ln>
                <a:solidFill>
                  <a:srgbClr val="000000"/>
                </a:solidFill>
                <a:effectLst/>
                <a:latin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subplot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(132);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imshow</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title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("Original");</a:t>
            </a:r>
            <a:r>
              <a:rPr kumimoji="0" lang="en-US" altLang="en-US" sz="1200" b="0" i="0" u="none" strike="noStrike" cap="none" normalizeH="0" baseline="0" dirty="0" err="1">
                <a:ln>
                  <a:noFill/>
                </a:ln>
                <a:solidFill>
                  <a:srgbClr val="000000"/>
                </a:solidFill>
                <a:effectLst/>
                <a:latin typeface="Arial" panose="020B0604020202020204" pitchFamily="34" charset="0"/>
              </a:rPr>
              <a:t>plt</a:t>
            </a:r>
            <a:r>
              <a:rPr kumimoji="0" lang="en-US" altLang="en-US" sz="1800" b="1" i="0" u="none" strike="noStrike" cap="none" normalizeH="0" baseline="0" dirty="0" err="1">
                <a:ln>
                  <a:noFill/>
                </a:ln>
                <a:solidFill>
                  <a:srgbClr val="000000"/>
                </a:solidFill>
                <a:effectLst/>
                <a:latin typeface="Arial" panose="020B0604020202020204" pitchFamily="34" charset="0"/>
              </a:rPr>
              <a:t>.</a:t>
            </a:r>
            <a:r>
              <a:rPr kumimoji="0" lang="en-US" altLang="en-US" sz="1200" b="0" i="0" u="none" strike="noStrike" cap="none" normalizeH="0" baseline="0" dirty="0" err="1">
                <a:ln>
                  <a:noFill/>
                </a:ln>
                <a:solidFill>
                  <a:srgbClr val="000000"/>
                </a:solidFill>
                <a:effectLst/>
                <a:latin typeface="Arial" panose="020B0604020202020204" pitchFamily="34" charset="0"/>
              </a:rPr>
              <a:t>subplot</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(133); </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imshow</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img_rgb_brighter</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plt</a:t>
            </a:r>
            <a:r>
              <a:rPr kumimoji="0" lang="en-US" altLang="en-US" sz="1800" b="1" i="0" u="none" strike="noStrike" cap="none" normalizeH="0" baseline="0" dirty="0" err="1">
                <a:ln>
                  <a:noFill/>
                </a:ln>
                <a:solidFill>
                  <a:schemeClr val="tx1"/>
                </a:solidFill>
                <a:effectLst/>
                <a:latin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rPr>
              <a:t>title</a:t>
            </a:r>
            <a:r>
              <a:rPr kumimoji="0" lang="en-US" altLang="en-US" sz="1000" b="0" i="0" u="none" strike="noStrike" cap="none" normalizeH="0" baseline="0" dirty="0">
                <a:ln>
                  <a:noFill/>
                </a:ln>
                <a:solidFill>
                  <a:srgbClr val="000000"/>
                </a:solidFill>
                <a:effectLst/>
                <a:latin typeface="Courier New" panose="02070309020205020404" pitchFamily="49" charset="0"/>
                <a:ea typeface="Times New Roman" panose="02020603050405020304" pitchFamily="18" charset="0"/>
              </a:rPr>
              <a:t>("Higher Contrast");</a:t>
            </a:r>
            <a:r>
              <a:rPr kumimoji="0" lang="en-US" altLang="en-US" sz="1000" b="0" i="0" u="none" strike="noStrike" cap="none" normalizeH="0" baseline="0" dirty="0">
                <a:ln>
                  <a:noFill/>
                </a:ln>
                <a:solidFill>
                  <a:schemeClr val="tx1"/>
                </a:solidFill>
                <a:effectLst/>
              </a:rPr>
              <a:t> </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5" name="Picture 4" descr="A view of a beach and a rocky shore&#10;&#10;Description automatically generated with medium confidence">
            <a:extLst>
              <a:ext uri="{FF2B5EF4-FFF2-40B4-BE49-F238E27FC236}">
                <a16:creationId xmlns:a16="http://schemas.microsoft.com/office/drawing/2014/main" id="{4C925452-3BF5-CDCA-865F-81635946FA9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8744" y="4448683"/>
            <a:ext cx="5943600" cy="1471930"/>
          </a:xfrm>
          <a:prstGeom prst="rect">
            <a:avLst/>
          </a:prstGeom>
          <a:noFill/>
          <a:ln>
            <a:noFill/>
          </a:ln>
        </p:spPr>
      </p:pic>
    </p:spTree>
    <p:extLst>
      <p:ext uri="{BB962C8B-B14F-4D97-AF65-F5344CB8AC3E}">
        <p14:creationId xmlns:p14="http://schemas.microsoft.com/office/powerpoint/2010/main" val="2315595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DD60-E9BC-ABA9-6C95-F720FBEE1951}"/>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ECE7B6BD-1B87-AE1A-7C5F-28A3D9FD4FB0}"/>
              </a:ext>
            </a:extLst>
          </p:cNvPr>
          <p:cNvSpPr>
            <a:spLocks noGrp="1" noChangeArrowheads="1"/>
          </p:cNvSpPr>
          <p:nvPr>
            <p:ph idx="1"/>
          </p:nvPr>
        </p:nvSpPr>
        <p:spPr bwMode="auto">
          <a:xfrm>
            <a:off x="838200" y="2196414"/>
            <a:ext cx="9000744" cy="178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8000"/>
                </a:solidFill>
                <a:effectLst/>
                <a:latin typeface="var(--jp-content-font-family)"/>
                <a:ea typeface="Times New Roman" panose="02020603050405020304" pitchFamily="18" charset="0"/>
                <a:cs typeface="Segoe UI" panose="020B0502040204020203" pitchFamily="34" charset="0"/>
              </a:rPr>
              <a:t>What happened?</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var(--jp-content-font-family)"/>
                <a:ea typeface="Times New Roman" panose="02020603050405020304" pitchFamily="18" charset="0"/>
                <a:cs typeface="Segoe UI" panose="020B0502040204020203" pitchFamily="34" charset="0"/>
              </a:rPr>
              <a:t>Can you see the weird colors in some areas of the image after multiplication?</a:t>
            </a:r>
            <a:endParaRPr kumimoji="0" lang="en-US" altLang="en-US" sz="1000" b="0" i="0" u="none" strike="noStrike" cap="none" normalizeH="0" baseline="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var(--jp-content-font-family)"/>
                <a:ea typeface="Times New Roman" panose="02020603050405020304" pitchFamily="18" charset="0"/>
                <a:cs typeface="Segoe UI" panose="020B0502040204020203" pitchFamily="34" charset="0"/>
              </a:rPr>
              <a:t>The issue is that after multiplying, the values which are already high, are becoming greater than 255. Thus, the overflow issue. How do we overcome this?</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8000"/>
                </a:solidFill>
                <a:effectLst/>
                <a:latin typeface="var(--jp-content-font-family)"/>
                <a:ea typeface="Times New Roman" panose="02020603050405020304" pitchFamily="18" charset="0"/>
                <a:cs typeface="Segoe UI" panose="020B0502040204020203" pitchFamily="34" charset="0"/>
              </a:rPr>
              <a:t>Handling Overflow using np.clip</a:t>
            </a:r>
            <a:endParaRPr kumimoji="0" lang="en-US" altLang="en-US" sz="1200" b="0" i="0" u="none" strike="noStrike" cap="none" normalizeH="0" baseline="0">
              <a:ln>
                <a:noFill/>
              </a:ln>
              <a:solidFill>
                <a:schemeClr val="tx1"/>
              </a:solidFill>
              <a:effectLst/>
              <a:latin typeface="Aptos"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In</a:t>
            </a:r>
            <a:r>
              <a:rPr kumimoji="0" lang="en-US" altLang="en-US" sz="1000" b="0" i="0" u="none" strike="noStrike" cap="none" normalizeH="0" baseline="0">
                <a:ln>
                  <a:noFill/>
                </a:ln>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a:t>
            </a:r>
            <a:r>
              <a:rPr kumimoji="0" lang="en-US" altLang="en-US" sz="1000" b="0" i="0" u="none" strike="noStrike" cap="none" normalizeH="0" baseline="0">
                <a:ln>
                  <a:noFill/>
                </a:ln>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[7]:</a:t>
            </a:r>
            <a:endParaRPr kumimoji="0" lang="en-US" altLang="en-US" sz="1200" b="0" i="0" u="none" strike="noStrike" cap="none" normalizeH="0" baseline="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200" b="0" i="0" u="none" strike="noStrike" cap="none" normalizeH="0" baseline="0">
                <a:ln>
                  <a:noFill/>
                </a:ln>
                <a:solidFill>
                  <a:srgbClr val="000000"/>
                </a:solidFill>
                <a:effectLst/>
                <a:latin typeface="Arial" panose="020B0604020202020204" pitchFamily="34" charset="0"/>
              </a:rPr>
              <a:t>matrix1</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np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ones</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img_rgb</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shape</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0.8</a:t>
            </a:r>
            <a:r>
              <a:rPr kumimoji="0" lang="en-US" altLang="en-US" sz="1200" b="0" i="0" u="none" strike="noStrike" cap="none" normalizeH="0" baseline="0">
                <a:ln>
                  <a:noFill/>
                </a:ln>
                <a:solidFill>
                  <a:srgbClr val="000000"/>
                </a:solidFill>
                <a:effectLst/>
                <a:latin typeface="Arial" panose="020B0604020202020204" pitchFamily="34" charset="0"/>
              </a:rPr>
              <a:t>matrix2</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np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ones</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img_rgb</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shape</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1.2</a:t>
            </a:r>
            <a:r>
              <a:rPr kumimoji="0" lang="en-US" altLang="en-US" sz="1200" b="0" i="0" u="none" strike="noStrike" cap="none" normalizeH="0" baseline="0">
                <a:ln>
                  <a:noFill/>
                </a:ln>
                <a:solidFill>
                  <a:srgbClr val="000000"/>
                </a:solidFill>
                <a:effectLst/>
                <a:latin typeface="Arial" panose="020B0604020202020204" pitchFamily="34" charset="0"/>
              </a:rPr>
              <a:t>img_rgb_lower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np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uint8</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multiply</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np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float64</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img_rgb</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matrix1</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rgbClr val="000000"/>
                </a:solidFill>
                <a:effectLst/>
                <a:latin typeface="Arial" panose="020B0604020202020204" pitchFamily="34" charset="0"/>
              </a:rPr>
              <a:t>img_rgb_higher</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np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uint8</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np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clip</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cv2</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multiply</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np</a:t>
            </a:r>
            <a:r>
              <a:rPr kumimoji="0" lang="en-US" altLang="en-US" sz="1800" b="1" i="0" u="none" strike="noStrike" cap="none" normalizeH="0" baseline="0">
                <a:ln>
                  <a:noFill/>
                </a:ln>
                <a:solidFill>
                  <a:schemeClr val="tx1"/>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Arial" panose="020B0604020202020204" pitchFamily="34" charset="0"/>
              </a:rPr>
              <a:t>float64</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a:t>
            </a:r>
            <a:r>
              <a:rPr kumimoji="0" lang="en-US" altLang="en-US" sz="1200" b="0" i="0" u="none" strike="noStrike" cap="none" normalizeH="0" baseline="0">
                <a:ln>
                  <a:noFill/>
                </a:ln>
                <a:solidFill>
                  <a:schemeClr val="tx1"/>
                </a:solidFill>
                <a:effectLst/>
                <a:latin typeface="Arial" panose="020B0604020202020204" pitchFamily="34" charset="0"/>
              </a:rPr>
              <a:t>img_rgb</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rPr>
              <a:t>matrix2</a:t>
            </a:r>
            <a:r>
              <a:rPr kumimoji="0" lang="en-US" altLang="en-US" sz="1000" b="0" i="0" u="none" strike="noStrike" cap="none" normalizeH="0" baseline="0">
                <a:ln>
                  <a:noFill/>
                </a:ln>
                <a:solidFill>
                  <a:srgbClr val="000000"/>
                </a:solidFill>
                <a:effectLst/>
                <a:latin typeface="Courier New" panose="02070309020205020404" pitchFamily="49" charset="0"/>
                <a:ea typeface="Times New Roman" panose="02020603050405020304" pitchFamily="18" charset="0"/>
              </a:rPr>
              <a:t>), 0, 255))</a:t>
            </a:r>
            <a:r>
              <a:rPr kumimoji="0" lang="en-US" altLang="en-US" sz="10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descr="A view of a beach and a rocky shore&#10;&#10;Description automatically generated with medium confidence">
            <a:extLst>
              <a:ext uri="{FF2B5EF4-FFF2-40B4-BE49-F238E27FC236}">
                <a16:creationId xmlns:a16="http://schemas.microsoft.com/office/drawing/2014/main" id="{25007B13-8089-DAB8-CE69-4767214B8AB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008" y="4483100"/>
            <a:ext cx="5943600" cy="1471930"/>
          </a:xfrm>
          <a:prstGeom prst="rect">
            <a:avLst/>
          </a:prstGeom>
          <a:noFill/>
          <a:ln>
            <a:noFill/>
          </a:ln>
        </p:spPr>
      </p:pic>
    </p:spTree>
    <p:extLst>
      <p:ext uri="{BB962C8B-B14F-4D97-AF65-F5344CB8AC3E}">
        <p14:creationId xmlns:p14="http://schemas.microsoft.com/office/powerpoint/2010/main" val="1517423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1967F-7043-CB4F-61FC-455F98C022E9}"/>
              </a:ext>
            </a:extLst>
          </p:cNvPr>
          <p:cNvSpPr>
            <a:spLocks noGrp="1"/>
          </p:cNvSpPr>
          <p:nvPr>
            <p:ph type="title"/>
          </p:nvPr>
        </p:nvSpPr>
        <p:spPr/>
        <p:txBody>
          <a:bodyPr/>
          <a:lstStyle/>
          <a:p>
            <a:r>
              <a:rPr lang="en-US" dirty="0"/>
              <a:t>Equalization</a:t>
            </a:r>
          </a:p>
        </p:txBody>
      </p:sp>
      <p:pic>
        <p:nvPicPr>
          <p:cNvPr id="7170" name="Picture 2" descr="Histogram Equalization of Grayscale Image">
            <a:extLst>
              <a:ext uri="{FF2B5EF4-FFF2-40B4-BE49-F238E27FC236}">
                <a16:creationId xmlns:a16="http://schemas.microsoft.com/office/drawing/2014/main" id="{B4869452-999B-0368-0A32-253A55A753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2700" y="3724275"/>
            <a:ext cx="8128000" cy="27686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deal histogram of the image after the equalization">
            <a:extLst>
              <a:ext uri="{FF2B5EF4-FFF2-40B4-BE49-F238E27FC236}">
                <a16:creationId xmlns:a16="http://schemas.microsoft.com/office/drawing/2014/main" id="{1FE7C013-4710-BAA7-498D-ECA707CF4A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2978" y="1270000"/>
            <a:ext cx="3659322" cy="21590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Image Histogram">
            <a:extLst>
              <a:ext uri="{FF2B5EF4-FFF2-40B4-BE49-F238E27FC236}">
                <a16:creationId xmlns:a16="http://schemas.microsoft.com/office/drawing/2014/main" id="{98481736-8401-916A-14FE-F527FAB7D7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1181100"/>
            <a:ext cx="3960678" cy="2336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math equation with black text&#10;&#10;Description automatically generated with medium confidence">
            <a:extLst>
              <a:ext uri="{FF2B5EF4-FFF2-40B4-BE49-F238E27FC236}">
                <a16:creationId xmlns:a16="http://schemas.microsoft.com/office/drawing/2014/main" id="{E83BFE1D-2276-F86E-30B5-170120FAF282}"/>
              </a:ext>
            </a:extLst>
          </p:cNvPr>
          <p:cNvPicPr>
            <a:picLocks noChangeAspect="1"/>
          </p:cNvPicPr>
          <p:nvPr/>
        </p:nvPicPr>
        <p:blipFill>
          <a:blip r:embed="rId5"/>
          <a:stretch>
            <a:fillRect/>
          </a:stretch>
        </p:blipFill>
        <p:spPr>
          <a:xfrm>
            <a:off x="3384550" y="2959100"/>
            <a:ext cx="5422900" cy="939800"/>
          </a:xfrm>
          <a:prstGeom prst="rect">
            <a:avLst/>
          </a:prstGeom>
        </p:spPr>
      </p:pic>
    </p:spTree>
    <p:extLst>
      <p:ext uri="{BB962C8B-B14F-4D97-AF65-F5344CB8AC3E}">
        <p14:creationId xmlns:p14="http://schemas.microsoft.com/office/powerpoint/2010/main" val="2006456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3FFDDCA9-8C71-73FD-2EE5-39E9299978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150" y="431800"/>
            <a:ext cx="5054600" cy="3289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B003A3B-4FE4-F38B-6CC6-08682A2CCF48}"/>
              </a:ext>
            </a:extLst>
          </p:cNvPr>
          <p:cNvSpPr txBox="1"/>
          <p:nvPr/>
        </p:nvSpPr>
        <p:spPr>
          <a:xfrm>
            <a:off x="819150" y="4031734"/>
            <a:ext cx="6096000" cy="369332"/>
          </a:xfrm>
          <a:prstGeom prst="rect">
            <a:avLst/>
          </a:prstGeom>
          <a:noFill/>
        </p:spPr>
        <p:txBody>
          <a:bodyPr wrap="square">
            <a:spAutoFit/>
          </a:bodyPr>
          <a:lstStyle/>
          <a:p>
            <a:r>
              <a:rPr lang="en-US" b="0" i="0" dirty="0" err="1">
                <a:solidFill>
                  <a:srgbClr val="242424"/>
                </a:solidFill>
                <a:effectLst/>
                <a:highlight>
                  <a:srgbClr val="E8F3E8"/>
                </a:highlight>
                <a:latin typeface="source-code-pro"/>
              </a:rPr>
              <a:t>equ</a:t>
            </a:r>
            <a:r>
              <a:rPr lang="en-US" b="0" i="0" dirty="0">
                <a:solidFill>
                  <a:srgbClr val="242424"/>
                </a:solidFill>
                <a:effectLst/>
                <a:highlight>
                  <a:srgbClr val="E8F3E8"/>
                </a:highlight>
                <a:latin typeface="source-code-pro"/>
              </a:rPr>
              <a:t> = </a:t>
            </a:r>
            <a:r>
              <a:rPr lang="en-US" b="0" i="0" dirty="0" err="1">
                <a:solidFill>
                  <a:srgbClr val="242424"/>
                </a:solidFill>
                <a:effectLst/>
                <a:highlight>
                  <a:srgbClr val="E8F3E8"/>
                </a:highlight>
                <a:latin typeface="source-code-pro"/>
              </a:rPr>
              <a:t>cv.equalizeHist</a:t>
            </a:r>
            <a:r>
              <a:rPr lang="en-US" b="0" i="0" dirty="0">
                <a:solidFill>
                  <a:srgbClr val="242424"/>
                </a:solidFill>
                <a:effectLst/>
                <a:highlight>
                  <a:srgbClr val="E8F3E8"/>
                </a:highlight>
                <a:latin typeface="source-code-pro"/>
              </a:rPr>
              <a:t>(</a:t>
            </a:r>
            <a:r>
              <a:rPr lang="en-US" b="0" i="0" dirty="0" err="1">
                <a:solidFill>
                  <a:srgbClr val="242424"/>
                </a:solidFill>
                <a:effectLst/>
                <a:highlight>
                  <a:srgbClr val="E8F3E8"/>
                </a:highlight>
                <a:latin typeface="source-code-pro"/>
              </a:rPr>
              <a:t>img</a:t>
            </a:r>
            <a:r>
              <a:rPr lang="en-US" b="0" i="0" dirty="0">
                <a:solidFill>
                  <a:srgbClr val="242424"/>
                </a:solidFill>
                <a:effectLst/>
                <a:highlight>
                  <a:srgbClr val="E8F3E8"/>
                </a:highlight>
                <a:latin typeface="source-code-pro"/>
              </a:rPr>
              <a:t>)</a:t>
            </a:r>
            <a:endParaRPr lang="en-US" dirty="0"/>
          </a:p>
        </p:txBody>
      </p:sp>
      <p:pic>
        <p:nvPicPr>
          <p:cNvPr id="9218" name="Picture 2">
            <a:extLst>
              <a:ext uri="{FF2B5EF4-FFF2-40B4-BE49-F238E27FC236}">
                <a16:creationId xmlns:a16="http://schemas.microsoft.com/office/drawing/2014/main" id="{223EFB05-EDCA-B874-60CF-7674C0A896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6250" y="3594100"/>
            <a:ext cx="5041900" cy="3213100"/>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a:extLst>
              <a:ext uri="{FF2B5EF4-FFF2-40B4-BE49-F238E27FC236}">
                <a16:creationId xmlns:a16="http://schemas.microsoft.com/office/drawing/2014/main" id="{AF8E02AA-339E-FE87-ABDD-823F04DD88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0100" y="561722"/>
            <a:ext cx="4076700" cy="2289428"/>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a:extLst>
              <a:ext uri="{FF2B5EF4-FFF2-40B4-BE49-F238E27FC236}">
                <a16:creationId xmlns:a16="http://schemas.microsoft.com/office/drawing/2014/main" id="{EFFAD845-7759-5BE5-FABC-DFAF90211F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9106" y="3882256"/>
            <a:ext cx="4070094" cy="2289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141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05563-BACE-8F08-A8B8-A0769E2A6E4E}"/>
              </a:ext>
            </a:extLst>
          </p:cNvPr>
          <p:cNvSpPr>
            <a:spLocks noGrp="1"/>
          </p:cNvSpPr>
          <p:nvPr>
            <p:ph type="title"/>
          </p:nvPr>
        </p:nvSpPr>
        <p:spPr/>
        <p:txBody>
          <a:bodyPr/>
          <a:lstStyle/>
          <a:p>
            <a:r>
              <a:rPr lang="en-US" dirty="0"/>
              <a:t>Histogram matching</a:t>
            </a:r>
          </a:p>
        </p:txBody>
      </p:sp>
      <p:pic>
        <p:nvPicPr>
          <p:cNvPr id="10242" name="Picture 2">
            <a:extLst>
              <a:ext uri="{FF2B5EF4-FFF2-40B4-BE49-F238E27FC236}">
                <a16:creationId xmlns:a16="http://schemas.microsoft.com/office/drawing/2014/main" id="{F6836D2C-FE6D-6C6C-9115-FBDB06648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393373"/>
            <a:ext cx="4635500" cy="3118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5725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40A94-EFF1-A78D-FDEA-3988B34E9369}"/>
              </a:ext>
            </a:extLst>
          </p:cNvPr>
          <p:cNvSpPr>
            <a:spLocks noGrp="1"/>
          </p:cNvSpPr>
          <p:nvPr>
            <p:ph type="title"/>
          </p:nvPr>
        </p:nvSpPr>
        <p:spPr/>
        <p:txBody>
          <a:bodyPr/>
          <a:lstStyle/>
          <a:p>
            <a:r>
              <a:rPr lang="en-US" dirty="0"/>
              <a:t>Adaptive histogram matching</a:t>
            </a:r>
          </a:p>
        </p:txBody>
      </p:sp>
      <p:sp>
        <p:nvSpPr>
          <p:cNvPr id="3" name="Content Placeholder 2">
            <a:extLst>
              <a:ext uri="{FF2B5EF4-FFF2-40B4-BE49-F238E27FC236}">
                <a16:creationId xmlns:a16="http://schemas.microsoft.com/office/drawing/2014/main" id="{90F55EB6-526B-5AAD-1317-A7323B51D35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16150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6AACF-9D14-4870-7BCD-4F9E60863BC8}"/>
              </a:ext>
            </a:extLst>
          </p:cNvPr>
          <p:cNvSpPr>
            <a:spLocks noGrp="1"/>
          </p:cNvSpPr>
          <p:nvPr>
            <p:ph type="title"/>
          </p:nvPr>
        </p:nvSpPr>
        <p:spPr/>
        <p:txBody>
          <a:bodyPr/>
          <a:lstStyle/>
          <a:p>
            <a:r>
              <a:rPr lang="en-US" dirty="0"/>
              <a:t>Normalization</a:t>
            </a:r>
          </a:p>
        </p:txBody>
      </p:sp>
      <p:pic>
        <p:nvPicPr>
          <p:cNvPr id="7" name="Picture 6" descr="A black text on a white background&#10;&#10;Description automatically generated">
            <a:extLst>
              <a:ext uri="{FF2B5EF4-FFF2-40B4-BE49-F238E27FC236}">
                <a16:creationId xmlns:a16="http://schemas.microsoft.com/office/drawing/2014/main" id="{1F82AB03-B3E1-58EB-D73F-AC82D7BC992E}"/>
              </a:ext>
            </a:extLst>
          </p:cNvPr>
          <p:cNvPicPr>
            <a:picLocks noChangeAspect="1"/>
          </p:cNvPicPr>
          <p:nvPr/>
        </p:nvPicPr>
        <p:blipFill>
          <a:blip r:embed="rId2"/>
          <a:stretch>
            <a:fillRect/>
          </a:stretch>
        </p:blipFill>
        <p:spPr>
          <a:xfrm>
            <a:off x="5283200" y="2317750"/>
            <a:ext cx="5283200" cy="800100"/>
          </a:xfrm>
          <a:prstGeom prst="rect">
            <a:avLst/>
          </a:prstGeom>
        </p:spPr>
      </p:pic>
      <p:pic>
        <p:nvPicPr>
          <p:cNvPr id="9" name="Picture 8" descr="A black text on a white background&#10;&#10;Description automatically generated">
            <a:extLst>
              <a:ext uri="{FF2B5EF4-FFF2-40B4-BE49-F238E27FC236}">
                <a16:creationId xmlns:a16="http://schemas.microsoft.com/office/drawing/2014/main" id="{73C2BA34-6A27-C4E0-C0C8-B6C6D52D9A67}"/>
              </a:ext>
            </a:extLst>
          </p:cNvPr>
          <p:cNvPicPr>
            <a:picLocks noChangeAspect="1"/>
          </p:cNvPicPr>
          <p:nvPr/>
        </p:nvPicPr>
        <p:blipFill>
          <a:blip r:embed="rId3"/>
          <a:stretch>
            <a:fillRect/>
          </a:stretch>
        </p:blipFill>
        <p:spPr>
          <a:xfrm>
            <a:off x="5283200" y="3740151"/>
            <a:ext cx="5829300" cy="927100"/>
          </a:xfrm>
          <a:prstGeom prst="rect">
            <a:avLst/>
          </a:prstGeom>
        </p:spPr>
      </p:pic>
      <p:sp>
        <p:nvSpPr>
          <p:cNvPr id="12" name="TextBox 11">
            <a:extLst>
              <a:ext uri="{FF2B5EF4-FFF2-40B4-BE49-F238E27FC236}">
                <a16:creationId xmlns:a16="http://schemas.microsoft.com/office/drawing/2014/main" id="{0CD75270-06A1-C88C-96E4-8F33AA53C0DA}"/>
              </a:ext>
            </a:extLst>
          </p:cNvPr>
          <p:cNvSpPr txBox="1"/>
          <p:nvPr/>
        </p:nvSpPr>
        <p:spPr>
          <a:xfrm>
            <a:off x="609600" y="1790700"/>
            <a:ext cx="3454400" cy="646331"/>
          </a:xfrm>
          <a:prstGeom prst="rect">
            <a:avLst/>
          </a:prstGeom>
          <a:noFill/>
        </p:spPr>
        <p:txBody>
          <a:bodyPr wrap="square" rtlCol="0">
            <a:spAutoFit/>
          </a:bodyPr>
          <a:lstStyle/>
          <a:p>
            <a:r>
              <a:rPr lang="en-US" dirty="0"/>
              <a:t>Match the contrast level (range of intensities)</a:t>
            </a:r>
          </a:p>
        </p:txBody>
      </p:sp>
    </p:spTree>
    <p:extLst>
      <p:ext uri="{BB962C8B-B14F-4D97-AF65-F5344CB8AC3E}">
        <p14:creationId xmlns:p14="http://schemas.microsoft.com/office/powerpoint/2010/main" val="3817878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243C2-7985-5980-DA33-9C0B5E95EB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3181BF-16A5-86A5-8F1C-E46E800C4EA7}"/>
              </a:ext>
            </a:extLst>
          </p:cNvPr>
          <p:cNvSpPr>
            <a:spLocks noGrp="1"/>
          </p:cNvSpPr>
          <p:nvPr>
            <p:ph idx="1"/>
          </p:nvPr>
        </p:nvSpPr>
        <p:spPr/>
        <p:txBody>
          <a:bodyPr/>
          <a:lstStyle/>
          <a:p>
            <a:r>
              <a:rPr lang="en-US" i="1" dirty="0">
                <a:effectLst/>
              </a:rPr>
              <a:t># Normalize image</a:t>
            </a:r>
            <a:r>
              <a:rPr lang="en-US" dirty="0"/>
              <a:t> </a:t>
            </a:r>
          </a:p>
          <a:p>
            <a:r>
              <a:rPr lang="en-US" dirty="0" err="1">
                <a:effectLst/>
              </a:rPr>
              <a:t>normalized_image</a:t>
            </a:r>
            <a:r>
              <a:rPr lang="en-US" dirty="0"/>
              <a:t> </a:t>
            </a:r>
            <a:r>
              <a:rPr lang="en-US" dirty="0">
                <a:effectLst/>
              </a:rPr>
              <a:t>=</a:t>
            </a:r>
            <a:r>
              <a:rPr lang="en-US" dirty="0"/>
              <a:t> </a:t>
            </a:r>
            <a:r>
              <a:rPr lang="en-US" dirty="0">
                <a:effectLst/>
              </a:rPr>
              <a:t>cv2.normalize(</a:t>
            </a:r>
            <a:r>
              <a:rPr lang="en-US" dirty="0"/>
              <a:t> </a:t>
            </a:r>
            <a:r>
              <a:rPr lang="en-US" dirty="0">
                <a:effectLst/>
              </a:rPr>
              <a:t>image,</a:t>
            </a:r>
            <a:r>
              <a:rPr lang="en-US" dirty="0"/>
              <a:t> </a:t>
            </a:r>
            <a:r>
              <a:rPr lang="en-US" b="1" dirty="0">
                <a:effectLst/>
              </a:rPr>
              <a:t>None</a:t>
            </a:r>
            <a:r>
              <a:rPr lang="en-US" dirty="0">
                <a:effectLst/>
              </a:rPr>
              <a:t>,</a:t>
            </a:r>
            <a:r>
              <a:rPr lang="en-US" dirty="0"/>
              <a:t> </a:t>
            </a:r>
            <a:r>
              <a:rPr lang="en-US" dirty="0">
                <a:effectLst/>
              </a:rPr>
              <a:t>alpha=0,</a:t>
            </a:r>
            <a:r>
              <a:rPr lang="en-US" dirty="0"/>
              <a:t> </a:t>
            </a:r>
            <a:r>
              <a:rPr lang="en-US" dirty="0">
                <a:effectLst/>
              </a:rPr>
              <a:t>beta=255,</a:t>
            </a:r>
            <a:r>
              <a:rPr lang="en-US" dirty="0"/>
              <a:t> </a:t>
            </a:r>
            <a:r>
              <a:rPr lang="en-US" dirty="0" err="1">
                <a:effectLst/>
              </a:rPr>
              <a:t>norm_type</a:t>
            </a:r>
            <a:r>
              <a:rPr lang="en-US" dirty="0">
                <a:effectLst/>
              </a:rPr>
              <a:t>=cv2.NORM_MINMAX)</a:t>
            </a:r>
            <a:endParaRPr lang="en-US" dirty="0"/>
          </a:p>
        </p:txBody>
      </p:sp>
      <p:pic>
        <p:nvPicPr>
          <p:cNvPr id="11266" name="Picture 2" descr="j">
            <a:extLst>
              <a:ext uri="{FF2B5EF4-FFF2-40B4-BE49-F238E27FC236}">
                <a16:creationId xmlns:a16="http://schemas.microsoft.com/office/drawing/2014/main" id="{92A12A84-4575-98DE-2805-EFA66B3DC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0900" y="457200"/>
            <a:ext cx="30861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039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3D478-EA1A-5930-C49F-24FC6DA4AC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217019-53AB-7C7B-848C-1140A4092D91}"/>
              </a:ext>
            </a:extLst>
          </p:cNvPr>
          <p:cNvSpPr>
            <a:spLocks noGrp="1"/>
          </p:cNvSpPr>
          <p:nvPr>
            <p:ph idx="1"/>
          </p:nvPr>
        </p:nvSpPr>
        <p:spPr/>
        <p:txBody>
          <a:bodyPr/>
          <a:lstStyle/>
          <a:p>
            <a:r>
              <a:rPr lang="en-US" i="1" dirty="0">
                <a:effectLst/>
              </a:rPr>
              <a:t># Convert image to grayscale</a:t>
            </a:r>
            <a:r>
              <a:rPr lang="en-US" dirty="0"/>
              <a:t> </a:t>
            </a:r>
          </a:p>
          <a:p>
            <a:pPr marL="0" indent="0">
              <a:buNone/>
            </a:pPr>
            <a:r>
              <a:rPr lang="en-US" dirty="0" err="1">
                <a:effectLst/>
              </a:rPr>
              <a:t>gray_image</a:t>
            </a:r>
            <a:r>
              <a:rPr lang="en-US" dirty="0"/>
              <a:t> </a:t>
            </a:r>
            <a:r>
              <a:rPr lang="en-US" dirty="0">
                <a:effectLst/>
              </a:rPr>
              <a:t>=</a:t>
            </a:r>
            <a:r>
              <a:rPr lang="en-US" dirty="0"/>
              <a:t> </a:t>
            </a:r>
            <a:r>
              <a:rPr lang="en-US" dirty="0">
                <a:effectLst/>
              </a:rPr>
              <a:t>cv2.cvtColor(image,</a:t>
            </a:r>
            <a:r>
              <a:rPr lang="en-US" dirty="0"/>
              <a:t> </a:t>
            </a:r>
            <a:r>
              <a:rPr lang="en-US" dirty="0">
                <a:effectLst/>
              </a:rPr>
              <a:t>cv2.COLOR_BGR2GRAY)</a:t>
            </a:r>
            <a:r>
              <a:rPr lang="en-US" dirty="0"/>
              <a:t> </a:t>
            </a:r>
          </a:p>
          <a:p>
            <a:pPr marL="0" indent="0">
              <a:buNone/>
            </a:pPr>
            <a:r>
              <a:rPr lang="en-US" i="1" dirty="0">
                <a:effectLst/>
              </a:rPr>
              <a:t># Normalize grayscale image</a:t>
            </a:r>
            <a:r>
              <a:rPr lang="en-US" dirty="0"/>
              <a:t> </a:t>
            </a:r>
          </a:p>
          <a:p>
            <a:pPr marL="0" indent="0">
              <a:buNone/>
            </a:pPr>
            <a:r>
              <a:rPr lang="en-US" dirty="0" err="1">
                <a:effectLst/>
              </a:rPr>
              <a:t>normalized_gray_image</a:t>
            </a:r>
            <a:r>
              <a:rPr lang="en-US" dirty="0"/>
              <a:t> </a:t>
            </a:r>
            <a:r>
              <a:rPr lang="en-US" dirty="0">
                <a:effectLst/>
              </a:rPr>
              <a:t>=</a:t>
            </a:r>
            <a:r>
              <a:rPr lang="en-US" dirty="0"/>
              <a:t> </a:t>
            </a:r>
            <a:r>
              <a:rPr lang="en-US" dirty="0">
                <a:effectLst/>
              </a:rPr>
              <a:t>cv2.normalize(</a:t>
            </a:r>
            <a:r>
              <a:rPr lang="en-US" dirty="0"/>
              <a:t> </a:t>
            </a:r>
            <a:r>
              <a:rPr lang="en-US" dirty="0" err="1">
                <a:effectLst/>
              </a:rPr>
              <a:t>gray_image</a:t>
            </a:r>
            <a:r>
              <a:rPr lang="en-US" dirty="0">
                <a:effectLst/>
              </a:rPr>
              <a:t>,</a:t>
            </a:r>
            <a:r>
              <a:rPr lang="en-US" dirty="0"/>
              <a:t> </a:t>
            </a:r>
            <a:r>
              <a:rPr lang="en-US" b="1" dirty="0">
                <a:effectLst/>
              </a:rPr>
              <a:t>None</a:t>
            </a:r>
            <a:r>
              <a:rPr lang="en-US" dirty="0">
                <a:effectLst/>
              </a:rPr>
              <a:t>,</a:t>
            </a:r>
            <a:r>
              <a:rPr lang="en-US" dirty="0"/>
              <a:t> </a:t>
            </a:r>
            <a:r>
              <a:rPr lang="en-US" dirty="0">
                <a:effectLst/>
              </a:rPr>
              <a:t>alpha=0,</a:t>
            </a:r>
            <a:r>
              <a:rPr lang="en-US" dirty="0"/>
              <a:t> </a:t>
            </a:r>
            <a:r>
              <a:rPr lang="en-US" dirty="0">
                <a:effectLst/>
              </a:rPr>
              <a:t>beta=255,</a:t>
            </a:r>
            <a:r>
              <a:rPr lang="en-US" dirty="0"/>
              <a:t> </a:t>
            </a:r>
            <a:r>
              <a:rPr lang="en-US" dirty="0" err="1">
                <a:effectLst/>
              </a:rPr>
              <a:t>norm_type</a:t>
            </a:r>
            <a:r>
              <a:rPr lang="en-US" dirty="0">
                <a:effectLst/>
              </a:rPr>
              <a:t>=cv2.NORM_MINMAX)</a:t>
            </a:r>
            <a:r>
              <a:rPr lang="en-US" dirty="0"/>
              <a:t> </a:t>
            </a:r>
          </a:p>
          <a:p>
            <a:pPr marL="0" indent="0">
              <a:buNone/>
            </a:pPr>
            <a:r>
              <a:rPr lang="en-US" i="1" dirty="0">
                <a:effectLst/>
              </a:rPr>
              <a:t># Convert normalized grayscale image back to color</a:t>
            </a:r>
            <a:r>
              <a:rPr lang="en-US" dirty="0"/>
              <a:t> </a:t>
            </a:r>
            <a:r>
              <a:rPr lang="en-US" dirty="0" err="1">
                <a:effectLst/>
              </a:rPr>
              <a:t>normalized_color_image</a:t>
            </a:r>
            <a:r>
              <a:rPr lang="en-US" dirty="0"/>
              <a:t> </a:t>
            </a:r>
            <a:r>
              <a:rPr lang="en-US" dirty="0">
                <a:effectLst/>
              </a:rPr>
              <a:t>=</a:t>
            </a:r>
            <a:r>
              <a:rPr lang="en-US" dirty="0"/>
              <a:t> </a:t>
            </a:r>
            <a:r>
              <a:rPr lang="en-US" dirty="0">
                <a:effectLst/>
              </a:rPr>
              <a:t>cv2.cvtColor(</a:t>
            </a:r>
            <a:r>
              <a:rPr lang="en-US" dirty="0"/>
              <a:t> </a:t>
            </a:r>
            <a:r>
              <a:rPr lang="en-US" dirty="0" err="1">
                <a:effectLst/>
              </a:rPr>
              <a:t>normalized_gray_image</a:t>
            </a:r>
            <a:r>
              <a:rPr lang="en-US" dirty="0">
                <a:effectLst/>
              </a:rPr>
              <a:t>,</a:t>
            </a:r>
            <a:r>
              <a:rPr lang="en-US" dirty="0"/>
              <a:t> </a:t>
            </a:r>
            <a:r>
              <a:rPr lang="en-US" dirty="0">
                <a:effectLst/>
              </a:rPr>
              <a:t>cv2.COLOR_GRAY2BGR)</a:t>
            </a:r>
            <a:endParaRPr lang="en-US" dirty="0"/>
          </a:p>
        </p:txBody>
      </p:sp>
      <p:pic>
        <p:nvPicPr>
          <p:cNvPr id="12290" name="Picture 2" descr="kl">
            <a:extLst>
              <a:ext uri="{FF2B5EF4-FFF2-40B4-BE49-F238E27FC236}">
                <a16:creationId xmlns:a16="http://schemas.microsoft.com/office/drawing/2014/main" id="{9F32DBFB-D235-92A3-A09B-82B06CBB77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6000" y="233363"/>
            <a:ext cx="32004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3989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F0E09-1A1F-D48B-65C8-5691EE9FC52D}"/>
              </a:ext>
            </a:extLst>
          </p:cNvPr>
          <p:cNvSpPr>
            <a:spLocks noGrp="1"/>
          </p:cNvSpPr>
          <p:nvPr>
            <p:ph type="title"/>
          </p:nvPr>
        </p:nvSpPr>
        <p:spPr/>
        <p:txBody>
          <a:bodyPr/>
          <a:lstStyle/>
          <a:p>
            <a:r>
              <a:rPr lang="en-US" dirty="0"/>
              <a:t>Gamma correction</a:t>
            </a:r>
          </a:p>
        </p:txBody>
      </p:sp>
      <p:pic>
        <p:nvPicPr>
          <p:cNvPr id="13314" name="Picture 2" descr="Figure 1: Our original image (left); Gamma correction with G 1 (right), this time the output image is much lighter than the original.">
            <a:extLst>
              <a:ext uri="{FF2B5EF4-FFF2-40B4-BE49-F238E27FC236}">
                <a16:creationId xmlns:a16="http://schemas.microsoft.com/office/drawing/2014/main" id="{54D7DDC0-F6E3-D12A-9A58-0A57E0B03D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3776121"/>
            <a:ext cx="5905500" cy="29881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D249E86-83E4-F86A-7FED-1036B551F24B}"/>
              </a:ext>
            </a:extLst>
          </p:cNvPr>
          <p:cNvSpPr txBox="1"/>
          <p:nvPr/>
        </p:nvSpPr>
        <p:spPr>
          <a:xfrm>
            <a:off x="736600" y="1587818"/>
            <a:ext cx="6096000" cy="369332"/>
          </a:xfrm>
          <a:prstGeom prst="rect">
            <a:avLst/>
          </a:prstGeom>
          <a:noFill/>
        </p:spPr>
        <p:txBody>
          <a:bodyPr wrap="square">
            <a:spAutoFit/>
          </a:bodyPr>
          <a:lstStyle/>
          <a:p>
            <a:r>
              <a:rPr lang="en-US" b="0" i="1" dirty="0">
                <a:solidFill>
                  <a:srgbClr val="051E50"/>
                </a:solidFill>
                <a:effectLst/>
                <a:latin typeface="proxima-nova"/>
              </a:rPr>
              <a:t>O = I ^ (1 / G)</a:t>
            </a:r>
            <a:endParaRPr lang="en-US" dirty="0"/>
          </a:p>
        </p:txBody>
      </p:sp>
      <p:sp>
        <p:nvSpPr>
          <p:cNvPr id="7" name="TextBox 6">
            <a:extLst>
              <a:ext uri="{FF2B5EF4-FFF2-40B4-BE49-F238E27FC236}">
                <a16:creationId xmlns:a16="http://schemas.microsoft.com/office/drawing/2014/main" id="{FB0FA56D-B838-D7EB-9E30-CAAA91A235B1}"/>
              </a:ext>
            </a:extLst>
          </p:cNvPr>
          <p:cNvSpPr txBox="1"/>
          <p:nvPr/>
        </p:nvSpPr>
        <p:spPr>
          <a:xfrm>
            <a:off x="2819400" y="1373894"/>
            <a:ext cx="6096000" cy="646331"/>
          </a:xfrm>
          <a:prstGeom prst="rect">
            <a:avLst/>
          </a:prstGeom>
          <a:noFill/>
        </p:spPr>
        <p:txBody>
          <a:bodyPr wrap="square">
            <a:spAutoFit/>
          </a:bodyPr>
          <a:lstStyle/>
          <a:p>
            <a:r>
              <a:rPr lang="en-US" b="0" i="1" dirty="0">
                <a:solidFill>
                  <a:srgbClr val="051E50"/>
                </a:solidFill>
                <a:effectLst/>
                <a:latin typeface="proxima-nova"/>
              </a:rPr>
              <a:t>gamma correction</a:t>
            </a:r>
            <a:r>
              <a:rPr lang="en-US" b="0" i="0" dirty="0">
                <a:solidFill>
                  <a:srgbClr val="051E50"/>
                </a:solidFill>
                <a:effectLst/>
                <a:latin typeface="proxima-nova"/>
              </a:rPr>
              <a:t>, a translation between the sensitivity of our eyes and sensors of a camera</a:t>
            </a:r>
            <a:endParaRPr lang="en-US" dirty="0"/>
          </a:p>
        </p:txBody>
      </p:sp>
      <p:pic>
        <p:nvPicPr>
          <p:cNvPr id="9" name="Picture 8" descr="A black and blue rectangle with numbers&#10;&#10;Description automatically generated">
            <a:extLst>
              <a:ext uri="{FF2B5EF4-FFF2-40B4-BE49-F238E27FC236}">
                <a16:creationId xmlns:a16="http://schemas.microsoft.com/office/drawing/2014/main" id="{A92B0337-435D-D691-C5EE-9F55B8580E44}"/>
              </a:ext>
            </a:extLst>
          </p:cNvPr>
          <p:cNvPicPr>
            <a:picLocks noChangeAspect="1"/>
          </p:cNvPicPr>
          <p:nvPr/>
        </p:nvPicPr>
        <p:blipFill>
          <a:blip r:embed="rId3"/>
          <a:stretch>
            <a:fillRect/>
          </a:stretch>
        </p:blipFill>
        <p:spPr>
          <a:xfrm>
            <a:off x="1619250" y="2303781"/>
            <a:ext cx="6057900" cy="1219200"/>
          </a:xfrm>
          <a:prstGeom prst="rect">
            <a:avLst/>
          </a:prstGeom>
        </p:spPr>
      </p:pic>
    </p:spTree>
    <p:extLst>
      <p:ext uri="{BB962C8B-B14F-4D97-AF65-F5344CB8AC3E}">
        <p14:creationId xmlns:p14="http://schemas.microsoft.com/office/powerpoint/2010/main" val="2103245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0302A-5CA0-5006-59F7-42AEDB1933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2B2519E-16CB-CD40-4D80-51FCCAF84F36}"/>
              </a:ext>
            </a:extLst>
          </p:cNvPr>
          <p:cNvSpPr>
            <a:spLocks noGrp="1"/>
          </p:cNvSpPr>
          <p:nvPr>
            <p:ph idx="1"/>
          </p:nvPr>
        </p:nvSpPr>
        <p:spPr/>
        <p:txBody>
          <a:bodyPr/>
          <a:lstStyle/>
          <a:p>
            <a:r>
              <a:rPr lang="en-US" b="0" i="0" u="none" strike="noStrike" dirty="0">
                <a:effectLst/>
                <a:highlight>
                  <a:srgbClr val="FFFFFF"/>
                </a:highlight>
                <a:latin typeface="Arial" panose="020B0604020202020204" pitchFamily="34" charset="0"/>
                <a:hlinkClick r:id="rId2" tooltip="Hurter and Driffield"/>
              </a:rPr>
              <a:t>Hurter–Driffield curve</a:t>
            </a:r>
            <a:endParaRPr lang="en-US" dirty="0"/>
          </a:p>
        </p:txBody>
      </p:sp>
      <p:pic>
        <p:nvPicPr>
          <p:cNvPr id="14338" name="Picture 2">
            <a:extLst>
              <a:ext uri="{FF2B5EF4-FFF2-40B4-BE49-F238E27FC236}">
                <a16:creationId xmlns:a16="http://schemas.microsoft.com/office/drawing/2014/main" id="{CE8ACF93-90BD-C1D4-B5A5-0EB2C7AB7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5700" y="2708275"/>
            <a:ext cx="3784600" cy="378460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a:extLst>
              <a:ext uri="{FF2B5EF4-FFF2-40B4-BE49-F238E27FC236}">
                <a16:creationId xmlns:a16="http://schemas.microsoft.com/office/drawing/2014/main" id="{597B4A44-A0FC-43AC-5A86-9F87EC62DA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8000" y="50800"/>
            <a:ext cx="39735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553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271DE-6B69-A98C-F327-DCE131144405}"/>
              </a:ext>
            </a:extLst>
          </p:cNvPr>
          <p:cNvSpPr>
            <a:spLocks noGrp="1"/>
          </p:cNvSpPr>
          <p:nvPr>
            <p:ph type="title"/>
          </p:nvPr>
        </p:nvSpPr>
        <p:spPr/>
        <p:txBody>
          <a:bodyPr/>
          <a:lstStyle/>
          <a:p>
            <a:r>
              <a:rPr lang="en-US" dirty="0"/>
              <a:t>Alpha channel</a:t>
            </a:r>
          </a:p>
        </p:txBody>
      </p:sp>
      <p:pic>
        <p:nvPicPr>
          <p:cNvPr id="15362" name="Picture 2">
            <a:extLst>
              <a:ext uri="{FF2B5EF4-FFF2-40B4-BE49-F238E27FC236}">
                <a16:creationId xmlns:a16="http://schemas.microsoft.com/office/drawing/2014/main" id="{8779DD60-624C-1CDB-39D4-434D95867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300" y="1473200"/>
            <a:ext cx="8153400" cy="3911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black and white math equation&#10;&#10;Description automatically generated with medium confidence">
            <a:extLst>
              <a:ext uri="{FF2B5EF4-FFF2-40B4-BE49-F238E27FC236}">
                <a16:creationId xmlns:a16="http://schemas.microsoft.com/office/drawing/2014/main" id="{D64CF78B-B610-9EA5-6A1C-4563708409CB}"/>
              </a:ext>
            </a:extLst>
          </p:cNvPr>
          <p:cNvPicPr>
            <a:picLocks noChangeAspect="1"/>
          </p:cNvPicPr>
          <p:nvPr/>
        </p:nvPicPr>
        <p:blipFill>
          <a:blip r:embed="rId3"/>
          <a:stretch>
            <a:fillRect/>
          </a:stretch>
        </p:blipFill>
        <p:spPr>
          <a:xfrm>
            <a:off x="2705100" y="5619750"/>
            <a:ext cx="3390900" cy="1104900"/>
          </a:xfrm>
          <a:prstGeom prst="rect">
            <a:avLst/>
          </a:prstGeom>
        </p:spPr>
      </p:pic>
    </p:spTree>
    <p:extLst>
      <p:ext uri="{BB962C8B-B14F-4D97-AF65-F5344CB8AC3E}">
        <p14:creationId xmlns:p14="http://schemas.microsoft.com/office/powerpoint/2010/main" val="3821524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C1B4-FE5F-B473-2CD8-D7F84A226D16}"/>
              </a:ext>
            </a:extLst>
          </p:cNvPr>
          <p:cNvSpPr>
            <a:spLocks noGrp="1"/>
          </p:cNvSpPr>
          <p:nvPr>
            <p:ph type="title"/>
          </p:nvPr>
        </p:nvSpPr>
        <p:spPr/>
        <p:txBody>
          <a:bodyPr/>
          <a:lstStyle/>
          <a:p>
            <a:r>
              <a:rPr lang="en-US" dirty="0"/>
              <a:t>Alpha blending</a:t>
            </a:r>
          </a:p>
        </p:txBody>
      </p:sp>
      <p:pic>
        <p:nvPicPr>
          <p:cNvPr id="5" name="Content Placeholder 4" descr="A black math symbols on a white background&#10;&#10;Description automatically generated">
            <a:extLst>
              <a:ext uri="{FF2B5EF4-FFF2-40B4-BE49-F238E27FC236}">
                <a16:creationId xmlns:a16="http://schemas.microsoft.com/office/drawing/2014/main" id="{60A96AC0-F26D-0639-B3E4-83A27D5155CF}"/>
              </a:ext>
            </a:extLst>
          </p:cNvPr>
          <p:cNvPicPr>
            <a:picLocks noGrp="1" noChangeAspect="1"/>
          </p:cNvPicPr>
          <p:nvPr>
            <p:ph idx="1"/>
          </p:nvPr>
        </p:nvPicPr>
        <p:blipFill>
          <a:blip r:embed="rId2"/>
          <a:stretch>
            <a:fillRect/>
          </a:stretch>
        </p:blipFill>
        <p:spPr>
          <a:xfrm>
            <a:off x="4102100" y="3518694"/>
            <a:ext cx="3987800" cy="965200"/>
          </a:xfrm>
        </p:spPr>
      </p:pic>
    </p:spTree>
    <p:extLst>
      <p:ext uri="{BB962C8B-B14F-4D97-AF65-F5344CB8AC3E}">
        <p14:creationId xmlns:p14="http://schemas.microsoft.com/office/powerpoint/2010/main" val="2047523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1370</Words>
  <Application>Microsoft Macintosh PowerPoint</Application>
  <PresentationFormat>Widescreen</PresentationFormat>
  <Paragraphs>114</Paragraphs>
  <Slides>29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Aptos</vt:lpstr>
      <vt:lpstr>Aptos Display</vt:lpstr>
      <vt:lpstr>Arial</vt:lpstr>
      <vt:lpstr>Courier New</vt:lpstr>
      <vt:lpstr>proxima-nova</vt:lpstr>
      <vt:lpstr>Segoe UI</vt:lpstr>
      <vt:lpstr>source-code-pro</vt:lpstr>
      <vt:lpstr>Times New Roman</vt:lpstr>
      <vt:lpstr>var(--jp-code-font-family)</vt:lpstr>
      <vt:lpstr>var(--jp-content-font-family)</vt:lpstr>
      <vt:lpstr>Office Theme</vt:lpstr>
      <vt:lpstr>Lecture 3 Image Statistics</vt:lpstr>
      <vt:lpstr>PowerPoint Presentation</vt:lpstr>
      <vt:lpstr>RGB</vt:lpstr>
      <vt:lpstr>CMY</vt:lpstr>
      <vt:lpstr>CMYK</vt:lpstr>
      <vt:lpstr>CMYK</vt:lpstr>
      <vt:lpstr>HSV  Radial space</vt:lpstr>
      <vt:lpstr>HSL Sphereical space</vt:lpstr>
      <vt:lpstr>PowerPoint Presentation</vt:lpstr>
      <vt:lpstr>PowerPoint Presentation</vt:lpstr>
      <vt:lpstr>PowerPoint Presentation</vt:lpstr>
      <vt:lpstr>HSV</vt:lpstr>
      <vt:lpstr>HSV</vt:lpstr>
      <vt:lpstr>Brightness</vt:lpstr>
      <vt:lpstr>PowerPoint Presentation</vt:lpstr>
      <vt:lpstr>COntrast</vt:lpstr>
      <vt:lpstr>PowerPoint Presentation</vt:lpstr>
      <vt:lpstr>PowerPoint Presentation</vt:lpstr>
      <vt:lpstr>Equalization</vt:lpstr>
      <vt:lpstr>PowerPoint Presentation</vt:lpstr>
      <vt:lpstr>Histogram matching</vt:lpstr>
      <vt:lpstr>Adaptive histogram matching</vt:lpstr>
      <vt:lpstr>Normalization</vt:lpstr>
      <vt:lpstr>PowerPoint Presentation</vt:lpstr>
      <vt:lpstr>PowerPoint Presentation</vt:lpstr>
      <vt:lpstr>Gamma correction</vt:lpstr>
      <vt:lpstr>PowerPoint Presentation</vt:lpstr>
      <vt:lpstr>Alpha channel</vt:lpstr>
      <vt:lpstr>Alpha blending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University of Pittsburgh University of Pittsburgh</dc:creator>
  <cp:lastModifiedBy>University of Pittsburgh University of Pittsburgh</cp:lastModifiedBy>
  <cp:revision>5</cp:revision>
  <dcterms:created xsi:type="dcterms:W3CDTF">2024-07-14T13:25:54Z</dcterms:created>
  <dcterms:modified xsi:type="dcterms:W3CDTF">2024-07-14T18:09:45Z</dcterms:modified>
</cp:coreProperties>
</file>