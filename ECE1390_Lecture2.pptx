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322" r:id="rId3"/>
    <p:sldId id="274" r:id="rId4"/>
    <p:sldId id="275" r:id="rId5"/>
    <p:sldId id="345" r:id="rId6"/>
    <p:sldId id="277" r:id="rId7"/>
    <p:sldId id="354" r:id="rId8"/>
    <p:sldId id="355" r:id="rId9"/>
    <p:sldId id="346" r:id="rId10"/>
    <p:sldId id="356" r:id="rId11"/>
    <p:sldId id="347" r:id="rId12"/>
    <p:sldId id="348" r:id="rId13"/>
    <p:sldId id="349" r:id="rId14"/>
    <p:sldId id="350" r:id="rId15"/>
    <p:sldId id="353" r:id="rId16"/>
    <p:sldId id="335" r:id="rId17"/>
    <p:sldId id="337" r:id="rId18"/>
    <p:sldId id="338" r:id="rId19"/>
    <p:sldId id="339" r:id="rId20"/>
    <p:sldId id="340" r:id="rId21"/>
    <p:sldId id="357" r:id="rId22"/>
    <p:sldId id="351" r:id="rId23"/>
    <p:sldId id="352" r:id="rId24"/>
    <p:sldId id="283" r:id="rId25"/>
    <p:sldId id="32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81"/>
    <p:restoredTop sz="94767"/>
  </p:normalViewPr>
  <p:slideViewPr>
    <p:cSldViewPr snapToGrid="0">
      <p:cViewPr varScale="1">
        <p:scale>
          <a:sx n="67" d="100"/>
          <a:sy n="67" d="100"/>
        </p:scale>
        <p:origin x="17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8/24/24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4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7/d1b/group__imgproc__misc.html#ggaa9e58d2860d4afa658ef70a9b1115576a19120b1a11d8067576cc24f4d2f03754" TargetMode="External"/><Relationship Id="rId2" Type="http://schemas.openxmlformats.org/officeDocument/2006/relationships/hyperlink" Target="https://docs.opencv.org/4.x/d7/d1b/group__imgproc__misc.html#ggaa9e58d2860d4afa658ef70a9b1115576a147222a96556ebc1d948b372bcd7ac59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pencv.org/4.x/d7/d1b/group__imgproc__misc.html#ggaa9e58d2860d4afa658ef70a9b1115576a47518a30aae90d799035bdcf0bb39a50" TargetMode="External"/><Relationship Id="rId5" Type="http://schemas.openxmlformats.org/officeDocument/2006/relationships/hyperlink" Target="https://docs.opencv.org/4.x/d7/d1b/group__imgproc__misc.html#ggaa9e58d2860d4afa658ef70a9b1115576a0e50a338a4b711a8c48f06a6b105dd98" TargetMode="External"/><Relationship Id="rId4" Type="http://schemas.openxmlformats.org/officeDocument/2006/relationships/hyperlink" Target="https://docs.opencv.org/4.x/d7/d1b/group__imgproc__misc.html#ggaa9e58d2860d4afa658ef70a9b1115576ac7e89a5e95490116e7d2082b3096b2b8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80CB-850D-B57D-2885-24D9CC9509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Lecture 2</a:t>
            </a:r>
            <a:br>
              <a:rPr lang="en-US" dirty="0"/>
            </a:br>
            <a:r>
              <a:rPr lang="en-US" dirty="0"/>
              <a:t>Operations on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925AB-516E-BA4C-6AB2-FAA041E78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ECE 1390/2390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0A0098-675E-E0C4-8109-2166A249C06F}"/>
              </a:ext>
            </a:extLst>
          </p:cNvPr>
          <p:cNvSpPr txBox="1">
            <a:spLocks/>
          </p:cNvSpPr>
          <p:nvPr/>
        </p:nvSpPr>
        <p:spPr>
          <a:xfrm>
            <a:off x="660981" y="3745468"/>
            <a:ext cx="9144000" cy="222353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/>
              <a:t>Learning Objectives: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Mathematical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Bitwise/Logical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Dealing with overflow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Masking and thresholding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51E5E0-3A82-2E4F-FB1E-D259ADA60F08}"/>
              </a:ext>
            </a:extLst>
          </p:cNvPr>
          <p:cNvSpPr/>
          <p:nvPr/>
        </p:nvSpPr>
        <p:spPr>
          <a:xfrm>
            <a:off x="6337229" y="3529567"/>
            <a:ext cx="2599508" cy="2655332"/>
          </a:xfrm>
          <a:prstGeom prst="ellipse">
            <a:avLst/>
          </a:prstGeom>
          <a:solidFill>
            <a:schemeClr val="accent1">
              <a:alpha val="5276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AF2B8B-9EBF-3182-6B97-80E3457BCB06}"/>
              </a:ext>
            </a:extLst>
          </p:cNvPr>
          <p:cNvSpPr/>
          <p:nvPr/>
        </p:nvSpPr>
        <p:spPr>
          <a:xfrm>
            <a:off x="7952669" y="3529567"/>
            <a:ext cx="2599508" cy="2655332"/>
          </a:xfrm>
          <a:prstGeom prst="ellipse">
            <a:avLst/>
          </a:prstGeom>
          <a:solidFill>
            <a:srgbClr val="FF0000">
              <a:alpha val="5692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36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35ADF8D-9061-59CB-A8B9-8E2D299B93DF}"/>
              </a:ext>
            </a:extLst>
          </p:cNvPr>
          <p:cNvGrpSpPr/>
          <p:nvPr/>
        </p:nvGrpSpPr>
        <p:grpSpPr>
          <a:xfrm>
            <a:off x="406400" y="3575538"/>
            <a:ext cx="2817446" cy="2664396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20C68E5-799C-57BF-59F3-05369C211417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9C4B233-2CB0-2910-E42A-63E0DBA2FE0F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8A5CDDD-1211-A80D-6CA9-1CFB09092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208C081-A874-F414-922C-20380A1DE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9FB0789-8130-4144-0256-4089AF9699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055E2CE-A5C3-B548-766E-8016CAD1E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410E995-D649-4DA5-0A9E-D0ABB54402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E968A86-B1BC-9A7D-15B9-A1DA2C047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4D851CD-F325-DBBB-5BA6-9763C98D2A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928570-A9E3-4287-F690-22240F574A7A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0142D0C0-8245-8D12-9A47-7EC76413F6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761388D-DB73-10AF-715B-5010E0C4D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7025BBCD-9523-F17C-82DE-EC1BBE54D3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7030FF5-06BD-B3C3-7DE5-401C1D00C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B021C3F-883B-7357-6FF3-48E8785767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00A883F-F13C-7E48-6132-97CB53F9B4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09BDC4F-45ED-6838-43B5-76C07777D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BF8EAC-F92B-A334-876F-9C8F8F08D88D}"/>
              </a:ext>
            </a:extLst>
          </p:cNvPr>
          <p:cNvSpPr txBox="1"/>
          <p:nvPr/>
        </p:nvSpPr>
        <p:spPr>
          <a:xfrm>
            <a:off x="406400" y="263733"/>
            <a:ext cx="80625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An image is a matrix of information </a:t>
            </a:r>
          </a:p>
          <a:p>
            <a:r>
              <a:rPr lang="en-US" sz="3200" dirty="0"/>
              <a:t>(tensor for color images)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7F7F2-0A33-5504-888E-BCDD8C8CDF96}"/>
              </a:ext>
            </a:extLst>
          </p:cNvPr>
          <p:cNvSpPr txBox="1"/>
          <p:nvPr/>
        </p:nvSpPr>
        <p:spPr>
          <a:xfrm>
            <a:off x="4642476" y="1254953"/>
            <a:ext cx="257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Math based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/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blipFill>
                <a:blip r:embed="rId2"/>
                <a:stretch>
                  <a:fillRect l="-28205" r="-23077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/>
              <p:nvPr/>
            </p:nvSpPr>
            <p:spPr>
              <a:xfrm>
                <a:off x="5856514" y="1611710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514" y="1611710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5208" r="-4167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/>
              <p:nvPr/>
            </p:nvSpPr>
            <p:spPr>
              <a:xfrm>
                <a:off x="5774784" y="2288818"/>
                <a:ext cx="2694199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𝑓𝑛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784" y="2288818"/>
                <a:ext cx="2694199" cy="677108"/>
              </a:xfrm>
              <a:prstGeom prst="rect">
                <a:avLst/>
              </a:prstGeom>
              <a:blipFill>
                <a:blip r:embed="rId4"/>
                <a:stretch>
                  <a:fillRect l="-4225" t="-1852" r="-7512" b="-3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/>
              <p:nvPr/>
            </p:nvSpPr>
            <p:spPr>
              <a:xfrm>
                <a:off x="5774784" y="3004794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784" y="3004794"/>
                <a:ext cx="3611566" cy="677108"/>
              </a:xfrm>
              <a:prstGeom prst="rect">
                <a:avLst/>
              </a:prstGeom>
              <a:blipFill>
                <a:blip r:embed="rId5"/>
                <a:stretch>
                  <a:fillRect l="-3147" t="-3704" r="-3846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F487C66-A8F4-1306-0A4A-CFA37674957D}"/>
              </a:ext>
            </a:extLst>
          </p:cNvPr>
          <p:cNvSpPr txBox="1"/>
          <p:nvPr/>
        </p:nvSpPr>
        <p:spPr>
          <a:xfrm>
            <a:off x="4716321" y="3752511"/>
            <a:ext cx="2864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Morphological operations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5569D7-D2CB-A019-3D30-3A28C33B9FCB}"/>
              </a:ext>
            </a:extLst>
          </p:cNvPr>
          <p:cNvSpPr txBox="1"/>
          <p:nvPr/>
        </p:nvSpPr>
        <p:spPr>
          <a:xfrm>
            <a:off x="6788570" y="5094152"/>
            <a:ext cx="43326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For (</a:t>
            </a:r>
            <a:r>
              <a:rPr lang="en-US" sz="3200" dirty="0" err="1"/>
              <a:t>i</a:t>
            </a:r>
            <a:r>
              <a:rPr lang="en-US" sz="3200" dirty="0"/>
              <a:t>=0; </a:t>
            </a:r>
            <a:r>
              <a:rPr lang="en-US" sz="3200" dirty="0" err="1"/>
              <a:t>i</a:t>
            </a:r>
            <a:r>
              <a:rPr lang="en-US" sz="3200" dirty="0"/>
              <a:t>&lt;n; </a:t>
            </a:r>
            <a:r>
              <a:rPr lang="en-US" sz="3200" dirty="0" err="1"/>
              <a:t>i</a:t>
            </a:r>
            <a:r>
              <a:rPr lang="en-US" sz="3200" dirty="0"/>
              <a:t>++)</a:t>
            </a:r>
          </a:p>
          <a:p>
            <a:r>
              <a:rPr lang="en-US" sz="3200" dirty="0"/>
              <a:t>	do something at {</a:t>
            </a:r>
            <a:r>
              <a:rPr lang="en-US" sz="3200" dirty="0" err="1"/>
              <a:t>i</a:t>
            </a:r>
            <a:r>
              <a:rPr lang="en-US" sz="3200" dirty="0"/>
              <a:t>}</a:t>
            </a:r>
          </a:p>
          <a:p>
            <a:r>
              <a:rPr lang="en-US" sz="3200" dirty="0"/>
              <a:t>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FBFC58-FEB9-0117-BBF1-1EC8B73256D2}"/>
              </a:ext>
            </a:extLst>
          </p:cNvPr>
          <p:cNvSpPr txBox="1"/>
          <p:nvPr/>
        </p:nvSpPr>
        <p:spPr>
          <a:xfrm>
            <a:off x="5856514" y="4192452"/>
            <a:ext cx="4728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E.g. Dilate/Erode</a:t>
            </a:r>
          </a:p>
        </p:txBody>
      </p:sp>
    </p:spTree>
    <p:extLst>
      <p:ext uri="{BB962C8B-B14F-4D97-AF65-F5344CB8AC3E}">
        <p14:creationId xmlns:p14="http://schemas.microsoft.com/office/powerpoint/2010/main" val="64879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Brightness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blipFill>
                <a:blip r:embed="rId3"/>
                <a:stretch>
                  <a:fillRect l="-4412" r="-245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838200" y="2546579"/>
            <a:ext cx="57091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Changing the brightness of an image means adding/subtracting a scalar from the image </a:t>
            </a:r>
          </a:p>
        </p:txBody>
      </p:sp>
    </p:spTree>
    <p:extLst>
      <p:ext uri="{BB962C8B-B14F-4D97-AF65-F5344CB8AC3E}">
        <p14:creationId xmlns:p14="http://schemas.microsoft.com/office/powerpoint/2010/main" val="3808656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2" name="Picture 46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B3AADC51-573A-CFB4-9C1F-6422EB958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832" y="4079635"/>
            <a:ext cx="10393542" cy="257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CA073C-5B30-7E84-B6F0-C25D5C8C8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0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872468-40CB-13A6-ADF9-002F284C0DF8}"/>
              </a:ext>
            </a:extLst>
          </p:cNvPr>
          <p:cNvSpPr txBox="1"/>
          <p:nvPr/>
        </p:nvSpPr>
        <p:spPr>
          <a:xfrm>
            <a:off x="817832" y="202188"/>
            <a:ext cx="1039354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 =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sz="2400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dtype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sz="2400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"uint8"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sz="24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50</a:t>
            </a:r>
          </a:p>
          <a:p>
            <a:endParaRPr lang="en-US" sz="2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cv2.add(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endParaRPr lang="en-US" sz="24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cv2.subtract(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endParaRPr lang="en-US" sz="2400" b="0" dirty="0">
              <a:solidFill>
                <a:srgbClr val="CCCCCC"/>
              </a:solidFill>
              <a:effectLst/>
              <a:highlight>
                <a:srgbClr val="1F1F1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13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Contrast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4663" r="-414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738553" y="2546579"/>
            <a:ext cx="57091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Contrast is the range of values in the image. Multiplying by a scalar changes the contrast</a:t>
            </a:r>
          </a:p>
        </p:txBody>
      </p:sp>
    </p:spTree>
    <p:extLst>
      <p:ext uri="{BB962C8B-B14F-4D97-AF65-F5344CB8AC3E}">
        <p14:creationId xmlns:p14="http://schemas.microsoft.com/office/powerpoint/2010/main" val="1943418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4C925452-3BF5-CDCA-865F-81635946FA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89" y="4290645"/>
            <a:ext cx="10623687" cy="232162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C18994-DF9B-6BA5-58C5-91C30ABBF420}"/>
              </a:ext>
            </a:extLst>
          </p:cNvPr>
          <p:cNvSpPr txBox="1"/>
          <p:nvPr/>
        </p:nvSpPr>
        <p:spPr>
          <a:xfrm>
            <a:off x="489789" y="476523"/>
            <a:ext cx="11479473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sz="2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sz="20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0.8</a:t>
            </a:r>
            <a:endParaRPr lang="en-US" sz="2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sz="20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1.2</a:t>
            </a:r>
            <a:b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en-US" sz="2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endParaRPr lang="en-US" sz="2000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sz="20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sz="20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A8F2DB-EC83-DF61-7971-7E084FC28CE4}"/>
              </a:ext>
            </a:extLst>
          </p:cNvPr>
          <p:cNvCxnSpPr>
            <a:cxnSpLocks/>
          </p:cNvCxnSpPr>
          <p:nvPr/>
        </p:nvCxnSpPr>
        <p:spPr>
          <a:xfrm flipH="1">
            <a:off x="8820150" y="3752850"/>
            <a:ext cx="666750" cy="53779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483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0D38-3078-558F-50E0-975BBF40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C2112-859B-65DA-3C40-3CDEF2F6C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Python:</a:t>
            </a:r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FC0F59F5-EDC2-A5AB-2C91-08DB19F2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1690688"/>
            <a:ext cx="4318000" cy="4749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84997D-58C7-D0EB-5914-CD9A256395FA}"/>
              </a:ext>
            </a:extLst>
          </p:cNvPr>
          <p:cNvSpPr txBox="1"/>
          <p:nvPr/>
        </p:nvSpPr>
        <p:spPr>
          <a:xfrm>
            <a:off x="7340600" y="3880922"/>
            <a:ext cx="253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OpenCV clips at 255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2D3FC-AD6E-EA44-284D-B2563877047E}"/>
              </a:ext>
            </a:extLst>
          </p:cNvPr>
          <p:cNvSpPr txBox="1"/>
          <p:nvPr/>
        </p:nvSpPr>
        <p:spPr>
          <a:xfrm>
            <a:off x="7416800" y="5028684"/>
            <a:ext cx="4565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numpy</a:t>
            </a:r>
            <a:r>
              <a:rPr lang="en-US" dirty="0"/>
              <a:t> rolls over (260 -&gt; 255, 0, 1, 2, 3, 4)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44B05E-086F-65F0-CC12-9A48DAF1C491}"/>
              </a:ext>
            </a:extLst>
          </p:cNvPr>
          <p:cNvSpPr txBox="1"/>
          <p:nvPr/>
        </p:nvSpPr>
        <p:spPr>
          <a:xfrm>
            <a:off x="7416800" y="5807114"/>
            <a:ext cx="4565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np + scalar =&gt; converts type</a:t>
            </a:r>
          </a:p>
        </p:txBody>
      </p:sp>
    </p:spTree>
    <p:extLst>
      <p:ext uri="{BB962C8B-B14F-4D97-AF65-F5344CB8AC3E}">
        <p14:creationId xmlns:p14="http://schemas.microsoft.com/office/powerpoint/2010/main" val="418334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0D38-3078-558F-50E0-975BBF40E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C2112-859B-65DA-3C40-3CDEF2F6C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Python: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132E43-A031-5D31-A65D-A38C33377818}"/>
              </a:ext>
            </a:extLst>
          </p:cNvPr>
          <p:cNvSpPr txBox="1"/>
          <p:nvPr/>
        </p:nvSpPr>
        <p:spPr>
          <a:xfrm>
            <a:off x="1924050" y="2533650"/>
            <a:ext cx="68961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 =   [100 150 200 250] </a:t>
            </a:r>
            <a:r>
              <a:rPr lang="en-US" sz="2400" dirty="0">
                <a:sym typeface="Wingdings" pitchFamily="2" charset="2"/>
              </a:rPr>
              <a:t> convert to uint16</a:t>
            </a:r>
          </a:p>
          <a:p>
            <a:r>
              <a:rPr lang="en-US" sz="2400" dirty="0">
                <a:sym typeface="Wingdings" pitchFamily="2" charset="2"/>
              </a:rPr>
              <a:t>b  = </a:t>
            </a:r>
            <a:r>
              <a:rPr lang="en-US" sz="2400" dirty="0"/>
              <a:t> [10 	10.  10.   10  ]</a:t>
            </a:r>
            <a:r>
              <a:rPr lang="en-US" sz="2400" dirty="0">
                <a:sym typeface="Wingdings" pitchFamily="2" charset="2"/>
              </a:rPr>
              <a:t>    convert to uint16</a:t>
            </a:r>
          </a:p>
          <a:p>
            <a:endParaRPr lang="en-US" sz="2400" dirty="0">
              <a:sym typeface="Wingdings" pitchFamily="2" charset="2"/>
            </a:endParaRPr>
          </a:p>
          <a:p>
            <a:r>
              <a:rPr lang="en-US" sz="2400" dirty="0">
                <a:sym typeface="Wingdings" pitchFamily="2" charset="2"/>
              </a:rPr>
              <a:t>a + b = [110 160 210 260] (uint16)</a:t>
            </a:r>
          </a:p>
          <a:p>
            <a:endParaRPr lang="en-US" sz="2400" dirty="0">
              <a:sym typeface="Wingdings" pitchFamily="2" charset="2"/>
            </a:endParaRPr>
          </a:p>
          <a:p>
            <a:r>
              <a:rPr lang="en-US" sz="2400" b="1" dirty="0"/>
              <a:t>Normalize</a:t>
            </a:r>
          </a:p>
          <a:p>
            <a:endParaRPr lang="en-US" sz="2400" dirty="0"/>
          </a:p>
          <a:p>
            <a:r>
              <a:rPr lang="en-US" sz="2400" dirty="0"/>
              <a:t> 	</a:t>
            </a:r>
            <a:r>
              <a:rPr lang="en-US" sz="2400" dirty="0">
                <a:sym typeface="Wingdings" pitchFamily="2" charset="2"/>
              </a:rPr>
              <a:t> = [110 160 210 260] * 255 /260 </a:t>
            </a:r>
          </a:p>
          <a:p>
            <a:r>
              <a:rPr lang="en-US" sz="2400" dirty="0">
                <a:sym typeface="Wingdings" pitchFamily="2" charset="2"/>
              </a:rPr>
              <a:t>	</a:t>
            </a:r>
          </a:p>
          <a:p>
            <a:r>
              <a:rPr lang="en-US" sz="2400" dirty="0">
                <a:sym typeface="Wingdings" pitchFamily="2" charset="2"/>
              </a:rPr>
              <a:t>	=  [107 157 206 255]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72954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210803-3123-F78D-B7CD-C82CF941E461}"/>
              </a:ext>
            </a:extLst>
          </p:cNvPr>
          <p:cNvSpPr txBox="1"/>
          <p:nvPr/>
        </p:nvSpPr>
        <p:spPr>
          <a:xfrm>
            <a:off x="3338257" y="1511166"/>
            <a:ext cx="2757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Point Spread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/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blipFill>
                <a:blip r:embed="rId3"/>
                <a:stretch>
                  <a:fillRect l="-4930" t="-2857" r="-633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/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blipFill>
                <a:blip r:embed="rId4"/>
                <a:stretch>
                  <a:fillRect l="-3723" t="-2857" r="-478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F4B592C-5F33-281B-D617-51CAD0E314AC}"/>
              </a:ext>
            </a:extLst>
          </p:cNvPr>
          <p:cNvSpPr txBox="1"/>
          <p:nvPr/>
        </p:nvSpPr>
        <p:spPr>
          <a:xfrm>
            <a:off x="4307027" y="3686477"/>
            <a:ext cx="1646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Shift invariant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EBA52-E86E-64D4-78B2-B100E9B11D65}"/>
              </a:ext>
            </a:extLst>
          </p:cNvPr>
          <p:cNvSpPr txBox="1"/>
          <p:nvPr/>
        </p:nvSpPr>
        <p:spPr>
          <a:xfrm>
            <a:off x="4345528" y="1851146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1500C6-E243-364E-7B58-CBF9FFDFB017}"/>
              </a:ext>
            </a:extLst>
          </p:cNvPr>
          <p:cNvSpPr txBox="1"/>
          <p:nvPr/>
        </p:nvSpPr>
        <p:spPr>
          <a:xfrm>
            <a:off x="5358498" y="2839453"/>
            <a:ext cx="655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varies depending on which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FE83B-F31E-1BF8-7CE5-2C2167F2E958}"/>
              </a:ext>
            </a:extLst>
          </p:cNvPr>
          <p:cNvSpPr txBox="1"/>
          <p:nvPr/>
        </p:nvSpPr>
        <p:spPr>
          <a:xfrm>
            <a:off x="5493252" y="4798200"/>
            <a:ext cx="5811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is independent of the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93AFF7-4EB4-0DC0-4345-72BE99A66D53}"/>
              </a:ext>
            </a:extLst>
          </p:cNvPr>
          <p:cNvGrpSpPr/>
          <p:nvPr/>
        </p:nvGrpSpPr>
        <p:grpSpPr>
          <a:xfrm>
            <a:off x="1081103" y="2506715"/>
            <a:ext cx="2539975" cy="2743193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B1E443-656F-FE89-550F-94F02EEE65DD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C0E143-0D21-9D70-C805-14033F0AFA74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136A38C-C7E8-E8E7-65D0-6096CFD84F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785EBC8-C222-6AC4-14A2-3B64DA999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17424C71-0245-C941-C265-81B3974DB0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021A35C-E96A-7898-68AE-9BE4CE0E60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F2AC8BF-0539-74B2-1483-61F0C0F93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E843F69-29D5-6F97-C5C3-A180D9EC6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1068300-F9D6-6DB2-0537-36D05E7429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58389A-EC0D-AB65-3267-4FEC75B9FB48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7EB93441-FCAE-E9A6-5276-1EAB5778F5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C8E1B46-FA76-5D8E-CAF1-0F52431B93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2DE5504-DDF2-0092-C301-FCAA91AC5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5A26F9E-FCB9-637A-88F1-0EFEFC72A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A2F69A8-32FA-B4FF-D611-0C23797E0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80D549A-3155-915C-59DC-81BC7F82D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01CC20D-69BB-10EE-65C0-CA93FF16F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3431B99-5A86-7962-CD70-7F7F1A752708}"/>
              </a:ext>
            </a:extLst>
          </p:cNvPr>
          <p:cNvSpPr txBox="1"/>
          <p:nvPr/>
        </p:nvSpPr>
        <p:spPr>
          <a:xfrm>
            <a:off x="2128973" y="3453899"/>
            <a:ext cx="705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dirty="0" err="1">
                <a:solidFill>
                  <a:srgbClr val="FF0000"/>
                </a:solidFill>
              </a:rPr>
              <a:t>x,y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7AB1BC-6E33-AC1C-12D9-C78B5D5138DE}"/>
              </a:ext>
            </a:extLst>
          </p:cNvPr>
          <p:cNvSpPr txBox="1"/>
          <p:nvPr/>
        </p:nvSpPr>
        <p:spPr>
          <a:xfrm>
            <a:off x="2957052" y="3453898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034F06-AA61-14F8-808A-AA83387B2DD8}"/>
              </a:ext>
            </a:extLst>
          </p:cNvPr>
          <p:cNvSpPr txBox="1"/>
          <p:nvPr/>
        </p:nvSpPr>
        <p:spPr>
          <a:xfrm>
            <a:off x="2943600" y="2728993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924D4D2-7635-08C6-EB59-3B38F692FD91}"/>
              </a:ext>
            </a:extLst>
          </p:cNvPr>
          <p:cNvCxnSpPr/>
          <p:nvPr/>
        </p:nvCxnSpPr>
        <p:spPr>
          <a:xfrm>
            <a:off x="2510023" y="3878311"/>
            <a:ext cx="649312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4D5EDF5-87E9-A2E1-101A-D754E8CB1816}"/>
              </a:ext>
            </a:extLst>
          </p:cNvPr>
          <p:cNvCxnSpPr>
            <a:cxnSpLocks/>
          </p:cNvCxnSpPr>
          <p:nvPr/>
        </p:nvCxnSpPr>
        <p:spPr>
          <a:xfrm flipV="1">
            <a:off x="3310636" y="2959825"/>
            <a:ext cx="0" cy="80902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342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B1EC09-0B5A-8FEA-36B3-0A1FD17AC42C}"/>
                  </a:ext>
                </a:extLst>
              </p:cNvPr>
              <p:cNvSpPr txBox="1"/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B1EC09-0B5A-8FEA-36B3-0A1FD17AC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blipFill>
                <a:blip r:embed="rId2"/>
                <a:stretch>
                  <a:fillRect l="-3158" t="-1852" r="-3860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B13E30E2-406F-EDC8-FA55-F3B48B1BC6F0}"/>
              </a:ext>
            </a:extLst>
          </p:cNvPr>
          <p:cNvGrpSpPr/>
          <p:nvPr/>
        </p:nvGrpSpPr>
        <p:grpSpPr>
          <a:xfrm>
            <a:off x="4449766" y="2392415"/>
            <a:ext cx="2539975" cy="2743193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4B7D739-AC8F-FC02-28B8-603563839046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609463-84FC-E8FA-8F0F-629B1310B021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AC912AE-20C7-EF51-1287-8E1189187A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19902AD-B95C-D015-CA68-71367DFF9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2E75DA5-6B2B-A84B-10AB-D20667AC44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D5D746-F77E-EF0A-635E-640D4B4748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291A2EB4-662A-681F-8D86-E56415C5A1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3A1D714-1897-E92B-B9E4-1E715E9274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78797418-89E6-A897-6D8B-2AC7144483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343BD07-88D9-FC9A-99B9-92691A854C9E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A1FD4C27-77A3-75AA-5B36-116C6247F4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D5EFC97-FCE0-6B63-631A-44777CFB7F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26C4DB6-8893-5A1E-8B37-35259A8DF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54B3EF6-2E6E-BD4C-8721-26F3733ED5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7A304E5-F995-2098-F863-D9C402E7ED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834D9BA-BE17-18D8-0A56-E49426CBCA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F80CED4-CA61-EEF5-A427-73339385B1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C7BEFD1-4051-52D9-9769-3DB30986AA2D}"/>
                  </a:ext>
                </a:extLst>
              </p:cNvPr>
              <p:cNvSpPr txBox="1"/>
              <p:nvPr/>
            </p:nvSpPr>
            <p:spPr>
              <a:xfrm>
                <a:off x="3605354" y="1324207"/>
                <a:ext cx="144334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C7BEFD1-4051-52D9-9769-3DB30986A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354" y="1324207"/>
                <a:ext cx="1443344" cy="677108"/>
              </a:xfrm>
              <a:prstGeom prst="rect">
                <a:avLst/>
              </a:prstGeom>
              <a:blipFill>
                <a:blip r:embed="rId3"/>
                <a:stretch>
                  <a:fillRect l="-7826" r="-7826"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Left Arrow 23">
            <a:extLst>
              <a:ext uri="{FF2B5EF4-FFF2-40B4-BE49-F238E27FC236}">
                <a16:creationId xmlns:a16="http://schemas.microsoft.com/office/drawing/2014/main" id="{2F635112-2CF5-2F41-4FB1-85101B330CF3}"/>
              </a:ext>
            </a:extLst>
          </p:cNvPr>
          <p:cNvSpPr/>
          <p:nvPr/>
        </p:nvSpPr>
        <p:spPr>
          <a:xfrm>
            <a:off x="3333750" y="2001315"/>
            <a:ext cx="2041068" cy="20848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3976AE2A-DE08-3452-51CC-6428C602AEB0}"/>
              </a:ext>
            </a:extLst>
          </p:cNvPr>
          <p:cNvSpPr/>
          <p:nvPr/>
        </p:nvSpPr>
        <p:spPr>
          <a:xfrm rot="16200000">
            <a:off x="6399569" y="3364983"/>
            <a:ext cx="2041068" cy="20848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2456E0-19F1-1566-893F-2DDB4DFD9974}"/>
                  </a:ext>
                </a:extLst>
              </p:cNvPr>
              <p:cNvSpPr txBox="1"/>
              <p:nvPr/>
            </p:nvSpPr>
            <p:spPr>
              <a:xfrm>
                <a:off x="7771548" y="2209800"/>
                <a:ext cx="157267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D2456E0-19F1-1566-893F-2DDB4DFD9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1548" y="2209800"/>
                <a:ext cx="1572675" cy="677108"/>
              </a:xfrm>
              <a:prstGeom prst="rect">
                <a:avLst/>
              </a:prstGeom>
              <a:blipFill>
                <a:blip r:embed="rId4"/>
                <a:stretch>
                  <a:fillRect l="-8065" t="-3704" r="-9677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FEAD8C88-BECE-ADA8-4237-8A2D39449D46}"/>
              </a:ext>
            </a:extLst>
          </p:cNvPr>
          <p:cNvSpPr txBox="1"/>
          <p:nvPr/>
        </p:nvSpPr>
        <p:spPr>
          <a:xfrm>
            <a:off x="838200" y="5457783"/>
            <a:ext cx="102839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Out  = </a:t>
            </a:r>
            <a:r>
              <a:rPr lang="en-US" sz="2800" dirty="0" err="1"/>
              <a:t>kron</a:t>
            </a:r>
            <a:r>
              <a:rPr lang="en-US" sz="2800" dirty="0"/>
              <a:t>( </a:t>
            </a:r>
            <a:r>
              <a:rPr lang="en-US" sz="2800" dirty="0" err="1"/>
              <a:t>kron</a:t>
            </a:r>
            <a:r>
              <a:rPr lang="en-US" sz="2800" dirty="0"/>
              <a:t>(H,X), H')</a:t>
            </a:r>
          </a:p>
          <a:p>
            <a:r>
              <a:rPr lang="en-US" sz="2800" dirty="0"/>
              <a:t>Out  = </a:t>
            </a:r>
            <a:r>
              <a:rPr lang="en-US" sz="2800" dirty="0" err="1"/>
              <a:t>np.convolution</a:t>
            </a:r>
            <a:r>
              <a:rPr lang="en-US" sz="2800" dirty="0"/>
              <a:t>( </a:t>
            </a:r>
            <a:r>
              <a:rPr lang="en-US" sz="2800" dirty="0" err="1"/>
              <a:t>np.convolution</a:t>
            </a:r>
            <a:r>
              <a:rPr lang="en-US" sz="2800" dirty="0"/>
              <a:t>(</a:t>
            </a:r>
            <a:r>
              <a:rPr lang="en-US" sz="2800" dirty="0" err="1"/>
              <a:t>X,H,axis</a:t>
            </a:r>
            <a:r>
              <a:rPr lang="en-US" sz="2800" dirty="0"/>
              <a:t>=0), </a:t>
            </a:r>
            <a:r>
              <a:rPr lang="en-US" sz="2800" dirty="0" err="1"/>
              <a:t>H,axis</a:t>
            </a:r>
            <a:r>
              <a:rPr lang="en-US" sz="2800" dirty="0"/>
              <a:t>=1)</a:t>
            </a:r>
          </a:p>
        </p:txBody>
      </p:sp>
    </p:spTree>
    <p:extLst>
      <p:ext uri="{BB962C8B-B14F-4D97-AF65-F5344CB8AC3E}">
        <p14:creationId xmlns:p14="http://schemas.microsoft.com/office/powerpoint/2010/main" val="927257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/>
              <p:nvPr/>
            </p:nvSpPr>
            <p:spPr>
              <a:xfrm>
                <a:off x="4476750" y="1963557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750" y="1963557"/>
                <a:ext cx="892872" cy="732573"/>
              </a:xfrm>
              <a:prstGeom prst="rect">
                <a:avLst/>
              </a:prstGeom>
              <a:blipFill>
                <a:blip r:embed="rId2"/>
                <a:stretch>
                  <a:fillRect l="-5634" r="-5634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/>
              <p:nvPr/>
            </p:nvSpPr>
            <p:spPr>
              <a:xfrm>
                <a:off x="1200150" y="1522507"/>
                <a:ext cx="2470228" cy="1614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/>
                          <m:e/>
                          <m:e/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0150" y="1522507"/>
                <a:ext cx="2470228" cy="1614673"/>
              </a:xfrm>
              <a:prstGeom prst="rect">
                <a:avLst/>
              </a:prstGeom>
              <a:blipFill>
                <a:blip r:embed="rId3"/>
                <a:stretch>
                  <a:fillRect l="-513" t="-1563" r="-1026"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078A284-57B3-0CEA-4DD6-A69B1DF4CA32}"/>
              </a:ext>
            </a:extLst>
          </p:cNvPr>
          <p:cNvSpPr txBox="1"/>
          <p:nvPr/>
        </p:nvSpPr>
        <p:spPr>
          <a:xfrm>
            <a:off x="1746250" y="3476719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 6 x </a:t>
            </a:r>
            <a:r>
              <a:rPr lang="en-US" sz="2800" dirty="0">
                <a:solidFill>
                  <a:srgbClr val="FF0000"/>
                </a:solidFill>
              </a:rPr>
              <a:t>6</a:t>
            </a:r>
            <a:r>
              <a:rPr lang="en-US" sz="2800" dirty="0"/>
              <a:t> 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DDA19-3687-1BC6-AF6C-5BFB1FCE632B}"/>
              </a:ext>
            </a:extLst>
          </p:cNvPr>
          <p:cNvSpPr txBox="1"/>
          <p:nvPr/>
        </p:nvSpPr>
        <p:spPr>
          <a:xfrm>
            <a:off x="4264837" y="3461928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 </a:t>
            </a:r>
            <a:r>
              <a:rPr lang="en-US" sz="2800" dirty="0">
                <a:solidFill>
                  <a:srgbClr val="00B0F0"/>
                </a:solidFill>
              </a:rPr>
              <a:t>3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dirty="0"/>
              <a:t>x 3 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/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blipFill>
                <a:blip r:embed="rId4"/>
                <a:stretch>
                  <a:fillRect l="-2548" r="-1911" b="-73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/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blipFill>
                <a:blip r:embed="rId5"/>
                <a:stretch>
                  <a:fillRect l="-2548" t="-1235" r="-1911" b="-6173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/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blipFill>
                <a:blip r:embed="rId6"/>
                <a:stretch>
                  <a:fillRect l="-2548" r="-1911" b="-740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A00D44E-E434-9749-8D6A-BEFC40FC493E}"/>
              </a:ext>
            </a:extLst>
          </p:cNvPr>
          <p:cNvSpPr txBox="1"/>
          <p:nvPr/>
        </p:nvSpPr>
        <p:spPr>
          <a:xfrm>
            <a:off x="9813408" y="2857984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</a:t>
            </a:r>
            <a:r>
              <a:rPr lang="en-US" sz="2400" dirty="0">
                <a:solidFill>
                  <a:srgbClr val="FF0000"/>
                </a:solidFill>
              </a:rPr>
              <a:t>6</a:t>
            </a:r>
            <a:r>
              <a:rPr lang="en-US" sz="2400" dirty="0"/>
              <a:t> – </a:t>
            </a:r>
            <a:r>
              <a:rPr lang="en-US" sz="2400" dirty="0">
                <a:solidFill>
                  <a:srgbClr val="00B0F0"/>
                </a:solidFill>
              </a:rPr>
              <a:t>3</a:t>
            </a:r>
            <a:r>
              <a:rPr lang="en-US" sz="2400" dirty="0"/>
              <a:t>) +1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85F88C-6476-8A06-5AB8-457690BADCD5}"/>
              </a:ext>
            </a:extLst>
          </p:cNvPr>
          <p:cNvSpPr/>
          <p:nvPr/>
        </p:nvSpPr>
        <p:spPr>
          <a:xfrm rot="10800000">
            <a:off x="9372700" y="2680625"/>
            <a:ext cx="406400" cy="884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28E7-DBF0-54AA-B5A7-32D8ECA20773}"/>
              </a:ext>
            </a:extLst>
          </p:cNvPr>
          <p:cNvSpPr txBox="1"/>
          <p:nvPr/>
        </p:nvSpPr>
        <p:spPr>
          <a:xfrm>
            <a:off x="2719845" y="6230242"/>
            <a:ext cx="5905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Construction of “H” matrix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4F435873-E5AD-B5E4-EBF4-5DFDFA689EFB}"/>
              </a:ext>
            </a:extLst>
          </p:cNvPr>
          <p:cNvSpPr/>
          <p:nvPr/>
        </p:nvSpPr>
        <p:spPr>
          <a:xfrm rot="5400000">
            <a:off x="8027538" y="1242006"/>
            <a:ext cx="327427" cy="192633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60D562-19FB-7C4F-B69E-358333ABD52D}"/>
              </a:ext>
            </a:extLst>
          </p:cNvPr>
          <p:cNvSpPr txBox="1"/>
          <p:nvPr/>
        </p:nvSpPr>
        <p:spPr>
          <a:xfrm>
            <a:off x="8015040" y="1490937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6</a:t>
            </a:r>
            <a:endParaRPr lang="en-US" sz="2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DD4A1DB-5F0A-374E-32D0-BCBDB77CD396}"/>
              </a:ext>
            </a:extLst>
          </p:cNvPr>
          <p:cNvCxnSpPr>
            <a:cxnSpLocks/>
          </p:cNvCxnSpPr>
          <p:nvPr/>
        </p:nvCxnSpPr>
        <p:spPr>
          <a:xfrm>
            <a:off x="5528839" y="2092477"/>
            <a:ext cx="1293541" cy="6402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9411A9-C64C-068A-B2CA-D5882099D623}"/>
              </a:ext>
            </a:extLst>
          </p:cNvPr>
          <p:cNvCxnSpPr>
            <a:cxnSpLocks/>
          </p:cNvCxnSpPr>
          <p:nvPr/>
        </p:nvCxnSpPr>
        <p:spPr>
          <a:xfrm>
            <a:off x="5471107" y="2349874"/>
            <a:ext cx="1554006" cy="1776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843A738-9921-2F7F-03A1-185C398D16BF}"/>
              </a:ext>
            </a:extLst>
          </p:cNvPr>
          <p:cNvCxnSpPr>
            <a:cxnSpLocks/>
          </p:cNvCxnSpPr>
          <p:nvPr/>
        </p:nvCxnSpPr>
        <p:spPr>
          <a:xfrm>
            <a:off x="5398606" y="2673265"/>
            <a:ext cx="1567445" cy="2662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422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/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blipFill>
                <a:blip r:embed="rId2"/>
                <a:stretch>
                  <a:fillRect l="-2143" r="-2143" b="-6849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/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blipFill>
                <a:blip r:embed="rId3"/>
                <a:stretch>
                  <a:fillRect l="-2143" r="-2143" b="-6849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/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blipFill>
                <a:blip r:embed="rId4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/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blipFill>
                <a:blip r:embed="rId5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/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blipFill>
                <a:blip r:embed="rId6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/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blipFill>
                <a:blip r:embed="rId7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/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blipFill>
                <a:blip r:embed="rId8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/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blipFill>
                <a:blip r:embed="rId9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/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blipFill>
                <a:blip r:embed="rId10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/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blipFill>
                <a:blip r:embed="rId11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/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blipFill>
                <a:blip r:embed="rId12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/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blipFill>
                <a:blip r:embed="rId13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A36A51BB-FCB0-BBD0-9514-CA3B06C8B6B5}"/>
              </a:ext>
            </a:extLst>
          </p:cNvPr>
          <p:cNvSpPr txBox="1"/>
          <p:nvPr/>
        </p:nvSpPr>
        <p:spPr>
          <a:xfrm>
            <a:off x="9484779" y="1856565"/>
            <a:ext cx="9252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= 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17EF6-10E8-4BCC-6862-D1186C5C41ED}"/>
              </a:ext>
            </a:extLst>
          </p:cNvPr>
          <p:cNvSpPr txBox="1"/>
          <p:nvPr/>
        </p:nvSpPr>
        <p:spPr>
          <a:xfrm>
            <a:off x="231258" y="4852555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</a:t>
            </a:r>
            <a:r>
              <a:rPr lang="en-US" sz="2400" dirty="0">
                <a:solidFill>
                  <a:srgbClr val="FF0000"/>
                </a:solidFill>
              </a:rPr>
              <a:t>6</a:t>
            </a:r>
            <a:r>
              <a:rPr lang="en-US" sz="2400" dirty="0"/>
              <a:t> – </a:t>
            </a:r>
            <a:r>
              <a:rPr lang="en-US" sz="2400" dirty="0">
                <a:solidFill>
                  <a:srgbClr val="00B0F0"/>
                </a:solidFill>
              </a:rPr>
              <a:t>3</a:t>
            </a:r>
            <a:r>
              <a:rPr lang="en-US" sz="2400" dirty="0"/>
              <a:t>) +1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13295C-0DB9-CDC6-CF99-A8C7880D0DEC}"/>
              </a:ext>
            </a:extLst>
          </p:cNvPr>
          <p:cNvCxnSpPr/>
          <p:nvPr/>
        </p:nvCxnSpPr>
        <p:spPr>
          <a:xfrm flipV="1">
            <a:off x="368300" y="2852471"/>
            <a:ext cx="381000" cy="13930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6210006-7422-E4B2-CA8A-114466344EE4}"/>
              </a:ext>
            </a:extLst>
          </p:cNvPr>
          <p:cNvCxnSpPr>
            <a:cxnSpLocks/>
          </p:cNvCxnSpPr>
          <p:nvPr/>
        </p:nvCxnSpPr>
        <p:spPr>
          <a:xfrm flipV="1">
            <a:off x="1053039" y="3429000"/>
            <a:ext cx="920751" cy="112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DBF112-4F53-F35F-D9B4-05B240CD3D12}"/>
              </a:ext>
            </a:extLst>
          </p:cNvPr>
          <p:cNvCxnSpPr>
            <a:cxnSpLocks/>
          </p:cNvCxnSpPr>
          <p:nvPr/>
        </p:nvCxnSpPr>
        <p:spPr>
          <a:xfrm flipV="1">
            <a:off x="2117814" y="4339559"/>
            <a:ext cx="1334649" cy="816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9ED9DC-6F96-2C9C-99CF-3F31B96D76A0}"/>
              </a:ext>
            </a:extLst>
          </p:cNvPr>
          <p:cNvCxnSpPr>
            <a:cxnSpLocks/>
          </p:cNvCxnSpPr>
          <p:nvPr/>
        </p:nvCxnSpPr>
        <p:spPr>
          <a:xfrm>
            <a:off x="2444658" y="5365551"/>
            <a:ext cx="2688348" cy="578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8083EA2-6CA7-A136-7824-4DF1C249B619}"/>
              </a:ext>
            </a:extLst>
          </p:cNvPr>
          <p:cNvSpPr txBox="1"/>
          <p:nvPr/>
        </p:nvSpPr>
        <p:spPr>
          <a:xfrm>
            <a:off x="9313329" y="2659489"/>
            <a:ext cx="1718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&lt;16 x 36 &gt;</a:t>
            </a:r>
          </a:p>
        </p:txBody>
      </p:sp>
    </p:spTree>
    <p:extLst>
      <p:ext uri="{BB962C8B-B14F-4D97-AF65-F5344CB8AC3E}">
        <p14:creationId xmlns:p14="http://schemas.microsoft.com/office/powerpoint/2010/main" val="27637283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/>
              <p:nvPr/>
            </p:nvSpPr>
            <p:spPr>
              <a:xfrm>
                <a:off x="581723" y="3842703"/>
                <a:ext cx="1219200" cy="27200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</m:m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23" y="3842703"/>
                <a:ext cx="1219200" cy="2720040"/>
              </a:xfrm>
              <a:prstGeom prst="rect">
                <a:avLst/>
              </a:prstGeom>
              <a:blipFill>
                <a:blip r:embed="rId2"/>
                <a:stretch>
                  <a:fillRect b="-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/>
              <p:nvPr/>
            </p:nvSpPr>
            <p:spPr>
              <a:xfrm>
                <a:off x="5323777" y="3146132"/>
                <a:ext cx="264264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777" y="3146132"/>
                <a:ext cx="2642647" cy="677108"/>
              </a:xfrm>
              <a:prstGeom prst="rect">
                <a:avLst/>
              </a:prstGeom>
              <a:blipFill>
                <a:blip r:embed="rId3"/>
                <a:stretch>
                  <a:fillRect l="-4785" r="-1914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A5F2C10-2F0B-2AE4-FDE6-F5425263722C}"/>
              </a:ext>
            </a:extLst>
          </p:cNvPr>
          <p:cNvSpPr txBox="1"/>
          <p:nvPr/>
        </p:nvSpPr>
        <p:spPr>
          <a:xfrm>
            <a:off x="3768573" y="1960123"/>
            <a:ext cx="17187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&lt;16 x 36 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1E5DB4-2CEC-C8D3-2B62-BA9696D691BC}"/>
              </a:ext>
            </a:extLst>
          </p:cNvPr>
          <p:cNvSpPr txBox="1"/>
          <p:nvPr/>
        </p:nvSpPr>
        <p:spPr>
          <a:xfrm>
            <a:off x="6130750" y="1960123"/>
            <a:ext cx="15263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&lt;36 x 1 &gt;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/>
              <p:nvPr/>
            </p:nvSpPr>
            <p:spPr>
              <a:xfrm>
                <a:off x="4904677" y="3983929"/>
                <a:ext cx="6096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𝑟𝑒𝑠h𝑎𝑝𝑒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→ &lt;4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4&gt;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677" y="3983929"/>
                <a:ext cx="6096000" cy="646331"/>
              </a:xfrm>
              <a:prstGeom prst="rect">
                <a:avLst/>
              </a:prstGeom>
              <a:blipFill>
                <a:blip r:embed="rId4"/>
                <a:stretch>
                  <a:fillRect t="-1923"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520772E-8619-48AF-DFDA-0DF91C92FE60}"/>
              </a:ext>
            </a:extLst>
          </p:cNvPr>
          <p:cNvSpPr txBox="1"/>
          <p:nvPr/>
        </p:nvSpPr>
        <p:spPr>
          <a:xfrm>
            <a:off x="1489653" y="4405026"/>
            <a:ext cx="1218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= g’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C67579-C8D8-5D98-5E45-07357AE2A0D8}"/>
              </a:ext>
            </a:extLst>
          </p:cNvPr>
          <p:cNvCxnSpPr/>
          <p:nvPr/>
        </p:nvCxnSpPr>
        <p:spPr>
          <a:xfrm>
            <a:off x="4627943" y="2553128"/>
            <a:ext cx="695834" cy="593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3404FD-874B-FD71-C158-3BF49639A59C}"/>
              </a:ext>
            </a:extLst>
          </p:cNvPr>
          <p:cNvCxnSpPr>
            <a:cxnSpLocks/>
          </p:cNvCxnSpPr>
          <p:nvPr/>
        </p:nvCxnSpPr>
        <p:spPr>
          <a:xfrm flipH="1">
            <a:off x="6496050" y="2553128"/>
            <a:ext cx="318835" cy="593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E4CB76-C0DA-324D-25C9-B67EFD1E8CA5}"/>
                  </a:ext>
                </a:extLst>
              </p:cNvPr>
              <p:cNvSpPr txBox="1"/>
              <p:nvPr/>
            </p:nvSpPr>
            <p:spPr>
              <a:xfrm>
                <a:off x="511136" y="1370107"/>
                <a:ext cx="2470228" cy="1614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E4CB76-C0DA-324D-25C9-B67EFD1E8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136" y="1370107"/>
                <a:ext cx="2470228" cy="1614673"/>
              </a:xfrm>
              <a:prstGeom prst="rect">
                <a:avLst/>
              </a:prstGeom>
              <a:blipFill>
                <a:blip r:embed="rId5"/>
                <a:stretch>
                  <a:fillRect l="-513" t="-1563" r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E44D978-E40F-9B37-E021-8CAF51FFAA10}"/>
              </a:ext>
            </a:extLst>
          </p:cNvPr>
          <p:cNvSpPr txBox="1"/>
          <p:nvPr/>
        </p:nvSpPr>
        <p:spPr>
          <a:xfrm>
            <a:off x="1301300" y="3074401"/>
            <a:ext cx="1407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&lt; 6 x 6 &gt;</a:t>
            </a:r>
          </a:p>
        </p:txBody>
      </p:sp>
    </p:spTree>
    <p:extLst>
      <p:ext uri="{BB962C8B-B14F-4D97-AF65-F5344CB8AC3E}">
        <p14:creationId xmlns:p14="http://schemas.microsoft.com/office/powerpoint/2010/main" val="1229996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B09A46-F4CE-4944-3862-2162CF3EBB92}"/>
              </a:ext>
            </a:extLst>
          </p:cNvPr>
          <p:cNvSpPr txBox="1"/>
          <p:nvPr/>
        </p:nvSpPr>
        <p:spPr>
          <a:xfrm>
            <a:off x="520700" y="219051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In MATLAB:   conv2(</a:t>
            </a:r>
            <a:r>
              <a:rPr lang="en-US" sz="2400" dirty="0" err="1"/>
              <a:t>B,A,</a:t>
            </a:r>
            <a:r>
              <a:rPr lang="en-US" sz="2400" dirty="0" err="1">
                <a:solidFill>
                  <a:srgbClr val="FF0000"/>
                </a:solidFill>
              </a:rPr>
              <a:t>'valid</a:t>
            </a:r>
            <a:r>
              <a:rPr lang="en-US" sz="2400" dirty="0">
                <a:solidFill>
                  <a:srgbClr val="FF0000"/>
                </a:solidFill>
              </a:rPr>
              <a:t>'</a:t>
            </a:r>
            <a:r>
              <a:rPr lang="en-US" sz="2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6D196-5FA6-2C71-D0C9-7BB450F2546F}"/>
              </a:ext>
            </a:extLst>
          </p:cNvPr>
          <p:cNvSpPr txBox="1"/>
          <p:nvPr/>
        </p:nvSpPr>
        <p:spPr>
          <a:xfrm>
            <a:off x="520700" y="3454400"/>
            <a:ext cx="506651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 = </a:t>
            </a:r>
            <a:r>
              <a:rPr lang="en-US" sz="2800" dirty="0" err="1"/>
              <a:t>kron</a:t>
            </a:r>
            <a:r>
              <a:rPr lang="en-US" sz="2800" dirty="0"/>
              <a:t>(eye(N),reshape(A’,1,[] )</a:t>
            </a:r>
          </a:p>
          <a:p>
            <a:r>
              <a:rPr lang="en-US" sz="2800" dirty="0"/>
              <a:t>g =  reshape(B’,1,[] )</a:t>
            </a:r>
          </a:p>
          <a:p>
            <a:r>
              <a:rPr lang="en-US" sz="2800" dirty="0"/>
              <a:t>x = reshape(H*g’ , N, N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7163A-0DEA-9D62-7F70-798EBC47A3AC}"/>
              </a:ext>
            </a:extLst>
          </p:cNvPr>
          <p:cNvSpPr txBox="1"/>
          <p:nvPr/>
        </p:nvSpPr>
        <p:spPr>
          <a:xfrm>
            <a:off x="3568700" y="5410785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(6 – 3) +1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1C143-D39E-87ED-E730-09517118F1F5}"/>
              </a:ext>
            </a:extLst>
          </p:cNvPr>
          <p:cNvSpPr txBox="1"/>
          <p:nvPr/>
        </p:nvSpPr>
        <p:spPr>
          <a:xfrm>
            <a:off x="6651108" y="1520918"/>
            <a:ext cx="47915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want the same size output as input image:</a:t>
            </a:r>
          </a:p>
          <a:p>
            <a:r>
              <a:rPr lang="en-US" sz="2400" dirty="0"/>
              <a:t>	N=6</a:t>
            </a:r>
          </a:p>
          <a:p>
            <a:r>
              <a:rPr lang="en-US" sz="2400" dirty="0"/>
              <a:t>	    = (8 – 3) </a:t>
            </a:r>
          </a:p>
          <a:p>
            <a:r>
              <a:rPr lang="en-US" sz="2400" dirty="0"/>
              <a:t>need to pad the image from &lt;6x6&gt; to &lt;8x8&gt;	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EF508-E926-7250-7523-F65622201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4FB340-056F-8C76-3652-C50181C449A5}"/>
                  </a:ext>
                </a:extLst>
              </p:cNvPr>
              <p:cNvSpPr txBox="1"/>
              <p:nvPr/>
            </p:nvSpPr>
            <p:spPr>
              <a:xfrm>
                <a:off x="-508785" y="5012738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&lt;6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6&gt; ∗ &lt;3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3&gt; = &lt;4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4&gt;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4FB340-056F-8C76-3652-C50181C44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8785" y="5012738"/>
                <a:ext cx="6096000" cy="369332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DBAFE2-60C5-9F2E-544A-52796A9F6EED}"/>
                  </a:ext>
                </a:extLst>
              </p:cNvPr>
              <p:cNvSpPr txBox="1"/>
              <p:nvPr/>
            </p:nvSpPr>
            <p:spPr>
              <a:xfrm>
                <a:off x="6007100" y="4266204"/>
                <a:ext cx="3355086" cy="21528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8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DBAFE2-60C5-9F2E-544A-52796A9F6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4266204"/>
                <a:ext cx="3355086" cy="2152833"/>
              </a:xfrm>
              <a:prstGeom prst="rect">
                <a:avLst/>
              </a:prstGeom>
              <a:blipFill>
                <a:blip r:embed="rId3"/>
                <a:stretch>
                  <a:fillRect l="-376" t="-1176" r="-752" b="-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E5C4B17-E33C-3CE1-3C8B-A9620FEDA132}"/>
                  </a:ext>
                </a:extLst>
              </p:cNvPr>
              <p:cNvSpPr txBox="1"/>
              <p:nvPr/>
            </p:nvSpPr>
            <p:spPr>
              <a:xfrm>
                <a:off x="9765157" y="4266204"/>
                <a:ext cx="3355086" cy="1884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8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  <m:e/>
                          <m:e/>
                          <m:e/>
                          <m:e/>
                          <m:e/>
                          <m:e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  <m:e/>
                          <m:e/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E5C4B17-E33C-3CE1-3C8B-A9620FEDA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57" y="4266204"/>
                <a:ext cx="3355086" cy="1884683"/>
              </a:xfrm>
              <a:prstGeom prst="rect">
                <a:avLst/>
              </a:prstGeom>
              <a:blipFill>
                <a:blip r:embed="rId4"/>
                <a:stretch>
                  <a:fillRect t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6C20458-0656-AAEE-9A3C-4C1C59C6A2E0}"/>
              </a:ext>
            </a:extLst>
          </p:cNvPr>
          <p:cNvSpPr/>
          <p:nvPr/>
        </p:nvSpPr>
        <p:spPr>
          <a:xfrm>
            <a:off x="6438900" y="4552950"/>
            <a:ext cx="2608004" cy="15979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D05749-BBDD-48B4-E684-4303E6F9B2A9}"/>
              </a:ext>
            </a:extLst>
          </p:cNvPr>
          <p:cNvSpPr/>
          <p:nvPr/>
        </p:nvSpPr>
        <p:spPr>
          <a:xfrm>
            <a:off x="10138698" y="4585336"/>
            <a:ext cx="2608004" cy="15655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90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53EF508-E926-7250-7523-F65622201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A0B17-D1DB-11B5-AE47-305F267557CF}"/>
              </a:ext>
            </a:extLst>
          </p:cNvPr>
          <p:cNvSpPr txBox="1"/>
          <p:nvPr/>
        </p:nvSpPr>
        <p:spPr>
          <a:xfrm>
            <a:off x="749300" y="1550493"/>
            <a:ext cx="875211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kernel=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((3,3))/9</a:t>
            </a:r>
          </a:p>
          <a:p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Menlo" panose="020B0609030804020204" pitchFamily="49" charset="0"/>
              </a:rPr>
              <a:t>img_smooth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 cv2.filter2D(img,-1,kernel)</a:t>
            </a:r>
            <a:endParaRPr lang="en-US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94D749-01E4-E6A0-2EA5-0E4148BAB989}"/>
              </a:ext>
            </a:extLst>
          </p:cNvPr>
          <p:cNvSpPr txBox="1"/>
          <p:nvPr/>
        </p:nvSpPr>
        <p:spPr>
          <a:xfrm>
            <a:off x="4457700" y="3124200"/>
            <a:ext cx="63627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Depth </a:t>
            </a:r>
          </a:p>
          <a:p>
            <a:r>
              <a:rPr lang="en-US" sz="2000" dirty="0"/>
              <a:t>	-1 : gives output image data type as input</a:t>
            </a:r>
          </a:p>
          <a:p>
            <a:r>
              <a:rPr lang="en-US" sz="2000" dirty="0"/>
              <a:t>	</a:t>
            </a:r>
          </a:p>
          <a:p>
            <a:r>
              <a:rPr lang="en-US" sz="2000" dirty="0"/>
              <a:t>	cv2.CV_8U = 0	uint8</a:t>
            </a:r>
          </a:p>
          <a:p>
            <a:r>
              <a:rPr lang="en-US" sz="2000" dirty="0"/>
              <a:t>	cv2.CV_8S = 1	int8</a:t>
            </a:r>
          </a:p>
          <a:p>
            <a:r>
              <a:rPr lang="en-US" sz="2000" dirty="0"/>
              <a:t>	cv2.CV_16U = 2	uint16</a:t>
            </a:r>
          </a:p>
          <a:p>
            <a:r>
              <a:rPr lang="en-US" sz="2000" dirty="0"/>
              <a:t>	cv2.CV_16S = 3	int16</a:t>
            </a:r>
          </a:p>
          <a:p>
            <a:r>
              <a:rPr lang="en-US" sz="2000" dirty="0"/>
              <a:t>	cv2.CV_32S = 4	int32</a:t>
            </a:r>
          </a:p>
          <a:p>
            <a:r>
              <a:rPr lang="en-US" sz="2000" dirty="0"/>
              <a:t>	cv2.CV_32F = 5	float32</a:t>
            </a:r>
          </a:p>
          <a:p>
            <a:r>
              <a:rPr lang="en-US" sz="2000" dirty="0"/>
              <a:t>	cv2.CV_64F = 6	float64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417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5EBD-0C09-E7A9-2115-C67F72BB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(Bit-wise) operations</a:t>
            </a:r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15D00F1-1FD0-B500-F0AB-E17E46CACF57}"/>
              </a:ext>
            </a:extLst>
          </p:cNvPr>
          <p:cNvGrpSpPr/>
          <p:nvPr/>
        </p:nvGrpSpPr>
        <p:grpSpPr>
          <a:xfrm>
            <a:off x="457200" y="1583272"/>
            <a:ext cx="8991600" cy="1316030"/>
            <a:chOff x="457200" y="1583271"/>
            <a:chExt cx="8991600" cy="19785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2D106E9-009E-C787-02A1-675451DBB4AC}"/>
                </a:ext>
              </a:extLst>
            </p:cNvPr>
            <p:cNvGrpSpPr/>
            <p:nvPr/>
          </p:nvGrpSpPr>
          <p:grpSpPr>
            <a:xfrm>
              <a:off x="4572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29A5B9-CDA7-4E96-E30C-0E200F41085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8AB3344-0F56-0DB2-F744-49820A2A2ED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C3EF24-22B7-BA9A-0F13-2BEABC2257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D5434DE8-9EC1-A8C7-1805-14925FDB09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4AE0E6A-9E8E-928C-B6D6-392697A957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187EB9E-1218-3BA7-FB56-CEF201D58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68A5368-5B08-2996-841A-D7937A8500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ED720AC-F695-A3EE-5E73-1218E56BDD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CFE6952-B1FB-618C-7A5F-3D8849E949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608BCD47-C104-5FF0-CD3D-323CDE5A0FD5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A7BE2E8-54A9-E161-6B0A-22956802B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6E005C3C-593A-B264-D446-B01A54036F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6B2B473-4BD7-EE0B-88AF-CE4D0851A2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69D5BEFD-1652-3C7D-E284-C73687D1BC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701383C3-7348-4240-958B-40F6C6F6F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BA2777C-FDBF-86F7-9241-B9DA0C42C7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139C152-676F-A1C9-4FE3-AF1EC26D0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4F7DC7-BBFF-CC60-C64C-145D4CB2B4CC}"/>
                </a:ext>
              </a:extLst>
            </p:cNvPr>
            <p:cNvGrpSpPr/>
            <p:nvPr/>
          </p:nvGrpSpPr>
          <p:grpSpPr>
            <a:xfrm>
              <a:off x="30734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CB9F19E-9EF0-8BB8-5487-4C3299BF05F8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8AB19A56-54DA-8B69-A35B-CF7D08F3302A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1ED5005A-EDE6-56E2-0AD1-47D6699B6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AEE7D0B-33D8-6A33-0279-F6F210D0D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6CF46C7E-BBA3-8D02-C1EE-6DAB0CAED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0B624F6-5F80-6B58-8E2F-4B2E919D30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5EF31BF-F45C-B0C3-A43E-9A9BCB1A7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A71331B-F492-6C1D-4F97-F2021AA5DA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D1907685-B8A8-B413-25C8-B8CB40250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B17E3022-0618-2EE9-7D34-48735945A4B8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29C9D62-C8BD-47B9-197C-15F2124445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5C239BDC-0ACA-5FD1-0F7A-8C03CA6E3C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C38BF96-0105-A055-1ECF-33DBAE894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2F6AC99-183A-D033-3FB8-9A211C3B66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5B050EA-AD51-0D9B-A7F9-F76A2B9EB4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9F855EF-E948-6AAE-7EBA-D43E7743D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4A4E757A-61C3-E7DD-0D08-EBF53C958A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7EEBF90-F106-F099-2761-37720F1E7976}"/>
                </a:ext>
              </a:extLst>
            </p:cNvPr>
            <p:cNvGrpSpPr/>
            <p:nvPr/>
          </p:nvGrpSpPr>
          <p:grpSpPr>
            <a:xfrm>
              <a:off x="7213600" y="1583271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A81F3DB-0DB1-49E6-9AC7-1BE2B029C0E6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6A3EC77B-2486-F7A7-73EF-0E1C526D83A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BF1A238-AE91-9A12-DC23-FE8396F827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53B1269C-2B04-2DCD-CE90-B440DDD0BF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ACFA678-302F-187A-91CA-AC8F3280A2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79F8CDB6-5972-A43E-9D0F-93A33C4AD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7BD7802-7F3D-4DA3-6D91-F9A9B4E10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0938EFE9-0725-FBED-E55E-679D31AF3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A4CD4C5-C83B-2589-AB62-6CC2BD12FF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CAE7A002-F0E6-562A-A44B-A2D4A41A61C1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E64FE06-AF1E-6467-DEDC-95DACDB412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2D3CB9D-20A3-4C6B-D9A0-2959D92D8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C06A88-0D09-455C-2884-AB05CABB31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5B688A1-BBBA-D99B-5752-6838230629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938E43-A30F-94F8-133B-19626D92CC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2FDB322D-E31E-C344-98BA-9534BBF0B0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5520E08-88A6-1FBF-B5BD-E25200ADD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BC6FF7D-F135-84B0-A0C5-8CE1DEBB823E}"/>
                </a:ext>
              </a:extLst>
            </p:cNvPr>
            <p:cNvSpPr/>
            <p:nvPr/>
          </p:nvSpPr>
          <p:spPr>
            <a:xfrm>
              <a:off x="1271254" y="1690688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41F7D39-796F-934C-C157-D061C796080B}"/>
                </a:ext>
              </a:extLst>
            </p:cNvPr>
            <p:cNvSpPr/>
            <p:nvPr/>
          </p:nvSpPr>
          <p:spPr>
            <a:xfrm rot="5400000">
              <a:off x="3932273" y="151932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0CF36A-CBAC-6F19-88F4-08BD3B276A59}"/>
                </a:ext>
              </a:extLst>
            </p:cNvPr>
            <p:cNvSpPr/>
            <p:nvPr/>
          </p:nvSpPr>
          <p:spPr>
            <a:xfrm rot="5400000">
              <a:off x="8091595" y="2238377"/>
              <a:ext cx="459125" cy="56092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8CAE059-562E-7D19-E910-B83FECEB31B9}"/>
              </a:ext>
            </a:extLst>
          </p:cNvPr>
          <p:cNvGrpSpPr/>
          <p:nvPr/>
        </p:nvGrpSpPr>
        <p:grpSpPr>
          <a:xfrm>
            <a:off x="441019" y="3177290"/>
            <a:ext cx="8991600" cy="1475142"/>
            <a:chOff x="534654" y="4274083"/>
            <a:chExt cx="8991600" cy="1978551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E685023-8579-8343-252C-DCC4C53BA2F5}"/>
                </a:ext>
              </a:extLst>
            </p:cNvPr>
            <p:cNvGrpSpPr/>
            <p:nvPr/>
          </p:nvGrpSpPr>
          <p:grpSpPr>
            <a:xfrm>
              <a:off x="5346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7D36D31-0928-F7F0-69CD-391F80231B62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32F5C089-2559-078B-DB0D-E3315A70505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0286C27-08B6-644B-2688-9F9CE3D794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9375528C-102E-4FE3-51D4-D56FB6D678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E654966A-88AB-76AF-A570-179F79C61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6E4DB3D3-A870-F0CF-8A0B-1DC26FA19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DE07F7D0-4F6A-E1AE-B08C-0BCCBF58E3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E234D56A-9601-4721-5376-F267ADC0E8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77615E2A-A668-DED8-4254-49E69279B0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50891864-44D1-054F-7E42-83F1D916B3FA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5AFC6A7-F9ED-C5A0-FA70-3EF149451E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61AE3902-D667-A6F0-0533-003E769678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75B5D0BC-78A6-5654-9660-36DC4CEC3C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CF59F2C-19F3-DBD8-D392-419F4F5C92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0938AD2D-28D4-3073-E989-75C2689F1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2A01878-95C3-D87E-A3BA-CA9BC11D40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6EDD4DD-F541-B261-45C6-406FA2FF5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B93CD058-0F96-12ED-7B00-43094EBB3F53}"/>
                </a:ext>
              </a:extLst>
            </p:cNvPr>
            <p:cNvGrpSpPr/>
            <p:nvPr/>
          </p:nvGrpSpPr>
          <p:grpSpPr>
            <a:xfrm>
              <a:off x="31508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6FB93F6-9D34-AE5C-28D6-D266B49B2EBB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C3BE3279-3633-071D-18AD-06074C8F121E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C238748A-2B07-E4F2-7DAB-A809990A3C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4C2C1F8F-BCCA-028B-5233-776157F0D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3F6F80EC-3494-F3F1-5A6A-5EFAEE099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AE603926-D1EF-114D-3E4F-D9E670A380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8195CA56-D2D6-870C-2C6A-3897D382B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723E0772-17D4-9F17-9235-9F4B9ADC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86909851-537F-B4A7-C01D-821BB31AD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EE3A1A30-E035-AEDA-A134-431971CF207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EFE155C-499B-2515-356F-223DAD6003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CA42B54-1DC6-5532-CF92-CCEF1EDCE2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A856E2E5-A730-EB4D-B439-71F9943FF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8BCD91E1-CC35-56E0-81C7-AC8738BF87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DFFE1D17-56ED-AF9C-E855-441B176C62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820EB77B-7542-58B2-B969-ADE53C68C8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8B720634-5C7B-9FDF-E547-477D980B5D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8000806-55EF-27A0-E658-50ED06E0D2F3}"/>
                </a:ext>
              </a:extLst>
            </p:cNvPr>
            <p:cNvGrpSpPr/>
            <p:nvPr/>
          </p:nvGrpSpPr>
          <p:grpSpPr>
            <a:xfrm>
              <a:off x="7291054" y="4274083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1EDB373F-F529-88CB-5B93-9C62CAFCF843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15C5CB87-05CC-4EE7-9C3B-435F8BBE4312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85E936FC-3C0A-732F-AC9C-6BCA9FBB0D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2D0172AB-6D82-A794-BA8B-D098D2232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5B1346CB-C8F8-A9FE-476D-10F1DC482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3AE2A0E5-1CC7-F09B-E3E1-3FD1F00F9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DC9573EF-7C15-8D7F-0F55-02DD1DE583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88425AB4-D406-406A-4BA9-50ED4AC44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CEC9398F-42F4-465A-D914-A1B30B60FF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6FAEEADF-C6DD-3597-92B9-BDD066C9F7A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1E1EFCD6-61AD-B85B-FC58-A5E7DAC85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04BD3CF4-A267-F2E4-EC9C-05C00D9B5E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30BA1E4-63DE-E1F5-5353-6D354D5CC4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55C09B8A-E6F5-75FE-DB27-3F0BD55E5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0F87040-0775-688A-5B3E-DB50ED142E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0F12DF5E-4B35-CB5C-D46A-B7F069283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9894D15-DCE7-CADA-62D7-C8950A3FA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1720AE8-AD76-5653-6E2E-D0D2A1F2CB87}"/>
                </a:ext>
              </a:extLst>
            </p:cNvPr>
            <p:cNvSpPr/>
            <p:nvPr/>
          </p:nvSpPr>
          <p:spPr>
            <a:xfrm>
              <a:off x="1348708" y="4381500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BF05DB4B-1747-6007-E7DA-1FC53C23B466}"/>
                </a:ext>
              </a:extLst>
            </p:cNvPr>
            <p:cNvSpPr/>
            <p:nvPr/>
          </p:nvSpPr>
          <p:spPr>
            <a:xfrm rot="5400000">
              <a:off x="4009727" y="4210140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6470B352-3FA5-F672-33D4-1B3A10667986}"/>
                </a:ext>
              </a:extLst>
            </p:cNvPr>
            <p:cNvSpPr/>
            <p:nvPr/>
          </p:nvSpPr>
          <p:spPr>
            <a:xfrm>
              <a:off x="8121289" y="4274083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EB126B-3164-0605-57AC-A82CB13BC345}"/>
                </a:ext>
              </a:extLst>
            </p:cNvPr>
            <p:cNvSpPr/>
            <p:nvPr/>
          </p:nvSpPr>
          <p:spPr>
            <a:xfrm rot="5400000">
              <a:off x="8162534" y="408136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16A0CF65-A3AB-992B-0B52-D5524AF52CA8}"/>
              </a:ext>
            </a:extLst>
          </p:cNvPr>
          <p:cNvGrpSpPr/>
          <p:nvPr/>
        </p:nvGrpSpPr>
        <p:grpSpPr>
          <a:xfrm>
            <a:off x="457200" y="4879449"/>
            <a:ext cx="8991600" cy="1777991"/>
            <a:chOff x="534654" y="6910728"/>
            <a:chExt cx="8991600" cy="1978551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8E94E834-16AA-41D3-2D6A-DCD1188CF789}"/>
                </a:ext>
              </a:extLst>
            </p:cNvPr>
            <p:cNvGrpSpPr/>
            <p:nvPr/>
          </p:nvGrpSpPr>
          <p:grpSpPr>
            <a:xfrm>
              <a:off x="5346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E9AB9187-9F3E-68F8-4975-560E4A17646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0CD4455-EE89-1454-013F-73F3A924F80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828E108A-1FBF-DFAD-C069-086316E8E9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2F30B28E-9A0A-0AF9-13BE-FEF0BC5D97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4E328F90-9BC8-4EB9-B222-5845B29A04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1D748342-FCF5-32DC-7453-D6DD0E64B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1E74C512-9F4D-1B2E-06CE-6278038E1B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A037FFA4-2EAB-06B3-27DE-8C755CEAAF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7AFD2516-C0E6-4853-7FAE-0CB3CFC45B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8110AF9F-0792-424E-62B0-5D6C12FA8FF4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614A772C-E1CF-09D5-C126-9D08BDAB9C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B812A94D-C274-A332-30BB-ACC183614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C85A1D3-71AA-0423-E38B-785AF74C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C37A631-B894-6AE2-D636-FAC86D9336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BA29DE9C-0F9B-8C88-F643-33A61F58A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0F05CDFE-422B-AC6B-4F3C-A9DC11327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C8A5BDC-A41F-0290-9D39-B43A7EFDF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1B04A23-753D-DCFB-51DA-91EF92381BD7}"/>
                </a:ext>
              </a:extLst>
            </p:cNvPr>
            <p:cNvGrpSpPr/>
            <p:nvPr/>
          </p:nvGrpSpPr>
          <p:grpSpPr>
            <a:xfrm>
              <a:off x="31508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55137E5-15CD-9E1F-0E4C-D580A1B98101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9FE09FC1-BC4B-C6B0-3297-24082C1EB76B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A676D35E-C1FF-1098-FC4C-AE4483173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6F94DAE5-6C48-E8CD-D349-0EA6F79316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E6178BEE-4266-8488-5661-8F990B82B7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49003753-04AF-A07B-E23A-2A04011FAD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95FCA982-A0F0-9897-788A-9636AFA6ED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4E313ED3-229A-F448-29C6-A4F057766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D03404C1-AE18-86B8-8DE5-5AB5D65120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3E9BB2D8-DFEC-5F1B-039E-AF9351CBAE4D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340BDD7D-7BB3-17D4-F546-0770DCCE29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2170454A-E0BC-9D86-A8E9-1434408D4C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FD50474D-74BE-6877-293B-F65F181F0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D0D9687E-86C7-F30D-896A-AA4896A66E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Connector 146">
                  <a:extLst>
                    <a:ext uri="{FF2B5EF4-FFF2-40B4-BE49-F238E27FC236}">
                      <a16:creationId xmlns:a16="http://schemas.microsoft.com/office/drawing/2014/main" id="{1949EBE5-CEE9-E1C5-7FBD-88AEBFE73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38FB774F-61A2-EB54-C134-93B85E1BD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CB4F185A-12DD-4747-65C7-8AA745A647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6FBA5B9-2BD9-5220-1D83-34FBC1B8E613}"/>
                </a:ext>
              </a:extLst>
            </p:cNvPr>
            <p:cNvGrpSpPr/>
            <p:nvPr/>
          </p:nvGrpSpPr>
          <p:grpSpPr>
            <a:xfrm>
              <a:off x="7291054" y="691072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C89AD29-A237-8028-FD07-580E3DF1AF27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9F5AEBDC-E78B-9F73-707A-A86F0F2579BF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AE5D27E6-78AF-105B-8DC5-177D3FDD8F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161F10A-2DE2-1C0C-0163-D2ED5D66B6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317D2193-C1DB-6937-6F78-7192E977F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896F1328-14B1-4232-CA66-1C7463E8F9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969A5B2D-EB30-7199-2904-02A7CD8714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DE25E7EB-F6AB-77DF-37A1-4A082E343E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8174C279-9621-AE0D-D61D-637ECB728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500F3E82-A33C-E297-E4CC-31FE31C9D6BE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6D954FB6-625C-67EF-35CA-13E7DFA818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1EC0CB12-B516-0177-A05D-AAE6EBBF1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C55D98A4-D8FB-A2FC-3A1B-04127973A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0C1BF285-9A74-4462-9DEE-7ED993D84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F8C70E2C-7EE5-B86B-279A-AB9A0FD7E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96C1D273-F3F2-4124-F96B-1BB86D7ED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F1C2E1DB-19AD-7084-8672-636A20BC5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D8BFF6D-A7CD-C02F-45EE-4AA3769122B3}"/>
                </a:ext>
              </a:extLst>
            </p:cNvPr>
            <p:cNvSpPr/>
            <p:nvPr/>
          </p:nvSpPr>
          <p:spPr>
            <a:xfrm>
              <a:off x="1348708" y="7018145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2E85AE58-AECB-833E-4A47-DA2E30434423}"/>
                </a:ext>
              </a:extLst>
            </p:cNvPr>
            <p:cNvSpPr/>
            <p:nvPr/>
          </p:nvSpPr>
          <p:spPr>
            <a:xfrm rot="5400000">
              <a:off x="4009727" y="6846785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B182BB02-37C0-D24A-4940-35FC70EFBEF9}"/>
                </a:ext>
              </a:extLst>
            </p:cNvPr>
            <p:cNvSpPr/>
            <p:nvPr/>
          </p:nvSpPr>
          <p:spPr>
            <a:xfrm>
              <a:off x="8121289" y="6910728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16E9327-8780-9E56-7CDB-D40906701E51}"/>
                </a:ext>
              </a:extLst>
            </p:cNvPr>
            <p:cNvSpPr/>
            <p:nvPr/>
          </p:nvSpPr>
          <p:spPr>
            <a:xfrm rot="5400000">
              <a:off x="7468330" y="7412217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8FEAEFD-615B-F7B5-F776-901F0AC367B0}"/>
                </a:ext>
              </a:extLst>
            </p:cNvPr>
            <p:cNvSpPr/>
            <p:nvPr/>
          </p:nvSpPr>
          <p:spPr>
            <a:xfrm>
              <a:off x="8088928" y="8032375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3BB4238-65CA-99F9-2565-EEE61EF486DC}"/>
                </a:ext>
              </a:extLst>
            </p:cNvPr>
            <p:cNvSpPr/>
            <p:nvPr/>
          </p:nvSpPr>
          <p:spPr>
            <a:xfrm rot="5400000">
              <a:off x="8856739" y="7433581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50511A91-1143-047A-AE70-DA305F83FFDF}"/>
              </a:ext>
            </a:extLst>
          </p:cNvPr>
          <p:cNvSpPr txBox="1"/>
          <p:nvPr/>
        </p:nvSpPr>
        <p:spPr>
          <a:xfrm>
            <a:off x="5854872" y="1988924"/>
            <a:ext cx="89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7B81B44-14B0-5B51-4787-35B4445DAD91}"/>
              </a:ext>
            </a:extLst>
          </p:cNvPr>
          <p:cNvSpPr txBox="1"/>
          <p:nvPr/>
        </p:nvSpPr>
        <p:spPr>
          <a:xfrm>
            <a:off x="5956568" y="3558572"/>
            <a:ext cx="665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D4D3EA7-84DC-8004-3F92-54B30CD4E9DF}"/>
              </a:ext>
            </a:extLst>
          </p:cNvPr>
          <p:cNvSpPr txBox="1"/>
          <p:nvPr/>
        </p:nvSpPr>
        <p:spPr>
          <a:xfrm>
            <a:off x="5890945" y="5364178"/>
            <a:ext cx="8567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XOR</a:t>
            </a:r>
          </a:p>
        </p:txBody>
      </p:sp>
    </p:spTree>
    <p:extLst>
      <p:ext uri="{BB962C8B-B14F-4D97-AF65-F5344CB8AC3E}">
        <p14:creationId xmlns:p14="http://schemas.microsoft.com/office/powerpoint/2010/main" val="1563636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85" y="172253"/>
            <a:ext cx="10515600" cy="1325563"/>
          </a:xfrm>
        </p:spPr>
        <p:txBody>
          <a:bodyPr/>
          <a:lstStyle/>
          <a:p>
            <a:r>
              <a:rPr lang="en-US" dirty="0"/>
              <a:t>Morphological Operations</a:t>
            </a:r>
            <a:br>
              <a:rPr lang="en-US" dirty="0"/>
            </a:b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3313832" y="4198314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406426" y="2911222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1673E-F1FA-DFF3-351D-7EE7B5C67F5B}"/>
              </a:ext>
            </a:extLst>
          </p:cNvPr>
          <p:cNvSpPr txBox="1"/>
          <p:nvPr/>
        </p:nvSpPr>
        <p:spPr>
          <a:xfrm>
            <a:off x="3728405" y="2025487"/>
            <a:ext cx="6329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Kernel is Boolean (mask)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391764-87C4-72CC-95C3-F8379C5CDC8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1883479" y="4429147"/>
            <a:ext cx="1430353" cy="3060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F0639EB8-77BC-8360-2530-7CAE115DCFCC}"/>
              </a:ext>
            </a:extLst>
          </p:cNvPr>
          <p:cNvSpPr txBox="1">
            <a:spLocks/>
          </p:cNvSpPr>
          <p:nvPr/>
        </p:nvSpPr>
        <p:spPr>
          <a:xfrm>
            <a:off x="567185" y="5882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Erosion/Dilation</a:t>
            </a:r>
          </a:p>
        </p:txBody>
      </p:sp>
    </p:spTree>
    <p:extLst>
      <p:ext uri="{BB962C8B-B14F-4D97-AF65-F5344CB8AC3E}">
        <p14:creationId xmlns:p14="http://schemas.microsoft.com/office/powerpoint/2010/main" val="1730521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891A5-8967-87E0-CD28-4FA3DEE42D6B}"/>
              </a:ext>
            </a:extLst>
          </p:cNvPr>
          <p:cNvSpPr txBox="1"/>
          <p:nvPr/>
        </p:nvSpPr>
        <p:spPr>
          <a:xfrm>
            <a:off x="5404236" y="1766888"/>
            <a:ext cx="552029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list = find (kernel ==true)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</a:t>
            </a:r>
            <a:r>
              <a:rPr lang="en-US" sz="2800" dirty="0" err="1"/>
              <a:t>fcn</a:t>
            </a:r>
            <a:r>
              <a:rPr lang="en-US" sz="2800" dirty="0"/>
              <a:t> (image[list] )</a:t>
            </a:r>
          </a:p>
          <a:p>
            <a:r>
              <a:rPr lang="en-US" sz="2800" dirty="0"/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892FC-2736-5984-B290-5B9CD43186AA}"/>
              </a:ext>
            </a:extLst>
          </p:cNvPr>
          <p:cNvSpPr txBox="1"/>
          <p:nvPr/>
        </p:nvSpPr>
        <p:spPr>
          <a:xfrm>
            <a:off x="4459982" y="4013657"/>
            <a:ext cx="526626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Dilation -  MAX ( image[list] )</a:t>
            </a:r>
          </a:p>
          <a:p>
            <a:r>
              <a:rPr lang="en-US" sz="2400" dirty="0"/>
              <a:t>Erosion -  MIN ( image[list] )</a:t>
            </a:r>
          </a:p>
          <a:p>
            <a:endParaRPr lang="en-US" sz="2400" dirty="0"/>
          </a:p>
          <a:p>
            <a:r>
              <a:rPr lang="en-US" sz="2400" dirty="0"/>
              <a:t>Denoising -  MEDIAN ( image[list] )</a:t>
            </a:r>
          </a:p>
          <a:p>
            <a:r>
              <a:rPr lang="en-US" sz="2400" dirty="0"/>
              <a:t>Smoothing -  MEAN ( image[list] )</a:t>
            </a:r>
          </a:p>
        </p:txBody>
      </p:sp>
    </p:spTree>
    <p:extLst>
      <p:ext uri="{BB962C8B-B14F-4D97-AF65-F5344CB8AC3E}">
        <p14:creationId xmlns:p14="http://schemas.microsoft.com/office/powerpoint/2010/main" val="37660905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C82862-FDAD-3525-4228-267CCE8A5C85}"/>
              </a:ext>
            </a:extLst>
          </p:cNvPr>
          <p:cNvSpPr/>
          <p:nvPr/>
        </p:nvSpPr>
        <p:spPr>
          <a:xfrm>
            <a:off x="3810002" y="3572934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8CBA646-3FD9-D12E-C9C5-AAC5E52306C0}"/>
              </a:ext>
            </a:extLst>
          </p:cNvPr>
          <p:cNvGrpSpPr/>
          <p:nvPr/>
        </p:nvGrpSpPr>
        <p:grpSpPr>
          <a:xfrm>
            <a:off x="4117373" y="3572934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A999D3F-C34E-C083-E72F-BDED497C6D06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46D0EA-ABCB-590A-CA29-FA319078BC14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D6508D3-B24C-137E-BC84-2137B6796E6F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E69933-7718-6385-A7B8-71567003E12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076BEBB-F042-FBFC-3B2C-A39D55C18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2BCB783-E231-5954-3480-8FA9E388E02E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7FEBB9C-7024-6FEE-40AF-35A188884C7B}"/>
              </a:ext>
            </a:extLst>
          </p:cNvPr>
          <p:cNvGrpSpPr/>
          <p:nvPr/>
        </p:nvGrpSpPr>
        <p:grpSpPr>
          <a:xfrm rot="5400000">
            <a:off x="4223927" y="3465218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AC41990-889A-7AE1-805F-68E36E169A67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C4CD902-98A5-529F-430D-58CFEC0B56BA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9312352-0C4F-3A8E-FC0F-3D977B9617B7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4015E82-E65E-653E-C0AF-13338D8CFCE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41201D1-4F96-4B13-3E5C-46407697E06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B5432F0-B2CD-5975-E987-2B64815A9775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5742A12D-80B7-7B91-9700-63FE759F3FDC}"/>
              </a:ext>
            </a:extLst>
          </p:cNvPr>
          <p:cNvSpPr/>
          <p:nvPr/>
        </p:nvSpPr>
        <p:spPr>
          <a:xfrm>
            <a:off x="4844173" y="3572925"/>
            <a:ext cx="375498" cy="237066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6AED434-B6B2-44FB-05F9-0E3497EB6157}"/>
              </a:ext>
            </a:extLst>
          </p:cNvPr>
          <p:cNvSpPr txBox="1"/>
          <p:nvPr/>
        </p:nvSpPr>
        <p:spPr>
          <a:xfrm>
            <a:off x="4843374" y="4429148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85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9FC2F-2B19-ADB3-397E-714368C6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(Filtering) Operations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6EFED3-A5EA-6A3B-43E2-E46DF2BD1252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E10EC9-7C13-0F1E-1086-F7811D27C6B4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3626D55-AFD0-3882-0F87-A88CD078F8DA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24262F-1786-5C40-02D7-67549B7C8243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9748B3E-F5E8-CC7A-F804-4A4C91E338A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86C8C7-4653-140D-E7A1-1E6167536221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910172-BE1D-4068-E568-0ED4960AA3B3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AC547D6-4077-0C26-378D-E7FC5C19C73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B88791-DC7F-24AC-9621-842E4F9CEA23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DC09F12-47B7-BBD4-37E0-9A1D02ED8F84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F819FF1-DDE0-07E1-7054-77AAF1446369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0AE6145-89AA-4080-2E62-A2A7F6FBE55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40F28E3-B35D-048A-B398-38FE9555D557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83414D6-0F67-9105-1BBC-9C48AC129582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FEA7E73-F3CD-B40B-B76A-5E9FB629A1D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E7EB1E8-C3BA-8CAF-3286-EBEFC9135D52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E520CD-961E-4656-862E-7BD2154D2CC9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D2F559-261F-6A5C-2399-0ABD570152D7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55F8C6-9C4B-229F-9F71-0993E32BA173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376EF0-6AB4-CF5E-4852-66E80F8629C9}"/>
              </a:ext>
            </a:extLst>
          </p:cNvPr>
          <p:cNvSpPr txBox="1"/>
          <p:nvPr/>
        </p:nvSpPr>
        <p:spPr>
          <a:xfrm>
            <a:off x="5223070" y="3007668"/>
            <a:ext cx="615315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sum(image .* kernel)</a:t>
            </a:r>
          </a:p>
          <a:p>
            <a:r>
              <a:rPr lang="en-US" sz="28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66867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CD7C-4363-2DF9-AC66-9C5FF8005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pic>
        <p:nvPicPr>
          <p:cNvPr id="4" name="Picture 3" descr="A close-up of a grid&#10;&#10;Description automatically generated">
            <a:extLst>
              <a:ext uri="{FF2B5EF4-FFF2-40B4-BE49-F238E27FC236}">
                <a16:creationId xmlns:a16="http://schemas.microsoft.com/office/drawing/2014/main" id="{A6C256F6-54A7-69A0-2EFA-E6A04E1BD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042" y="3322209"/>
            <a:ext cx="9527266" cy="31706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674F2D-1D4C-205A-BE57-EF6C1B2648DA}"/>
              </a:ext>
            </a:extLst>
          </p:cNvPr>
          <p:cNvSpPr txBox="1"/>
          <p:nvPr/>
        </p:nvSpPr>
        <p:spPr>
          <a:xfrm>
            <a:off x="717797" y="1690688"/>
            <a:ext cx="107564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thres</a:t>
            </a:r>
            <a:r>
              <a:rPr lang="en-US" sz="2800" dirty="0"/>
              <a:t>, </a:t>
            </a:r>
            <a:r>
              <a:rPr lang="en-US" sz="2800" dirty="0" err="1"/>
              <a:t>img_out</a:t>
            </a:r>
            <a:r>
              <a:rPr lang="en-US" sz="2800" dirty="0"/>
              <a:t> = cv2.threshold(</a:t>
            </a:r>
            <a:r>
              <a:rPr lang="en-US" sz="2800" dirty="0" err="1"/>
              <a:t>img</a:t>
            </a:r>
            <a:r>
              <a:rPr lang="en-US" sz="2800" dirty="0"/>
              <a:t>, </a:t>
            </a:r>
            <a:r>
              <a:rPr lang="en-US" sz="2800" dirty="0" err="1"/>
              <a:t>thres</a:t>
            </a:r>
            <a:r>
              <a:rPr lang="en-US" sz="2800" dirty="0"/>
              <a:t>, replacement value, type) </a:t>
            </a:r>
          </a:p>
        </p:txBody>
      </p:sp>
    </p:spTree>
    <p:extLst>
      <p:ext uri="{BB962C8B-B14F-4D97-AF65-F5344CB8AC3E}">
        <p14:creationId xmlns:p14="http://schemas.microsoft.com/office/powerpoint/2010/main" val="3752745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CD7C-4363-2DF9-AC66-9C5FF8005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674F2D-1D4C-205A-BE57-EF6C1B2648DA}"/>
              </a:ext>
            </a:extLst>
          </p:cNvPr>
          <p:cNvSpPr txBox="1"/>
          <p:nvPr/>
        </p:nvSpPr>
        <p:spPr>
          <a:xfrm>
            <a:off x="717797" y="1690688"/>
            <a:ext cx="107564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thres</a:t>
            </a:r>
            <a:r>
              <a:rPr lang="en-US" sz="2800" dirty="0"/>
              <a:t>, </a:t>
            </a:r>
            <a:r>
              <a:rPr lang="en-US" sz="2800" dirty="0" err="1"/>
              <a:t>img_out</a:t>
            </a:r>
            <a:r>
              <a:rPr lang="en-US" sz="2800" dirty="0"/>
              <a:t> = cv2.threshold(</a:t>
            </a:r>
            <a:r>
              <a:rPr lang="en-US" sz="2800" dirty="0" err="1"/>
              <a:t>img</a:t>
            </a:r>
            <a:r>
              <a:rPr lang="en-US" sz="2800" dirty="0"/>
              <a:t>, </a:t>
            </a:r>
            <a:r>
              <a:rPr lang="en-US" sz="2800" dirty="0" err="1"/>
              <a:t>thres</a:t>
            </a:r>
            <a:r>
              <a:rPr lang="en-US" sz="2800" dirty="0"/>
              <a:t>, replacement value, type)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29977B-042A-342A-76E4-A258850ABB3D}"/>
              </a:ext>
            </a:extLst>
          </p:cNvPr>
          <p:cNvSpPr txBox="1"/>
          <p:nvPr/>
        </p:nvSpPr>
        <p:spPr>
          <a:xfrm>
            <a:off x="133350" y="2705100"/>
            <a:ext cx="1205865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2"/>
              </a:rPr>
              <a:t>Types:</a:t>
            </a:r>
          </a:p>
          <a:p>
            <a:pPr algn="l"/>
            <a:endParaRPr lang="en-US" sz="2800" b="1" i="0" u="none" strike="noStrike" dirty="0">
              <a:solidFill>
                <a:srgbClr val="3D578C"/>
              </a:solidFill>
              <a:effectLst/>
              <a:latin typeface="Helvetica" pitchFamily="2" charset="0"/>
              <a:hlinkClick r:id="rId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2"/>
              </a:rPr>
              <a:t>THRESH_BINARY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</a:rPr>
              <a:t>			If x &gt; thresh;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=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 </a:t>
            </a:r>
            <a:r>
              <a:rPr lang="en-US" sz="2800" b="1" i="0" u="none" strike="noStrike" dirty="0" err="1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rep_valu</a:t>
            </a:r>
            <a:r>
              <a:rPr lang="en-US" sz="2800" b="1" dirty="0" err="1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e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; else x=0 </a:t>
            </a:r>
            <a:endParaRPr lang="en-US" sz="28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3"/>
              </a:rPr>
              <a:t>THRESH_BINARY_INV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</a:rPr>
              <a:t>		If x &gt; thresh;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= 0; else x=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 </a:t>
            </a:r>
            <a:r>
              <a:rPr lang="en-US" sz="2800" b="1" i="0" u="none" strike="noStrike" dirty="0" err="1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rep_valu</a:t>
            </a:r>
            <a:r>
              <a:rPr lang="en-US" sz="2800" b="1" dirty="0" err="1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e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 </a:t>
            </a:r>
            <a:endParaRPr lang="en-US" sz="28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4"/>
              </a:rPr>
              <a:t>THRESH_TRUNC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</a:rPr>
              <a:t>			If x &gt; thresh; 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= x ; else x=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 thresh</a:t>
            </a:r>
            <a:endParaRPr lang="en-US" sz="28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5"/>
              </a:rPr>
              <a:t>THRESH_TOZERO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</a:rPr>
              <a:t>			If x &gt; thresh; 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= x; else x=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 0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 </a:t>
            </a:r>
            <a:endParaRPr lang="en-US" sz="28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hlinkClick r:id="rId6"/>
              </a:rPr>
              <a:t>THRESH_TOZERO_INV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</a:rPr>
              <a:t>		If x &gt; thresh; 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= 0; else x=</a:t>
            </a:r>
            <a:r>
              <a:rPr lang="en-US" sz="2800" b="1" i="0" u="none" strike="noStrike" dirty="0">
                <a:solidFill>
                  <a:srgbClr val="3D578C"/>
                </a:solidFill>
                <a:effectLst/>
                <a:latin typeface="Helvetica" pitchFamily="2" charset="0"/>
                <a:sym typeface="Wingdings" pitchFamily="2" charset="2"/>
              </a:rPr>
              <a:t> x</a:t>
            </a:r>
            <a:r>
              <a:rPr lang="en-US" sz="2800" b="1" dirty="0">
                <a:solidFill>
                  <a:srgbClr val="3D578C"/>
                </a:solidFill>
                <a:latin typeface="Helvetica" pitchFamily="2" charset="0"/>
                <a:sym typeface="Wingdings" pitchFamily="2" charset="2"/>
              </a:rPr>
              <a:t> </a:t>
            </a:r>
            <a:endParaRPr lang="en-US" sz="28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943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53F30-4248-2E2E-89EC-7760E2F2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Otsu’s 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FEE6-99B4-AB15-CB26-3B4C2F686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71" y="1690688"/>
            <a:ext cx="10515600" cy="4351338"/>
          </a:xfrm>
        </p:spPr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Nobuyuki Otsu (1979). "A threshold selection method from gray-level histograms". </a:t>
            </a:r>
            <a:r>
              <a:rPr lang="en-US" b="0" i="1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IEEE Transactions on Systems, Man, and Cybernetics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. </a:t>
            </a:r>
            <a:r>
              <a:rPr lang="en-US" b="1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9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 (1): 62–66.</a:t>
            </a:r>
            <a:endParaRPr lang="en-US" dirty="0"/>
          </a:p>
        </p:txBody>
      </p:sp>
      <p:pic>
        <p:nvPicPr>
          <p:cNvPr id="5" name="Picture 4" descr="A graph of a normal distribution&#10;&#10;Description automatically generated">
            <a:extLst>
              <a:ext uri="{FF2B5EF4-FFF2-40B4-BE49-F238E27FC236}">
                <a16:creationId xmlns:a16="http://schemas.microsoft.com/office/drawing/2014/main" id="{CAC95AB7-0CAF-DEE9-A4AF-1F770DAA2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2" y="3248705"/>
            <a:ext cx="4724400" cy="3505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/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blipFill>
                <a:blip r:embed="rId3"/>
                <a:stretch>
                  <a:fillRect l="-1014" t="-2857" r="-33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020CF37-DC4B-B92E-730A-556B216AE06E}"/>
              </a:ext>
            </a:extLst>
          </p:cNvPr>
          <p:cNvSpPr txBox="1"/>
          <p:nvPr/>
        </p:nvSpPr>
        <p:spPr>
          <a:xfrm>
            <a:off x="5274481" y="5085310"/>
            <a:ext cx="3515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below thresh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26622-97A6-F28F-C2AA-72A38C758159}"/>
              </a:ext>
            </a:extLst>
          </p:cNvPr>
          <p:cNvSpPr txBox="1"/>
          <p:nvPr/>
        </p:nvSpPr>
        <p:spPr>
          <a:xfrm>
            <a:off x="8376306" y="5672694"/>
            <a:ext cx="3514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above thresh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DE2B52-59E5-A5B6-84B6-F6539B59FFAD}"/>
              </a:ext>
            </a:extLst>
          </p:cNvPr>
          <p:cNvSpPr txBox="1"/>
          <p:nvPr/>
        </p:nvSpPr>
        <p:spPr>
          <a:xfrm>
            <a:off x="5274481" y="3018667"/>
            <a:ext cx="3151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below thresh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CF428-2707-85EF-4CB2-96981DF59351}"/>
              </a:ext>
            </a:extLst>
          </p:cNvPr>
          <p:cNvSpPr txBox="1"/>
          <p:nvPr/>
        </p:nvSpPr>
        <p:spPr>
          <a:xfrm>
            <a:off x="8789867" y="2683538"/>
            <a:ext cx="3081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above thresh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F130F4-4A2A-3B6C-EE95-CB233A8447C0}"/>
              </a:ext>
            </a:extLst>
          </p:cNvPr>
          <p:cNvCxnSpPr/>
          <p:nvPr/>
        </p:nvCxnSpPr>
        <p:spPr>
          <a:xfrm>
            <a:off x="6531431" y="3387999"/>
            <a:ext cx="1621969" cy="748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54C85A-9E4D-99A1-3B36-17BEBB5B39A7}"/>
              </a:ext>
            </a:extLst>
          </p:cNvPr>
          <p:cNvCxnSpPr>
            <a:cxnSpLocks/>
          </p:cNvCxnSpPr>
          <p:nvPr/>
        </p:nvCxnSpPr>
        <p:spPr>
          <a:xfrm flipH="1">
            <a:off x="9938657" y="3186268"/>
            <a:ext cx="256682" cy="802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6CF3795-F8AB-6660-1D1F-97190546AFB9}"/>
              </a:ext>
            </a:extLst>
          </p:cNvPr>
          <p:cNvCxnSpPr>
            <a:cxnSpLocks/>
          </p:cNvCxnSpPr>
          <p:nvPr/>
        </p:nvCxnSpPr>
        <p:spPr>
          <a:xfrm flipV="1">
            <a:off x="6749143" y="4505903"/>
            <a:ext cx="849086" cy="579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35D30B-78FB-074A-AD38-FEFDA5941C9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097817" y="4463534"/>
            <a:ext cx="1035862" cy="120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837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llage of images of music notes&#10;&#10;Description automatically generated">
            <a:extLst>
              <a:ext uri="{FF2B5EF4-FFF2-40B4-BE49-F238E27FC236}">
                <a16:creationId xmlns:a16="http://schemas.microsoft.com/office/drawing/2014/main" id="{8E695790-D8DF-DF85-7ABB-BAE9FDCDD5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7343" y="1284513"/>
            <a:ext cx="7837714" cy="546299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CCE8A8C-0086-8BDB-29B6-74CA22FEE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44" y="245204"/>
            <a:ext cx="10515600" cy="1325563"/>
          </a:xfrm>
        </p:spPr>
        <p:txBody>
          <a:bodyPr/>
          <a:lstStyle/>
          <a:p>
            <a:r>
              <a:rPr lang="en-US" dirty="0"/>
              <a:t>Adaptive thresholding</a:t>
            </a:r>
          </a:p>
        </p:txBody>
      </p:sp>
    </p:spTree>
    <p:extLst>
      <p:ext uri="{BB962C8B-B14F-4D97-AF65-F5344CB8AC3E}">
        <p14:creationId xmlns:p14="http://schemas.microsoft.com/office/powerpoint/2010/main" val="2776231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84A70365-4A52-2F55-DD6F-4BCDD6EEB6C4}"/>
              </a:ext>
            </a:extLst>
          </p:cNvPr>
          <p:cNvSpPr/>
          <p:nvPr/>
        </p:nvSpPr>
        <p:spPr>
          <a:xfrm>
            <a:off x="8961220" y="1542686"/>
            <a:ext cx="1334230" cy="133423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52B18F-3F03-6930-54F4-1A7916441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44" y="245204"/>
            <a:ext cx="10515600" cy="1325563"/>
          </a:xfrm>
        </p:spPr>
        <p:txBody>
          <a:bodyPr/>
          <a:lstStyle/>
          <a:p>
            <a:r>
              <a:rPr lang="en-US" dirty="0"/>
              <a:t>Adaptive thresholding</a:t>
            </a:r>
          </a:p>
        </p:txBody>
      </p:sp>
      <p:pic>
        <p:nvPicPr>
          <p:cNvPr id="16386" name="Picture 2" descr="ELI5: What's the difference between Gaussian blur and the other types of  blur? : r/explainlikeimfive">
            <a:extLst>
              <a:ext uri="{FF2B5EF4-FFF2-40B4-BE49-F238E27FC236}">
                <a16:creationId xmlns:a16="http://schemas.microsoft.com/office/drawing/2014/main" id="{083C1B11-A994-26A0-31BB-5214F9E7C0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33" t="8075" r="5205" b="10569"/>
          <a:stretch/>
        </p:blipFill>
        <p:spPr bwMode="auto">
          <a:xfrm>
            <a:off x="8199318" y="3429000"/>
            <a:ext cx="3717561" cy="297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3E0F18-1C03-275A-7DF2-DE6889663F6A}"/>
              </a:ext>
            </a:extLst>
          </p:cNvPr>
          <p:cNvCxnSpPr>
            <a:cxnSpLocks/>
          </p:cNvCxnSpPr>
          <p:nvPr/>
        </p:nvCxnSpPr>
        <p:spPr>
          <a:xfrm>
            <a:off x="8409139" y="381525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C68512-439E-710F-A87F-B50459B375A7}"/>
              </a:ext>
            </a:extLst>
          </p:cNvPr>
          <p:cNvCxnSpPr>
            <a:cxnSpLocks/>
          </p:cNvCxnSpPr>
          <p:nvPr/>
        </p:nvCxnSpPr>
        <p:spPr>
          <a:xfrm>
            <a:off x="8409139" y="408210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5792FD-A7CB-91F1-D1AD-BDBB140E5101}"/>
              </a:ext>
            </a:extLst>
          </p:cNvPr>
          <p:cNvCxnSpPr>
            <a:cxnSpLocks/>
          </p:cNvCxnSpPr>
          <p:nvPr/>
        </p:nvCxnSpPr>
        <p:spPr>
          <a:xfrm>
            <a:off x="8409139" y="434894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3C97F6D-7904-2C6C-37E6-16559C03D6D5}"/>
              </a:ext>
            </a:extLst>
          </p:cNvPr>
          <p:cNvCxnSpPr>
            <a:cxnSpLocks/>
          </p:cNvCxnSpPr>
          <p:nvPr/>
        </p:nvCxnSpPr>
        <p:spPr>
          <a:xfrm>
            <a:off x="8409139" y="461579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490D48-5ABF-D58B-1DEA-B7D2081804CF}"/>
              </a:ext>
            </a:extLst>
          </p:cNvPr>
          <p:cNvCxnSpPr>
            <a:cxnSpLocks/>
          </p:cNvCxnSpPr>
          <p:nvPr/>
        </p:nvCxnSpPr>
        <p:spPr>
          <a:xfrm>
            <a:off x="8409139" y="4882639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B59AE41-CB3E-DCDB-1AF9-E445E74067BA}"/>
              </a:ext>
            </a:extLst>
          </p:cNvPr>
          <p:cNvCxnSpPr>
            <a:cxnSpLocks/>
          </p:cNvCxnSpPr>
          <p:nvPr/>
        </p:nvCxnSpPr>
        <p:spPr>
          <a:xfrm>
            <a:off x="8409139" y="514948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ED9FDB-B383-7264-BB71-68AFAAD6E262}"/>
              </a:ext>
            </a:extLst>
          </p:cNvPr>
          <p:cNvCxnSpPr>
            <a:cxnSpLocks/>
          </p:cNvCxnSpPr>
          <p:nvPr/>
        </p:nvCxnSpPr>
        <p:spPr>
          <a:xfrm>
            <a:off x="8409139" y="541633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A356B9-6D2A-2B78-56E4-992CE829EA58}"/>
              </a:ext>
            </a:extLst>
          </p:cNvPr>
          <p:cNvCxnSpPr>
            <a:cxnSpLocks/>
          </p:cNvCxnSpPr>
          <p:nvPr/>
        </p:nvCxnSpPr>
        <p:spPr>
          <a:xfrm>
            <a:off x="8409139" y="568317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4F69B9-D05A-1D36-9BFC-D74E3022121E}"/>
              </a:ext>
            </a:extLst>
          </p:cNvPr>
          <p:cNvCxnSpPr>
            <a:cxnSpLocks/>
          </p:cNvCxnSpPr>
          <p:nvPr/>
        </p:nvCxnSpPr>
        <p:spPr>
          <a:xfrm>
            <a:off x="8409139" y="595002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D66A57-F78A-82AF-FA25-FECE84C5846A}"/>
              </a:ext>
            </a:extLst>
          </p:cNvPr>
          <p:cNvCxnSpPr>
            <a:cxnSpLocks/>
          </p:cNvCxnSpPr>
          <p:nvPr/>
        </p:nvCxnSpPr>
        <p:spPr>
          <a:xfrm>
            <a:off x="8409139" y="621687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2AF8BB-9988-CB4D-05FD-67B84A688B5E}"/>
              </a:ext>
            </a:extLst>
          </p:cNvPr>
          <p:cNvGrpSpPr/>
          <p:nvPr/>
        </p:nvGrpSpPr>
        <p:grpSpPr>
          <a:xfrm rot="16200000">
            <a:off x="8414393" y="3820508"/>
            <a:ext cx="2427889" cy="2401616"/>
            <a:chOff x="4776954" y="2635469"/>
            <a:chExt cx="2427889" cy="2401616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1703B6-A477-608A-ED9D-96A918E0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E24A9F-3432-D6E8-1A26-BC1A2484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EB9876D-F8D2-CE9B-F4EC-A4B8EAFF80C0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4271D2-5CCD-FFB6-6739-575033F3716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000121-2888-A066-0F1E-31B949BAA92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D3B4796-C76D-3058-39FD-0CC8529BA71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D7275A9-9A29-91BA-983C-D73BD4F088F2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860060B-C226-8E39-886E-6688D7290E39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C04746-B32D-E1D7-AD47-FFDA204D0F46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9F91F-513F-6E0D-A4C8-04E35C1CEE75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012EBE0-39AE-7A65-82C3-9AAFFB9C4433}"/>
              </a:ext>
            </a:extLst>
          </p:cNvPr>
          <p:cNvCxnSpPr>
            <a:cxnSpLocks/>
          </p:cNvCxnSpPr>
          <p:nvPr/>
        </p:nvCxnSpPr>
        <p:spPr>
          <a:xfrm>
            <a:off x="8409138" y="100899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522A46F-99A1-A6D5-828B-4FC4BFF53BC9}"/>
              </a:ext>
            </a:extLst>
          </p:cNvPr>
          <p:cNvCxnSpPr>
            <a:cxnSpLocks/>
          </p:cNvCxnSpPr>
          <p:nvPr/>
        </p:nvCxnSpPr>
        <p:spPr>
          <a:xfrm>
            <a:off x="8409138" y="127584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F04E21-87A9-A642-18CD-0C90F82B9BB1}"/>
              </a:ext>
            </a:extLst>
          </p:cNvPr>
          <p:cNvCxnSpPr>
            <a:cxnSpLocks/>
          </p:cNvCxnSpPr>
          <p:nvPr/>
        </p:nvCxnSpPr>
        <p:spPr>
          <a:xfrm>
            <a:off x="8409138" y="154268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5C02EC3-6297-A48D-30F3-E57C9D2E9EE3}"/>
              </a:ext>
            </a:extLst>
          </p:cNvPr>
          <p:cNvCxnSpPr>
            <a:cxnSpLocks/>
          </p:cNvCxnSpPr>
          <p:nvPr/>
        </p:nvCxnSpPr>
        <p:spPr>
          <a:xfrm>
            <a:off x="8409138" y="180953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C7CEE19-8BC1-4199-581D-E1B9CB8DBA32}"/>
              </a:ext>
            </a:extLst>
          </p:cNvPr>
          <p:cNvCxnSpPr>
            <a:cxnSpLocks/>
          </p:cNvCxnSpPr>
          <p:nvPr/>
        </p:nvCxnSpPr>
        <p:spPr>
          <a:xfrm>
            <a:off x="8409138" y="2076378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966639-06FD-356A-8121-9369CBBEFA3E}"/>
              </a:ext>
            </a:extLst>
          </p:cNvPr>
          <p:cNvCxnSpPr>
            <a:cxnSpLocks/>
          </p:cNvCxnSpPr>
          <p:nvPr/>
        </p:nvCxnSpPr>
        <p:spPr>
          <a:xfrm>
            <a:off x="8409138" y="234322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2568B67-2472-7AAC-6979-BC0C520877C8}"/>
              </a:ext>
            </a:extLst>
          </p:cNvPr>
          <p:cNvCxnSpPr>
            <a:cxnSpLocks/>
          </p:cNvCxnSpPr>
          <p:nvPr/>
        </p:nvCxnSpPr>
        <p:spPr>
          <a:xfrm>
            <a:off x="8409138" y="261007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D49BAFF-9996-B6CF-6554-4780F0F0DD7D}"/>
              </a:ext>
            </a:extLst>
          </p:cNvPr>
          <p:cNvCxnSpPr>
            <a:cxnSpLocks/>
          </p:cNvCxnSpPr>
          <p:nvPr/>
        </p:nvCxnSpPr>
        <p:spPr>
          <a:xfrm>
            <a:off x="8409138" y="287691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E87BF3-2115-9597-DE92-9ACC9A3A86D7}"/>
              </a:ext>
            </a:extLst>
          </p:cNvPr>
          <p:cNvCxnSpPr>
            <a:cxnSpLocks/>
          </p:cNvCxnSpPr>
          <p:nvPr/>
        </p:nvCxnSpPr>
        <p:spPr>
          <a:xfrm>
            <a:off x="8409138" y="314376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F67D2DD-563A-AF5E-BDD1-21DDBF8D513B}"/>
              </a:ext>
            </a:extLst>
          </p:cNvPr>
          <p:cNvCxnSpPr>
            <a:cxnSpLocks/>
          </p:cNvCxnSpPr>
          <p:nvPr/>
        </p:nvCxnSpPr>
        <p:spPr>
          <a:xfrm>
            <a:off x="8409138" y="341061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AC81CB-869C-9031-37DC-BB6F88723697}"/>
              </a:ext>
            </a:extLst>
          </p:cNvPr>
          <p:cNvGrpSpPr/>
          <p:nvPr/>
        </p:nvGrpSpPr>
        <p:grpSpPr>
          <a:xfrm rot="16200000">
            <a:off x="8414392" y="1014247"/>
            <a:ext cx="2427889" cy="2401616"/>
            <a:chOff x="4776954" y="2635469"/>
            <a:chExt cx="2427889" cy="2401616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ADF6B60-53C6-82A5-68B5-BA0923B878E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2A8AA82-99DE-8396-54F3-70690ACAE24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EC4A43D-025B-2724-2C19-F67263E507B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AD868E4-01AE-22CA-9131-07DDE44D14C1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1A299F-144A-936A-1558-5EA397249A4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A0D451D-C906-5F93-A5BD-147E11329A9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EB282C3-7ECD-8373-58DF-D47AD9DF491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B822318-BBBE-73BD-DEF8-F242121532B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12A7BDA-C9EE-F876-034B-A6C0C81EDEF3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7299F49-C94A-977F-7BF5-B1B9A3914A2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/>
              <p:nvPr/>
            </p:nvSpPr>
            <p:spPr>
              <a:xfrm>
                <a:off x="950156" y="1829133"/>
                <a:ext cx="6054927" cy="13871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𝑡h𝑟𝑒𝑠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156" y="1829133"/>
                <a:ext cx="6054927" cy="1387175"/>
              </a:xfrm>
              <a:prstGeom prst="rect">
                <a:avLst/>
              </a:prstGeom>
              <a:blipFill>
                <a:blip r:embed="rId3"/>
                <a:stretch>
                  <a:fillRect l="-1046" t="-94545" r="-628" b="-14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/>
              <p:nvPr/>
            </p:nvSpPr>
            <p:spPr>
              <a:xfrm>
                <a:off x="153042" y="4952601"/>
                <a:ext cx="8122673" cy="821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sz="2800" b="0" dirty="0"/>
                  <a:t>thes{</a:t>
                </a:r>
                <a:r>
                  <a:rPr lang="en-US" sz="2800" dirty="0" err="1"/>
                  <a:t>i</a:t>
                </a:r>
                <a:r>
                  <a:rPr lang="en-US" sz="2800" b="0" dirty="0" err="1"/>
                  <a:t>,j</a:t>
                </a:r>
                <a:r>
                  <a:rPr lang="en-US" sz="2800" b="0" dirty="0"/>
                  <a:t>}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nary>
                              <m:naryPr>
                                <m:chr m:val="∑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nary>
                                  <m:naryPr>
                                    <m:chr m:val="∑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p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</m:d>
                                  </m:e>
                                </m:nary>
                              </m:e>
                            </m:nary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nary>
                              <m:naryPr>
                                <m:chr m:val="∑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e>
                            </m:nary>
                          </m:e>
                        </m:nary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042" y="4952601"/>
                <a:ext cx="8122673" cy="821763"/>
              </a:xfrm>
              <a:prstGeom prst="rect">
                <a:avLst/>
              </a:prstGeom>
              <a:blipFill>
                <a:blip r:embed="rId4"/>
                <a:stretch>
                  <a:fillRect l="-2813" t="-65152" r="-1250" b="-10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9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1240</Words>
  <Application>Microsoft Macintosh PowerPoint</Application>
  <PresentationFormat>Widescreen</PresentationFormat>
  <Paragraphs>194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Helvetica</vt:lpstr>
      <vt:lpstr>Menlo</vt:lpstr>
      <vt:lpstr>Wingdings</vt:lpstr>
      <vt:lpstr>Office Theme</vt:lpstr>
      <vt:lpstr>Lecture 2 Operations on Images</vt:lpstr>
      <vt:lpstr>PowerPoint Presentation</vt:lpstr>
      <vt:lpstr>Brightness</vt:lpstr>
      <vt:lpstr>PowerPoint Presentation</vt:lpstr>
      <vt:lpstr>Contrast</vt:lpstr>
      <vt:lpstr>PowerPoint Presentation</vt:lpstr>
      <vt:lpstr>Clipping</vt:lpstr>
      <vt:lpstr>Clipping</vt:lpstr>
      <vt:lpstr>PowerPoint Presentation</vt:lpstr>
      <vt:lpstr>PowerPoint Presentation</vt:lpstr>
      <vt:lpstr>2D convolution as a matrix operation</vt:lpstr>
      <vt:lpstr>2D convolution as a matrix operation</vt:lpstr>
      <vt:lpstr>2D convolution as a matrix operation</vt:lpstr>
      <vt:lpstr>2D convolution as a matrix operation</vt:lpstr>
      <vt:lpstr>2D convolution as a matrix operation</vt:lpstr>
      <vt:lpstr>Boolean (Bit-wise) operations</vt:lpstr>
      <vt:lpstr>Morphological Operations </vt:lpstr>
      <vt:lpstr>Erosion/Dilation</vt:lpstr>
      <vt:lpstr>Erosion/Dilation</vt:lpstr>
      <vt:lpstr>Convolutional (Filtering) Operations</vt:lpstr>
      <vt:lpstr>Thresholding</vt:lpstr>
      <vt:lpstr>Thresholding</vt:lpstr>
      <vt:lpstr>Otsu’s thresholding</vt:lpstr>
      <vt:lpstr>Adaptive thresholding</vt:lpstr>
      <vt:lpstr>Adaptive thresholding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University of Pittsburgh University of Pittsburgh</cp:lastModifiedBy>
  <cp:revision>15</cp:revision>
  <dcterms:created xsi:type="dcterms:W3CDTF">2024-07-14T13:25:54Z</dcterms:created>
  <dcterms:modified xsi:type="dcterms:W3CDTF">2024-08-24T19:22:23Z</dcterms:modified>
</cp:coreProperties>
</file>