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8" r:id="rId2"/>
    <p:sldId id="259" r:id="rId3"/>
    <p:sldId id="260" r:id="rId4"/>
    <p:sldId id="261" r:id="rId5"/>
    <p:sldId id="265" r:id="rId6"/>
    <p:sldId id="263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31"/>
    <p:restoredTop sz="94768"/>
  </p:normalViewPr>
  <p:slideViewPr>
    <p:cSldViewPr snapToGrid="0">
      <p:cViewPr varScale="1">
        <p:scale>
          <a:sx n="145" d="100"/>
          <a:sy n="145" d="100"/>
        </p:scale>
        <p:origin x="19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0C249-CFF4-8549-9C1D-83533EF6B8ED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9E587-C2E9-8941-8108-1A76FC0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6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64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C13D-C485-B9D3-99EA-D80E4E9A9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D7B23-2526-2A0B-6932-F92267ADD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4BDB-E7E5-9910-C3EE-41DBC544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3192-56E2-5809-7472-0D7F875D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67CD-EF3F-F857-D34F-777CACF3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4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7195-1EBD-7BCB-3B5A-91AACBD3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9648-3F9A-316C-87DB-7EE7798CA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FCF31-6117-AB6E-42EC-0CB56F2D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4C68E-F23A-A75B-5E8F-82B7E0135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7C07-39A5-0102-8B7C-D54FFEEA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5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FBF1-3B26-85B7-5B23-196D6D7A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F26AA-12EA-8ABD-6EFD-D08F49B2D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98597-67E3-8944-18DE-66DCE81A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4062-2D0B-BCFF-2512-CEB2B699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9974-00DC-799D-5A39-8C4455F5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66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502-6CAF-3BF5-BD6B-065D6AAC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D2C5-EA3F-B247-6115-694CB50A2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6E22-BDC4-EA3F-0157-4E70E0CA8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55765-826E-C08A-B1AE-7D0450E7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0ED42-71C9-96FD-9AC7-BBBB1E80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98970-A713-3810-1656-9A497405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9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EFE3-7F3D-1B88-EFDA-38CEB249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9FB26-F14D-71C1-7811-FFF97C32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A1E4B-1C15-4FB7-4E18-041EB41BC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C11D1-5A46-1743-FF30-5B7AA7714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9A520-D677-A0EC-79D6-F04D6C484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3BA99-897A-0500-AE48-09E7B8C2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3C3F4-F2F2-C2AF-D951-2143C2AC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81BF2-C18C-5BCE-8867-97369A7E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6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803A-82FE-540F-04AD-04E5BC92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AE2E6-A597-C016-7335-DDE3857C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6C399-5561-EB63-F9FA-82FD2E4F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7DC75-D761-8046-6EA3-3C54C660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4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F3204-AE45-9D32-CF50-26F1909D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D95A8-B2D5-EADB-1C47-FFB19260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0A1BD-7287-A602-D01E-2E738D41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8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E0CD-2F46-6818-C3F0-CCADAB2C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DD57-4C79-D6D0-FB66-51CEFBADB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B58AD-4B41-DA2A-70C5-3099BAA4B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3F0C8-41B5-BA77-0536-8BA68ED0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776A6-8636-3E77-9BE8-DADC09DB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6611F-C2E8-BD14-00A5-38A56CB2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7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ACF2-120D-5B4B-92E9-D6DDDB6E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34234-27D3-8B30-B909-03E904DB2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F481E-39C7-E276-5FEC-6132C3F16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7F9A7-9755-B9B9-95CC-5F76F16D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77145-B00A-818B-C157-539D3396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9EE6A-0692-79C1-4E2E-81960BE4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7BE6-9453-29ED-002A-FEE3A328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68097-9D96-7737-81FC-C8D04570D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4BA2E-E4E4-9C71-BA90-B81529C5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99529-4F7C-0023-1CBA-378E4F29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889C-7082-9C58-C006-A02D0F0E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CA38A-5858-C061-82D2-23AB59B0E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AB83F-1485-4E39-161D-4AD3FF883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C601-0843-EE91-EFA1-39AC6035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99449-2C62-2B36-2F54-8C14C84F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EBC43-AC1F-1AFF-9D37-9D0514CA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1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BBABD-0DF4-6ADE-361D-4FAE2F6C4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65B5A-9A96-CA1E-DE77-1E1269C1B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B0F49-17FE-CF85-22D1-CF2C47733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5ABE4-2438-57F3-F77E-B272A49E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F92FD-D28C-396F-E86B-DDBB7E4D4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9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opencv.org/4.x/d9/dba/classcv_1_1StereoBM.html#a119436b6cb382e0895dd0fa58229ec17" TargetMode="External"/><Relationship Id="rId5" Type="http://schemas.openxmlformats.org/officeDocument/2006/relationships/hyperlink" Target="https://docs.opencv.org/4.x/d4/da8/group__imgcodecs.html#gacbaa02cffc4ec2422dfa2e24412a99e2" TargetMode="Externa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sl-org/ZoeDepth" TargetMode="External"/><Relationship Id="rId2" Type="http://schemas.openxmlformats.org/officeDocument/2006/relationships/hyperlink" Target="https://github.com/isl-org/MiDa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zhyever/PatchFusion" TargetMode="External"/><Relationship Id="rId4" Type="http://schemas.openxmlformats.org/officeDocument/2006/relationships/hyperlink" Target="https://github.com/prs-eth/Marigol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15" name="Rectangle 17414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EC80CB-850D-B57D-2885-24D9CC950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 dirty="0">
                <a:ln w="22225">
                  <a:noFill/>
                  <a:miter lim="800000"/>
                </a:ln>
              </a:rPr>
              <a:t>Lecture 14</a:t>
            </a:r>
            <a:br>
              <a:rPr lang="en-US" sz="5400" dirty="0">
                <a:ln w="22225">
                  <a:noFill/>
                  <a:miter lim="800000"/>
                </a:ln>
              </a:rPr>
            </a:br>
            <a:r>
              <a:rPr lang="en-US" sz="5400" dirty="0">
                <a:ln w="22225">
                  <a:noFill/>
                  <a:miter lim="800000"/>
                </a:ln>
                <a:effectLst/>
              </a:rPr>
              <a:t>Depth and 3D Estimation</a:t>
            </a:r>
            <a:endParaRPr lang="en-US" sz="5400" dirty="0">
              <a:ln w="22225">
                <a:noFill/>
                <a:miter lim="800000"/>
              </a:ln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925AB-516E-BA4C-6AB2-FAA041E78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r>
              <a:rPr lang="en-US"/>
              <a:t>ECE 1390/2390</a:t>
            </a:r>
            <a:br>
              <a:rPr lang="en-US"/>
            </a:br>
            <a:endParaRPr lang="en-US"/>
          </a:p>
        </p:txBody>
      </p:sp>
      <p:sp>
        <p:nvSpPr>
          <p:cNvPr id="17417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410" name="Picture 2" descr="Binocular Vision Dysfunction (BVD): Symptoms &amp; Treatments">
            <a:extLst>
              <a:ext uri="{FF2B5EF4-FFF2-40B4-BE49-F238E27FC236}">
                <a16:creationId xmlns:a16="http://schemas.microsoft.com/office/drawing/2014/main" id="{3038AE59-09AD-7579-5FCB-BA0E42753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95" r="-1" b="-1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F8E3A3-0520-FD68-5A6B-BE435A77A634}"/>
              </a:ext>
            </a:extLst>
          </p:cNvPr>
          <p:cNvSpPr txBox="1"/>
          <p:nvPr/>
        </p:nvSpPr>
        <p:spPr>
          <a:xfrm>
            <a:off x="8577798" y="6285774"/>
            <a:ext cx="60980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Image from</a:t>
            </a:r>
          </a:p>
          <a:p>
            <a:r>
              <a:rPr lang="en-US" dirty="0"/>
              <a:t>https://</a:t>
            </a:r>
            <a:r>
              <a:rPr lang="en-US" dirty="0" err="1"/>
              <a:t>my.clevelandclinic.org</a:t>
            </a:r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97635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71705-6A52-C227-611E-0CD42C396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Stereo Vision</a:t>
            </a: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0956EEC2-A123-16CC-45A5-B42E57B65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578" y="729728"/>
            <a:ext cx="4663003" cy="544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439BE00-25F0-928B-B6EB-F72053AD94D8}"/>
              </a:ext>
            </a:extLst>
          </p:cNvPr>
          <p:cNvGrpSpPr/>
          <p:nvPr/>
        </p:nvGrpSpPr>
        <p:grpSpPr>
          <a:xfrm>
            <a:off x="916419" y="1965745"/>
            <a:ext cx="2131581" cy="1968080"/>
            <a:chOff x="2029646" y="1544186"/>
            <a:chExt cx="2131581" cy="19680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48FC435-D23A-0217-044E-9D5E5E84E408}"/>
                </a:ext>
              </a:extLst>
            </p:cNvPr>
            <p:cNvSpPr/>
            <p:nvPr/>
          </p:nvSpPr>
          <p:spPr>
            <a:xfrm>
              <a:off x="2029646" y="1544186"/>
              <a:ext cx="2131581" cy="1968080"/>
            </a:xfrm>
            <a:prstGeom prst="rect">
              <a:avLst/>
            </a:prstGeom>
            <a:solidFill>
              <a:schemeClr val="bg1">
                <a:lumMod val="50000"/>
                <a:alpha val="33000"/>
              </a:schemeClr>
            </a:solidFill>
            <a:ln>
              <a:noFill/>
            </a:ln>
            <a:effectLst>
              <a:glow rad="87156">
                <a:schemeClr val="accent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7953BBF-4F86-2BA4-EE76-CB164B81AD07}"/>
                </a:ext>
              </a:extLst>
            </p:cNvPr>
            <p:cNvSpPr txBox="1"/>
            <p:nvPr/>
          </p:nvSpPr>
          <p:spPr>
            <a:xfrm>
              <a:off x="2879672" y="2205061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+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8F2227E-3911-5800-77C6-9243E3F16E3A}"/>
              </a:ext>
            </a:extLst>
          </p:cNvPr>
          <p:cNvGrpSpPr/>
          <p:nvPr/>
        </p:nvGrpSpPr>
        <p:grpSpPr>
          <a:xfrm>
            <a:off x="1390099" y="1965745"/>
            <a:ext cx="2131581" cy="1968080"/>
            <a:chOff x="2029646" y="1544186"/>
            <a:chExt cx="2131581" cy="19680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363DD1F-5B34-2172-86D6-B262794FCDC9}"/>
                </a:ext>
              </a:extLst>
            </p:cNvPr>
            <p:cNvSpPr/>
            <p:nvPr/>
          </p:nvSpPr>
          <p:spPr>
            <a:xfrm>
              <a:off x="2029646" y="1544186"/>
              <a:ext cx="2131581" cy="1968080"/>
            </a:xfrm>
            <a:prstGeom prst="rect">
              <a:avLst/>
            </a:prstGeom>
            <a:solidFill>
              <a:schemeClr val="bg1">
                <a:lumMod val="50000"/>
                <a:alpha val="33000"/>
              </a:schemeClr>
            </a:solidFill>
            <a:ln>
              <a:noFill/>
            </a:ln>
            <a:effectLst>
              <a:glow rad="87156">
                <a:schemeClr val="accent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17DE4EA-9199-CE51-F5B0-C8ED46E85206}"/>
                </a:ext>
              </a:extLst>
            </p:cNvPr>
            <p:cNvSpPr txBox="1"/>
            <p:nvPr/>
          </p:nvSpPr>
          <p:spPr>
            <a:xfrm>
              <a:off x="2879672" y="2205061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+</a:t>
              </a:r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645637-AC7C-2FAB-039D-1FA6F451098B}"/>
              </a:ext>
            </a:extLst>
          </p:cNvPr>
          <p:cNvCxnSpPr>
            <a:cxnSpLocks/>
          </p:cNvCxnSpPr>
          <p:nvPr/>
        </p:nvCxnSpPr>
        <p:spPr>
          <a:xfrm flipV="1">
            <a:off x="1128954" y="3034564"/>
            <a:ext cx="813362" cy="33662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B1674E5-E441-8378-D7AA-69162B7EF1EF}"/>
              </a:ext>
            </a:extLst>
          </p:cNvPr>
          <p:cNvCxnSpPr>
            <a:cxnSpLocks/>
          </p:cNvCxnSpPr>
          <p:nvPr/>
        </p:nvCxnSpPr>
        <p:spPr>
          <a:xfrm flipH="1" flipV="1">
            <a:off x="2495782" y="3034564"/>
            <a:ext cx="764753" cy="33662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9EE4116-5A5A-26B8-60B5-D419DCBAC87B}"/>
              </a:ext>
            </a:extLst>
          </p:cNvPr>
          <p:cNvCxnSpPr>
            <a:cxnSpLocks/>
          </p:cNvCxnSpPr>
          <p:nvPr/>
        </p:nvCxnSpPr>
        <p:spPr>
          <a:xfrm flipH="1">
            <a:off x="1157677" y="6400799"/>
            <a:ext cx="20932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171F2BB0-5426-9E1D-B41D-265C756C0909}"/>
              </a:ext>
            </a:extLst>
          </p:cNvPr>
          <p:cNvCxnSpPr>
            <a:cxnSpLocks/>
          </p:cNvCxnSpPr>
          <p:nvPr/>
        </p:nvCxnSpPr>
        <p:spPr>
          <a:xfrm flipH="1" flipV="1">
            <a:off x="1098304" y="3016397"/>
            <a:ext cx="19148" cy="33844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23BD285-F67E-9027-0F23-1B895412AFA7}"/>
              </a:ext>
            </a:extLst>
          </p:cNvPr>
          <p:cNvCxnSpPr>
            <a:cxnSpLocks/>
          </p:cNvCxnSpPr>
          <p:nvPr/>
        </p:nvCxnSpPr>
        <p:spPr>
          <a:xfrm flipH="1" flipV="1">
            <a:off x="3250961" y="3016396"/>
            <a:ext cx="19148" cy="33844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821666B-947C-FDF5-7F21-896B72E3D690}"/>
              </a:ext>
            </a:extLst>
          </p:cNvPr>
          <p:cNvCxnSpPr>
            <a:cxnSpLocks/>
          </p:cNvCxnSpPr>
          <p:nvPr/>
        </p:nvCxnSpPr>
        <p:spPr>
          <a:xfrm flipH="1">
            <a:off x="2016770" y="2883489"/>
            <a:ext cx="4087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1FCFCD8-3B0F-564F-C110-A51FD7918C17}"/>
              </a:ext>
            </a:extLst>
          </p:cNvPr>
          <p:cNvSpPr txBox="1"/>
          <p:nvPr/>
        </p:nvSpPr>
        <p:spPr>
          <a:xfrm>
            <a:off x="1252534" y="5877579"/>
            <a:ext cx="1933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Camera Displacement</a:t>
            </a:r>
          </a:p>
          <a:p>
            <a:pPr algn="ctr"/>
            <a:r>
              <a:rPr lang="en-US" sz="1400" dirty="0">
                <a:sym typeface="Wingdings" pitchFamily="2" charset="2"/>
              </a:rPr>
              <a:t></a:t>
            </a:r>
            <a:r>
              <a:rPr lang="en-US" sz="1400" dirty="0"/>
              <a:t> d </a:t>
            </a:r>
            <a:r>
              <a:rPr lang="en-US" sz="1400" dirty="0">
                <a:sym typeface="Wingdings" pitchFamily="2" charset="2"/>
              </a:rPr>
              <a:t></a:t>
            </a:r>
            <a:endParaRPr 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0CDE1B-B897-D0EC-212B-9463E7DAEFE5}"/>
              </a:ext>
            </a:extLst>
          </p:cNvPr>
          <p:cNvSpPr txBox="1"/>
          <p:nvPr/>
        </p:nvSpPr>
        <p:spPr>
          <a:xfrm>
            <a:off x="1324285" y="2373690"/>
            <a:ext cx="17895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Image Displacement</a:t>
            </a:r>
          </a:p>
          <a:p>
            <a:pPr algn="ctr"/>
            <a:r>
              <a:rPr lang="en-US" sz="1400" dirty="0">
                <a:sym typeface="Wingdings" pitchFamily="2" charset="2"/>
              </a:rPr>
              <a:t></a:t>
            </a:r>
            <a:r>
              <a:rPr lang="en-US" sz="1400" dirty="0"/>
              <a:t> d’ </a:t>
            </a:r>
            <a:r>
              <a:rPr lang="en-US" sz="1400" dirty="0">
                <a:sym typeface="Wingdings" pitchFamily="2" charset="2"/>
              </a:rPr>
              <a:t></a:t>
            </a:r>
            <a:endParaRPr lang="en-US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D21CA7-BD85-0675-8DF3-1FF1611420AF}"/>
              </a:ext>
            </a:extLst>
          </p:cNvPr>
          <p:cNvSpPr txBox="1"/>
          <p:nvPr/>
        </p:nvSpPr>
        <p:spPr>
          <a:xfrm>
            <a:off x="1050735" y="5087758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𝜽</a:t>
            </a:r>
            <a:r>
              <a:rPr lang="en-US" baseline="-250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3B7810-EBE7-37C2-B230-C2C9E5D49508}"/>
              </a:ext>
            </a:extLst>
          </p:cNvPr>
          <p:cNvSpPr txBox="1"/>
          <p:nvPr/>
        </p:nvSpPr>
        <p:spPr>
          <a:xfrm>
            <a:off x="2980219" y="5036266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𝜽</a:t>
            </a:r>
            <a:r>
              <a:rPr lang="en-US" baseline="-250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1607D17-7D52-7E94-AD40-4C03E1457D41}"/>
                  </a:ext>
                </a:extLst>
              </p:cNvPr>
              <p:cNvSpPr txBox="1"/>
              <p:nvPr/>
            </p:nvSpPr>
            <p:spPr>
              <a:xfrm>
                <a:off x="3549423" y="5457090"/>
                <a:ext cx="29046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1607D17-7D52-7E94-AD40-4C03E1457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423" y="5457090"/>
                <a:ext cx="2904641" cy="276999"/>
              </a:xfrm>
              <a:prstGeom prst="rect">
                <a:avLst/>
              </a:prstGeom>
              <a:blipFill>
                <a:blip r:embed="rId3"/>
                <a:stretch>
                  <a:fillRect l="-1739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3604DB2-2C46-99A9-2287-5185DB9FE220}"/>
                  </a:ext>
                </a:extLst>
              </p:cNvPr>
              <p:cNvSpPr txBox="1"/>
              <p:nvPr/>
            </p:nvSpPr>
            <p:spPr>
              <a:xfrm>
                <a:off x="3959284" y="5900853"/>
                <a:ext cx="2111027" cy="5895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3604DB2-2C46-99A9-2287-5185DB9FE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284" y="5900853"/>
                <a:ext cx="2111027" cy="589585"/>
              </a:xfrm>
              <a:prstGeom prst="rect">
                <a:avLst/>
              </a:prstGeom>
              <a:blipFill>
                <a:blip r:embed="rId4"/>
                <a:stretch>
                  <a:fillRect r="-1190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84D52A4F-B0CA-8D9A-31D2-3B1DB52559DD}"/>
              </a:ext>
            </a:extLst>
          </p:cNvPr>
          <p:cNvSpPr txBox="1"/>
          <p:nvPr/>
        </p:nvSpPr>
        <p:spPr>
          <a:xfrm>
            <a:off x="3272195" y="4432720"/>
            <a:ext cx="332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pic>
        <p:nvPicPr>
          <p:cNvPr id="39" name="Picture 4" descr="Disparity">
            <a:extLst>
              <a:ext uri="{FF2B5EF4-FFF2-40B4-BE49-F238E27FC236}">
                <a16:creationId xmlns:a16="http://schemas.microsoft.com/office/drawing/2014/main" id="{59F775FA-3598-DE6B-200B-54B108148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470" y="1965744"/>
            <a:ext cx="2705318" cy="196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3618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CF511-E87D-C0A2-066E-9369B5FE9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21BE-123B-1229-09E7-ED08CA395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Stereo Vision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9CF8EA-6287-90F0-A524-C4380C56722B}"/>
              </a:ext>
            </a:extLst>
          </p:cNvPr>
          <p:cNvGrpSpPr/>
          <p:nvPr/>
        </p:nvGrpSpPr>
        <p:grpSpPr>
          <a:xfrm>
            <a:off x="916419" y="1965745"/>
            <a:ext cx="2131581" cy="1968080"/>
            <a:chOff x="2029646" y="1544186"/>
            <a:chExt cx="2131581" cy="196808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B05356-49B6-5B0C-1A7F-B327FFD647F8}"/>
                </a:ext>
              </a:extLst>
            </p:cNvPr>
            <p:cNvSpPr/>
            <p:nvPr/>
          </p:nvSpPr>
          <p:spPr>
            <a:xfrm>
              <a:off x="2029646" y="1544186"/>
              <a:ext cx="2131581" cy="1968080"/>
            </a:xfrm>
            <a:prstGeom prst="rect">
              <a:avLst/>
            </a:prstGeom>
            <a:solidFill>
              <a:schemeClr val="bg1">
                <a:lumMod val="50000"/>
                <a:alpha val="33000"/>
              </a:schemeClr>
            </a:solidFill>
            <a:ln>
              <a:noFill/>
            </a:ln>
            <a:effectLst>
              <a:glow rad="87156">
                <a:schemeClr val="accent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0CF5DC9-C963-D6C4-158C-ED7E8043A894}"/>
                </a:ext>
              </a:extLst>
            </p:cNvPr>
            <p:cNvSpPr txBox="1"/>
            <p:nvPr/>
          </p:nvSpPr>
          <p:spPr>
            <a:xfrm>
              <a:off x="2879672" y="2205061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+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7754AC-4842-C744-88FF-55B5922AC3D0}"/>
              </a:ext>
            </a:extLst>
          </p:cNvPr>
          <p:cNvGrpSpPr/>
          <p:nvPr/>
        </p:nvGrpSpPr>
        <p:grpSpPr>
          <a:xfrm>
            <a:off x="1390099" y="1965745"/>
            <a:ext cx="2131581" cy="1968080"/>
            <a:chOff x="2029646" y="1544186"/>
            <a:chExt cx="2131581" cy="19680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7C36EB-9A56-E734-91BB-9180405D6536}"/>
                </a:ext>
              </a:extLst>
            </p:cNvPr>
            <p:cNvSpPr/>
            <p:nvPr/>
          </p:nvSpPr>
          <p:spPr>
            <a:xfrm>
              <a:off x="2029646" y="1544186"/>
              <a:ext cx="2131581" cy="1968080"/>
            </a:xfrm>
            <a:prstGeom prst="rect">
              <a:avLst/>
            </a:prstGeom>
            <a:solidFill>
              <a:schemeClr val="bg1">
                <a:lumMod val="50000"/>
                <a:alpha val="33000"/>
              </a:schemeClr>
            </a:solidFill>
            <a:ln>
              <a:noFill/>
            </a:ln>
            <a:effectLst>
              <a:glow rad="87156">
                <a:schemeClr val="accent1"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E3352E4-61FE-7503-327D-757E01B6B451}"/>
                </a:ext>
              </a:extLst>
            </p:cNvPr>
            <p:cNvSpPr txBox="1"/>
            <p:nvPr/>
          </p:nvSpPr>
          <p:spPr>
            <a:xfrm>
              <a:off x="2879672" y="2205061"/>
              <a:ext cx="4315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+</a:t>
              </a:r>
            </a:p>
          </p:txBody>
        </p: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49182E-F3F5-8943-8291-779D8FAF621D}"/>
              </a:ext>
            </a:extLst>
          </p:cNvPr>
          <p:cNvCxnSpPr>
            <a:cxnSpLocks/>
          </p:cNvCxnSpPr>
          <p:nvPr/>
        </p:nvCxnSpPr>
        <p:spPr>
          <a:xfrm flipV="1">
            <a:off x="1128954" y="3034564"/>
            <a:ext cx="813362" cy="33662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CC7808-7CE5-FBDE-273F-3C628DE30176}"/>
              </a:ext>
            </a:extLst>
          </p:cNvPr>
          <p:cNvCxnSpPr>
            <a:cxnSpLocks/>
          </p:cNvCxnSpPr>
          <p:nvPr/>
        </p:nvCxnSpPr>
        <p:spPr>
          <a:xfrm flipH="1" flipV="1">
            <a:off x="2495782" y="3034564"/>
            <a:ext cx="764753" cy="33662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D5BE25E-26BC-8678-784D-4AEAA55F31A9}"/>
              </a:ext>
            </a:extLst>
          </p:cNvPr>
          <p:cNvCxnSpPr>
            <a:cxnSpLocks/>
          </p:cNvCxnSpPr>
          <p:nvPr/>
        </p:nvCxnSpPr>
        <p:spPr>
          <a:xfrm flipH="1">
            <a:off x="1157677" y="6400799"/>
            <a:ext cx="209328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FC674D0-A9FA-67E0-5F7C-8B487E61F146}"/>
              </a:ext>
            </a:extLst>
          </p:cNvPr>
          <p:cNvCxnSpPr>
            <a:cxnSpLocks/>
          </p:cNvCxnSpPr>
          <p:nvPr/>
        </p:nvCxnSpPr>
        <p:spPr>
          <a:xfrm flipH="1" flipV="1">
            <a:off x="1098304" y="3016397"/>
            <a:ext cx="19148" cy="33844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8566A00-71C6-9D33-32E7-C7319B4CAB75}"/>
              </a:ext>
            </a:extLst>
          </p:cNvPr>
          <p:cNvCxnSpPr>
            <a:cxnSpLocks/>
          </p:cNvCxnSpPr>
          <p:nvPr/>
        </p:nvCxnSpPr>
        <p:spPr>
          <a:xfrm flipH="1" flipV="1">
            <a:off x="3250961" y="3016396"/>
            <a:ext cx="19148" cy="33844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EB946B0-935D-0B43-B815-9F9D2C64650A}"/>
              </a:ext>
            </a:extLst>
          </p:cNvPr>
          <p:cNvCxnSpPr>
            <a:cxnSpLocks/>
          </p:cNvCxnSpPr>
          <p:nvPr/>
        </p:nvCxnSpPr>
        <p:spPr>
          <a:xfrm flipH="1">
            <a:off x="2016770" y="2883489"/>
            <a:ext cx="40878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AA743FD-AADA-FF38-86A0-9A92B531D3BF}"/>
              </a:ext>
            </a:extLst>
          </p:cNvPr>
          <p:cNvSpPr txBox="1"/>
          <p:nvPr/>
        </p:nvSpPr>
        <p:spPr>
          <a:xfrm>
            <a:off x="1252534" y="5877579"/>
            <a:ext cx="1933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Camera Displacement</a:t>
            </a:r>
          </a:p>
          <a:p>
            <a:pPr algn="ctr"/>
            <a:r>
              <a:rPr lang="en-US" sz="1400" dirty="0">
                <a:sym typeface="Wingdings" pitchFamily="2" charset="2"/>
              </a:rPr>
              <a:t></a:t>
            </a:r>
            <a:r>
              <a:rPr lang="en-US" sz="1400" dirty="0"/>
              <a:t> d </a:t>
            </a:r>
            <a:r>
              <a:rPr lang="en-US" sz="1400" dirty="0">
                <a:sym typeface="Wingdings" pitchFamily="2" charset="2"/>
              </a:rPr>
              <a:t></a:t>
            </a:r>
            <a:endParaRPr 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6C0403-979B-D454-18DF-38F031A1CE97}"/>
              </a:ext>
            </a:extLst>
          </p:cNvPr>
          <p:cNvSpPr txBox="1"/>
          <p:nvPr/>
        </p:nvSpPr>
        <p:spPr>
          <a:xfrm>
            <a:off x="1324285" y="2373690"/>
            <a:ext cx="17895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Image Displacement</a:t>
            </a:r>
          </a:p>
          <a:p>
            <a:pPr algn="ctr"/>
            <a:r>
              <a:rPr lang="en-US" sz="1400" dirty="0">
                <a:sym typeface="Wingdings" pitchFamily="2" charset="2"/>
              </a:rPr>
              <a:t></a:t>
            </a:r>
            <a:r>
              <a:rPr lang="en-US" sz="1400" dirty="0"/>
              <a:t> d’ </a:t>
            </a:r>
            <a:r>
              <a:rPr lang="en-US" sz="1400" dirty="0">
                <a:sym typeface="Wingdings" pitchFamily="2" charset="2"/>
              </a:rPr>
              <a:t></a:t>
            </a:r>
            <a:endParaRPr lang="en-US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B62345-4D94-829C-4B94-6837B30F8CA7}"/>
              </a:ext>
            </a:extLst>
          </p:cNvPr>
          <p:cNvSpPr txBox="1"/>
          <p:nvPr/>
        </p:nvSpPr>
        <p:spPr>
          <a:xfrm>
            <a:off x="1050735" y="5087758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𝜽</a:t>
            </a:r>
            <a:r>
              <a:rPr lang="en-US" baseline="-25000" dirty="0"/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CDE7CD-216A-4EB4-8805-2DF7559B78FC}"/>
              </a:ext>
            </a:extLst>
          </p:cNvPr>
          <p:cNvSpPr txBox="1"/>
          <p:nvPr/>
        </p:nvSpPr>
        <p:spPr>
          <a:xfrm>
            <a:off x="2980219" y="5036266"/>
            <a:ext cx="41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𝜽</a:t>
            </a:r>
            <a:r>
              <a:rPr lang="en-US" baseline="-250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8E416D8-EB92-4E6B-1DC1-FE55615DA771}"/>
                  </a:ext>
                </a:extLst>
              </p:cNvPr>
              <p:cNvSpPr txBox="1"/>
              <p:nvPr/>
            </p:nvSpPr>
            <p:spPr>
              <a:xfrm>
                <a:off x="3549423" y="5457090"/>
                <a:ext cx="29046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8E416D8-EB92-4E6B-1DC1-FE55615DA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423" y="5457090"/>
                <a:ext cx="2904641" cy="276999"/>
              </a:xfrm>
              <a:prstGeom prst="rect">
                <a:avLst/>
              </a:prstGeom>
              <a:blipFill>
                <a:blip r:embed="rId2"/>
                <a:stretch>
                  <a:fillRect l="-1739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2B41EC9-2050-EFE0-D207-557AC660F09D}"/>
                  </a:ext>
                </a:extLst>
              </p:cNvPr>
              <p:cNvSpPr txBox="1"/>
              <p:nvPr/>
            </p:nvSpPr>
            <p:spPr>
              <a:xfrm>
                <a:off x="3959284" y="5900853"/>
                <a:ext cx="2111027" cy="5895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D2B41EC9-2050-EFE0-D207-557AC660F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9284" y="5900853"/>
                <a:ext cx="2111027" cy="589585"/>
              </a:xfrm>
              <a:prstGeom prst="rect">
                <a:avLst/>
              </a:prstGeom>
              <a:blipFill>
                <a:blip r:embed="rId3"/>
                <a:stretch>
                  <a:fillRect r="-1190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D2BA9AD4-19A5-0429-A3A2-C4121C13EB55}"/>
              </a:ext>
            </a:extLst>
          </p:cNvPr>
          <p:cNvSpPr txBox="1"/>
          <p:nvPr/>
        </p:nvSpPr>
        <p:spPr>
          <a:xfrm>
            <a:off x="3272195" y="4432720"/>
            <a:ext cx="332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584F4565-E42C-804D-2EB0-58A4DB88C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797" y="365125"/>
            <a:ext cx="571500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F210444-6038-84EF-6A40-6162829DE498}"/>
              </a:ext>
            </a:extLst>
          </p:cNvPr>
          <p:cNvSpPr txBox="1"/>
          <p:nvPr/>
        </p:nvSpPr>
        <p:spPr>
          <a:xfrm>
            <a:off x="4823288" y="2770484"/>
            <a:ext cx="60980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dirty="0" err="1">
                <a:solidFill>
                  <a:srgbClr val="000000"/>
                </a:solidFill>
                <a:effectLst/>
                <a:latin typeface="SFMono-Regular"/>
              </a:rPr>
              <a:t>imgL</a:t>
            </a:r>
            <a:r>
              <a:rPr lang="en-US" b="0" dirty="0">
                <a:solidFill>
                  <a:srgbClr val="000000"/>
                </a:solidFill>
                <a:effectLst/>
                <a:latin typeface="SFMono-Regular"/>
              </a:rPr>
              <a:t> = </a:t>
            </a:r>
            <a:r>
              <a:rPr lang="en-US" b="0" u="none" strike="noStrike" dirty="0">
                <a:solidFill>
                  <a:srgbClr val="4665A2"/>
                </a:solidFill>
                <a:effectLst/>
                <a:latin typeface="SFMono-Regular"/>
                <a:hlinkClick r:id="rId5"/>
              </a:rPr>
              <a:t>cv.imread</a:t>
            </a:r>
            <a:r>
              <a:rPr lang="en-US" b="0" dirty="0">
                <a:solidFill>
                  <a:srgbClr val="000000"/>
                </a:solidFill>
                <a:effectLst/>
                <a:latin typeface="SFMono-Regular"/>
              </a:rPr>
              <a:t>(</a:t>
            </a:r>
            <a:r>
              <a:rPr lang="en-US" b="0" dirty="0">
                <a:solidFill>
                  <a:srgbClr val="002080"/>
                </a:solidFill>
                <a:effectLst/>
                <a:latin typeface="SFMono-Regular"/>
              </a:rPr>
              <a:t>'</a:t>
            </a:r>
            <a:r>
              <a:rPr lang="en-US" b="0" dirty="0" err="1">
                <a:solidFill>
                  <a:srgbClr val="002080"/>
                </a:solidFill>
                <a:effectLst/>
                <a:latin typeface="SFMono-Regular"/>
              </a:rPr>
              <a:t>tsukuba_l.png</a:t>
            </a:r>
            <a:r>
              <a:rPr lang="en-US" b="0" dirty="0">
                <a:solidFill>
                  <a:srgbClr val="002080"/>
                </a:solidFill>
                <a:effectLst/>
                <a:latin typeface="SFMono-Regular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SFMono-Regular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SFMono-Regular"/>
              </a:rPr>
              <a:t>cv.IMREAD_GRAYSCALE</a:t>
            </a:r>
            <a:r>
              <a:rPr lang="en-US" b="0" dirty="0">
                <a:solidFill>
                  <a:srgbClr val="000000"/>
                </a:solidFill>
                <a:effectLst/>
                <a:latin typeface="SFMono-Regular"/>
              </a:rPr>
              <a:t>)</a:t>
            </a:r>
          </a:p>
          <a:p>
            <a:pPr algn="l"/>
            <a:r>
              <a:rPr lang="en-US" b="0" dirty="0" err="1">
                <a:solidFill>
                  <a:srgbClr val="000000"/>
                </a:solidFill>
                <a:effectLst/>
                <a:latin typeface="SFMono-Regular"/>
              </a:rPr>
              <a:t>imgR</a:t>
            </a:r>
            <a:r>
              <a:rPr lang="en-US" b="0" dirty="0">
                <a:solidFill>
                  <a:srgbClr val="000000"/>
                </a:solidFill>
                <a:effectLst/>
                <a:latin typeface="SFMono-Regular"/>
              </a:rPr>
              <a:t> = </a:t>
            </a:r>
            <a:r>
              <a:rPr lang="en-US" b="0" u="none" strike="noStrike" dirty="0">
                <a:solidFill>
                  <a:srgbClr val="4665A2"/>
                </a:solidFill>
                <a:effectLst/>
                <a:latin typeface="SFMono-Regular"/>
                <a:hlinkClick r:id="rId5"/>
              </a:rPr>
              <a:t>cv.imread</a:t>
            </a:r>
            <a:r>
              <a:rPr lang="en-US" b="0" dirty="0">
                <a:solidFill>
                  <a:srgbClr val="000000"/>
                </a:solidFill>
                <a:effectLst/>
                <a:latin typeface="SFMono-Regular"/>
              </a:rPr>
              <a:t>(</a:t>
            </a:r>
            <a:r>
              <a:rPr lang="en-US" b="0" dirty="0">
                <a:solidFill>
                  <a:srgbClr val="002080"/>
                </a:solidFill>
                <a:effectLst/>
                <a:latin typeface="SFMono-Regular"/>
              </a:rPr>
              <a:t>'</a:t>
            </a:r>
            <a:r>
              <a:rPr lang="en-US" b="0" dirty="0" err="1">
                <a:solidFill>
                  <a:srgbClr val="002080"/>
                </a:solidFill>
                <a:effectLst/>
                <a:latin typeface="SFMono-Regular"/>
              </a:rPr>
              <a:t>tsukuba_r.png</a:t>
            </a:r>
            <a:r>
              <a:rPr lang="en-US" b="0" dirty="0">
                <a:solidFill>
                  <a:srgbClr val="002080"/>
                </a:solidFill>
                <a:effectLst/>
                <a:latin typeface="SFMono-Regular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SFMono-Regular"/>
              </a:rPr>
              <a:t>, </a:t>
            </a:r>
            <a:r>
              <a:rPr lang="en-US" b="0" dirty="0" err="1">
                <a:solidFill>
                  <a:srgbClr val="000000"/>
                </a:solidFill>
                <a:effectLst/>
                <a:latin typeface="SFMono-Regular"/>
              </a:rPr>
              <a:t>cv.IMREAD_GRAYSCALE</a:t>
            </a:r>
            <a:r>
              <a:rPr lang="en-US" b="0" dirty="0">
                <a:solidFill>
                  <a:srgbClr val="000000"/>
                </a:solidFill>
                <a:effectLst/>
                <a:latin typeface="SFMono-Regular"/>
              </a:rPr>
              <a:t>)</a:t>
            </a:r>
          </a:p>
          <a:p>
            <a:pPr algn="l"/>
            <a:endParaRPr lang="en-US" b="0" dirty="0">
              <a:solidFill>
                <a:srgbClr val="000000"/>
              </a:solidFill>
              <a:effectLst/>
              <a:latin typeface="SFMono-Regular"/>
            </a:endParaRPr>
          </a:p>
          <a:p>
            <a:pPr algn="l"/>
            <a:r>
              <a:rPr lang="en-US" b="0" dirty="0">
                <a:solidFill>
                  <a:srgbClr val="000000"/>
                </a:solidFill>
                <a:effectLst/>
                <a:latin typeface="SFMono-Regular"/>
              </a:rPr>
              <a:t>stereo = </a:t>
            </a:r>
            <a:r>
              <a:rPr lang="en-US" b="0" u="none" strike="noStrike" dirty="0">
                <a:solidFill>
                  <a:srgbClr val="4665A2"/>
                </a:solidFill>
                <a:effectLst/>
                <a:latin typeface="SFMono-Regular"/>
                <a:hlinkClick r:id="rId6"/>
              </a:rPr>
              <a:t>cv.StereoBM.create</a:t>
            </a:r>
            <a:r>
              <a:rPr lang="en-US" b="0" dirty="0">
                <a:solidFill>
                  <a:srgbClr val="000000"/>
                </a:solidFill>
                <a:effectLst/>
                <a:latin typeface="SFMono-Regular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SFMono-Regular"/>
              </a:rPr>
              <a:t>numDisparities</a:t>
            </a:r>
            <a:r>
              <a:rPr lang="en-US" b="0" dirty="0">
                <a:solidFill>
                  <a:srgbClr val="000000"/>
                </a:solidFill>
                <a:effectLst/>
                <a:latin typeface="SFMono-Regular"/>
              </a:rPr>
              <a:t>=16, </a:t>
            </a:r>
            <a:r>
              <a:rPr lang="en-US" b="0" dirty="0" err="1">
                <a:solidFill>
                  <a:srgbClr val="000000"/>
                </a:solidFill>
                <a:effectLst/>
                <a:latin typeface="SFMono-Regular"/>
              </a:rPr>
              <a:t>blockSize</a:t>
            </a:r>
            <a:r>
              <a:rPr lang="en-US" b="0" dirty="0">
                <a:solidFill>
                  <a:srgbClr val="000000"/>
                </a:solidFill>
                <a:effectLst/>
                <a:latin typeface="SFMono-Regular"/>
              </a:rPr>
              <a:t>=15)</a:t>
            </a:r>
          </a:p>
          <a:p>
            <a:pPr algn="l"/>
            <a:r>
              <a:rPr lang="en-US" b="0" dirty="0">
                <a:solidFill>
                  <a:srgbClr val="000000"/>
                </a:solidFill>
                <a:effectLst/>
                <a:latin typeface="SFMono-Regular"/>
              </a:rPr>
              <a:t>disparity = </a:t>
            </a:r>
            <a:r>
              <a:rPr lang="en-US" b="0" dirty="0" err="1">
                <a:solidFill>
                  <a:srgbClr val="000000"/>
                </a:solidFill>
                <a:effectLst/>
                <a:latin typeface="SFMono-Regular"/>
              </a:rPr>
              <a:t>stereo.compute</a:t>
            </a:r>
            <a:r>
              <a:rPr lang="en-US" b="0" dirty="0">
                <a:solidFill>
                  <a:srgbClr val="000000"/>
                </a:solidFill>
                <a:effectLst/>
                <a:latin typeface="SFMono-Regular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SFMono-Regular"/>
              </a:rPr>
              <a:t>imgL,imgR</a:t>
            </a:r>
            <a:r>
              <a:rPr lang="en-US" b="0" dirty="0">
                <a:solidFill>
                  <a:srgbClr val="000000"/>
                </a:solidFill>
                <a:effectLst/>
                <a:latin typeface="SFMono-Regular"/>
              </a:rPr>
              <a:t>)</a:t>
            </a:r>
          </a:p>
          <a:p>
            <a:pPr algn="l"/>
            <a:endParaRPr lang="en-US" b="0" dirty="0">
              <a:solidFill>
                <a:srgbClr val="000000"/>
              </a:solidFill>
              <a:effectLst/>
              <a:latin typeface="SFMono-Regular"/>
            </a:endParaRPr>
          </a:p>
          <a:p>
            <a:pPr algn="l"/>
            <a:r>
              <a:rPr lang="en-US" b="0" dirty="0" err="1">
                <a:solidFill>
                  <a:srgbClr val="000000"/>
                </a:solidFill>
                <a:effectLst/>
                <a:latin typeface="SFMono-Regular"/>
              </a:rPr>
              <a:t>plt.imshow</a:t>
            </a:r>
            <a:r>
              <a:rPr lang="en-US" b="0" dirty="0">
                <a:solidFill>
                  <a:srgbClr val="000000"/>
                </a:solidFill>
                <a:effectLst/>
                <a:latin typeface="SFMono-Regular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SFMono-Regular"/>
              </a:rPr>
              <a:t>disparity,</a:t>
            </a:r>
            <a:r>
              <a:rPr lang="en-US" b="0" dirty="0" err="1">
                <a:solidFill>
                  <a:srgbClr val="002080"/>
                </a:solidFill>
                <a:effectLst/>
                <a:latin typeface="SFMono-Regular"/>
              </a:rPr>
              <a:t>'gray</a:t>
            </a:r>
            <a:r>
              <a:rPr lang="en-US" b="0" dirty="0">
                <a:solidFill>
                  <a:srgbClr val="002080"/>
                </a:solidFill>
                <a:effectLst/>
                <a:latin typeface="SFMono-Regular"/>
              </a:rPr>
              <a:t>'</a:t>
            </a:r>
            <a:r>
              <a:rPr lang="en-US" b="0" dirty="0">
                <a:solidFill>
                  <a:srgbClr val="000000"/>
                </a:solidFill>
                <a:effectLst/>
                <a:latin typeface="SFMono-Regula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59555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Disparity">
            <a:extLst>
              <a:ext uri="{FF2B5EF4-FFF2-40B4-BE49-F238E27FC236}">
                <a16:creationId xmlns:a16="http://schemas.microsoft.com/office/drawing/2014/main" id="{75E0B69A-CC44-9D6B-F395-9D678C792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906" y="1251180"/>
            <a:ext cx="2705318" cy="196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B7F9B44-5C9A-7A0A-CC3C-140D9B33C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Stereo Vision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D2BD9F-F934-A1B9-A25F-8616E4EF1CE5}"/>
              </a:ext>
            </a:extLst>
          </p:cNvPr>
          <p:cNvSpPr txBox="1"/>
          <p:nvPr/>
        </p:nvSpPr>
        <p:spPr>
          <a:xfrm>
            <a:off x="278559" y="2065097"/>
            <a:ext cx="248330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fx</a:t>
            </a:r>
            <a:r>
              <a:rPr lang="en-US" dirty="0"/>
              <a:t> : focal length in x</a:t>
            </a:r>
          </a:p>
          <a:p>
            <a:r>
              <a:rPr lang="en-US" dirty="0" err="1"/>
              <a:t>fy</a:t>
            </a:r>
            <a:r>
              <a:rPr lang="en-US" dirty="0"/>
              <a:t> : focal length in y</a:t>
            </a:r>
          </a:p>
          <a:p>
            <a:endParaRPr lang="en-US" dirty="0"/>
          </a:p>
          <a:p>
            <a:r>
              <a:rPr lang="en-US" dirty="0"/>
              <a:t>Ox:  Origin of image in x</a:t>
            </a:r>
          </a:p>
          <a:p>
            <a:r>
              <a:rPr lang="en-US" dirty="0"/>
              <a:t>Oy:  Origin of image in y</a:t>
            </a:r>
          </a:p>
          <a:p>
            <a:endParaRPr lang="en-US" dirty="0"/>
          </a:p>
          <a:p>
            <a:r>
              <a:rPr lang="en-US" dirty="0"/>
              <a:t>[U,V]:  Point in image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625140-607D-D025-4107-67FE6981FA21}"/>
              </a:ext>
            </a:extLst>
          </p:cNvPr>
          <p:cNvSpPr txBox="1"/>
          <p:nvPr/>
        </p:nvSpPr>
        <p:spPr>
          <a:xfrm>
            <a:off x="3018319" y="2065097"/>
            <a:ext cx="252761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fx</a:t>
            </a:r>
            <a:r>
              <a:rPr lang="en-US" dirty="0"/>
              <a:t>' : focal length in x</a:t>
            </a:r>
          </a:p>
          <a:p>
            <a:r>
              <a:rPr lang="en-US" dirty="0" err="1"/>
              <a:t>fy</a:t>
            </a:r>
            <a:r>
              <a:rPr lang="en-US" dirty="0"/>
              <a:t> ‘: focal length in y</a:t>
            </a:r>
          </a:p>
          <a:p>
            <a:endParaRPr lang="en-US" dirty="0"/>
          </a:p>
          <a:p>
            <a:r>
              <a:rPr lang="en-US" dirty="0"/>
              <a:t>Ox’:  Origin of image in x</a:t>
            </a:r>
          </a:p>
          <a:p>
            <a:r>
              <a:rPr lang="en-US" dirty="0"/>
              <a:t>Oy’:  Origin of image in y</a:t>
            </a:r>
          </a:p>
          <a:p>
            <a:endParaRPr lang="en-US" dirty="0"/>
          </a:p>
          <a:p>
            <a:r>
              <a:rPr lang="en-US" dirty="0"/>
              <a:t>[U’,V’]:  Point in image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BD6C0F-3142-173F-98F6-B87A9D3CD084}"/>
              </a:ext>
            </a:extLst>
          </p:cNvPr>
          <p:cNvSpPr txBox="1"/>
          <p:nvPr/>
        </p:nvSpPr>
        <p:spPr>
          <a:xfrm>
            <a:off x="2912380" y="1690688"/>
            <a:ext cx="1844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Camera 2 (right)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D07ED4-1E90-3A72-B119-4DECEB0CCB61}"/>
              </a:ext>
            </a:extLst>
          </p:cNvPr>
          <p:cNvSpPr txBox="1"/>
          <p:nvPr/>
        </p:nvSpPr>
        <p:spPr>
          <a:xfrm>
            <a:off x="334069" y="1720808"/>
            <a:ext cx="1721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Camera 1 (left)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5E1D7F-849B-CB9D-F9DE-2B0E7F802204}"/>
                  </a:ext>
                </a:extLst>
              </p:cNvPr>
              <p:cNvSpPr txBox="1"/>
              <p:nvPr/>
            </p:nvSpPr>
            <p:spPr>
              <a:xfrm>
                <a:off x="334069" y="5186248"/>
                <a:ext cx="1626920" cy="4725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5E1D7F-849B-CB9D-F9DE-2B0E7F802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69" y="5186248"/>
                <a:ext cx="1626920" cy="472565"/>
              </a:xfrm>
              <a:prstGeom prst="rect">
                <a:avLst/>
              </a:prstGeom>
              <a:blipFill>
                <a:blip r:embed="rId3"/>
                <a:stretch>
                  <a:fillRect l="-3101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3F8E3A-DC30-7A80-FB92-9049F1B882A9}"/>
                  </a:ext>
                </a:extLst>
              </p:cNvPr>
              <p:cNvSpPr txBox="1"/>
              <p:nvPr/>
            </p:nvSpPr>
            <p:spPr>
              <a:xfrm>
                <a:off x="334069" y="5766819"/>
                <a:ext cx="1698222" cy="4725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A3F8E3A-DC30-7A80-FB92-9049F1B88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69" y="5766819"/>
                <a:ext cx="1698222" cy="472502"/>
              </a:xfrm>
              <a:prstGeom prst="rect">
                <a:avLst/>
              </a:prstGeom>
              <a:blipFill>
                <a:blip r:embed="rId4"/>
                <a:stretch>
                  <a:fillRect l="-1493" t="-2632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141CED1-AA66-8E07-8994-6DDE672D4A45}"/>
              </a:ext>
            </a:extLst>
          </p:cNvPr>
          <p:cNvSpPr txBox="1"/>
          <p:nvPr/>
        </p:nvSpPr>
        <p:spPr>
          <a:xfrm>
            <a:off x="3032533" y="4294069"/>
            <a:ext cx="4182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  - displacement of cameras (in x plane)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BCD28C-03EF-5C8D-F261-72D24D7E21D3}"/>
                  </a:ext>
                </a:extLst>
              </p:cNvPr>
              <p:cNvSpPr txBox="1"/>
              <p:nvPr/>
            </p:nvSpPr>
            <p:spPr>
              <a:xfrm>
                <a:off x="2805775" y="5167312"/>
                <a:ext cx="2338461" cy="5357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BCD28C-03EF-5C8D-F261-72D24D7E2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775" y="5167312"/>
                <a:ext cx="2338461" cy="535724"/>
              </a:xfrm>
              <a:prstGeom prst="rect">
                <a:avLst/>
              </a:prstGeom>
              <a:blipFill>
                <a:blip r:embed="rId5"/>
                <a:stretch>
                  <a:fillRect l="-2151" t="-2326" r="-2151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713CA70-2A6C-DDCB-2EFB-AA0A106A565C}"/>
                  </a:ext>
                </a:extLst>
              </p:cNvPr>
              <p:cNvSpPr txBox="1"/>
              <p:nvPr/>
            </p:nvSpPr>
            <p:spPr>
              <a:xfrm>
                <a:off x="2876842" y="5870181"/>
                <a:ext cx="1739002" cy="3691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′∗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’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713CA70-2A6C-DDCB-2EFB-AA0A106A5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6842" y="5870181"/>
                <a:ext cx="1739002" cy="369140"/>
              </a:xfrm>
              <a:prstGeom prst="rect">
                <a:avLst/>
              </a:prstGeom>
              <a:blipFill>
                <a:blip r:embed="rId6"/>
                <a:stretch>
                  <a:fillRect l="-5072" t="-10000" r="-7246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51C1AB8-5F45-0729-6AFC-3E14E5AB161E}"/>
                  </a:ext>
                </a:extLst>
              </p:cNvPr>
              <p:cNvSpPr txBox="1"/>
              <p:nvPr/>
            </p:nvSpPr>
            <p:spPr>
              <a:xfrm>
                <a:off x="5873729" y="5591931"/>
                <a:ext cx="1543243" cy="556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𝑂𝑥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𝐹𝑥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51C1AB8-5F45-0729-6AFC-3E14E5AB1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3729" y="5591931"/>
                <a:ext cx="1543243" cy="556499"/>
              </a:xfrm>
              <a:prstGeom prst="rect">
                <a:avLst/>
              </a:prstGeom>
              <a:blipFill>
                <a:blip r:embed="rId7"/>
                <a:stretch>
                  <a:fillRect l="-4878" t="-222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530" name="Picture 2" descr="Canon EOS R5 Mirrorless Digital Camera ...">
            <a:extLst>
              <a:ext uri="{FF2B5EF4-FFF2-40B4-BE49-F238E27FC236}">
                <a16:creationId xmlns:a16="http://schemas.microsoft.com/office/drawing/2014/main" id="{DCF69E19-4E7D-7CA5-5E67-A2E258C4C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637957" y="4154644"/>
            <a:ext cx="1203526" cy="800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Canon EOS R5 Mirrorless Digital Camera ...">
            <a:extLst>
              <a:ext uri="{FF2B5EF4-FFF2-40B4-BE49-F238E27FC236}">
                <a16:creationId xmlns:a16="http://schemas.microsoft.com/office/drawing/2014/main" id="{519F3149-6FCC-EB50-3EA7-73B8617C7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9173681" y="4154645"/>
            <a:ext cx="1203526" cy="800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Left-Right Arrow 18">
            <a:extLst>
              <a:ext uri="{FF2B5EF4-FFF2-40B4-BE49-F238E27FC236}">
                <a16:creationId xmlns:a16="http://schemas.microsoft.com/office/drawing/2014/main" id="{C2900DBC-030F-3571-5987-EA069D2FEAFE}"/>
              </a:ext>
            </a:extLst>
          </p:cNvPr>
          <p:cNvSpPr/>
          <p:nvPr/>
        </p:nvSpPr>
        <p:spPr>
          <a:xfrm>
            <a:off x="8099668" y="4050813"/>
            <a:ext cx="1483629" cy="5450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535633-2DC0-722A-44F1-637D963ED6BA}"/>
              </a:ext>
            </a:extLst>
          </p:cNvPr>
          <p:cNvSpPr txBox="1"/>
          <p:nvPr/>
        </p:nvSpPr>
        <p:spPr>
          <a:xfrm>
            <a:off x="8783093" y="3681481"/>
            <a:ext cx="3905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063DFF-F302-87DC-0B1A-F7AC1FEA493A}"/>
              </a:ext>
            </a:extLst>
          </p:cNvPr>
          <p:cNvSpPr txBox="1"/>
          <p:nvPr/>
        </p:nvSpPr>
        <p:spPr>
          <a:xfrm>
            <a:off x="7741573" y="3681481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0B453D-A740-E6C7-29DB-E4DF5EB962A6}"/>
              </a:ext>
            </a:extLst>
          </p:cNvPr>
          <p:cNvSpPr txBox="1"/>
          <p:nvPr/>
        </p:nvSpPr>
        <p:spPr>
          <a:xfrm>
            <a:off x="9289863" y="3677731"/>
            <a:ext cx="631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(b,0)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021894B-EF43-E8FB-E672-E39A6CF8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4265" y="4280045"/>
            <a:ext cx="4770404" cy="3180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1693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74BB4-93AA-2E6D-AE5D-AC7A32F58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A884AE6-9613-08CD-6EF5-588D37E4FA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23" y="2044498"/>
            <a:ext cx="6880439" cy="4710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99CF31D-DBBA-9C78-F05C-AE01FA1BA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6494" y="1409334"/>
            <a:ext cx="5962743" cy="5167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7512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7B60C-19DB-9EF9-628B-57276271F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LIDAR (</a:t>
            </a:r>
            <a:r>
              <a:rPr lang="en-US" dirty="0" err="1"/>
              <a:t>ToF</a:t>
            </a:r>
            <a:r>
              <a:rPr lang="en-US" dirty="0"/>
              <a:t>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4B270BA-9557-C366-7084-D5556600A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969" y="1394069"/>
            <a:ext cx="7645400" cy="345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2FA2016-F675-415B-AE99-17D6A8FDC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4255" y="3351182"/>
            <a:ext cx="4743083" cy="3141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2407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BA010-B906-2E64-5AB0-63613F1FC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Monocular depth estimation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740D71B-8BE5-497A-06B4-6A4EAB07A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MiDAS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https://github.com/isl-org/MiDaS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US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Ranftl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R., </a:t>
            </a:r>
            <a:r>
              <a:rPr lang="en-US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Lasinger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K., Hafner, D., Schindler, K., &amp; </a:t>
            </a:r>
            <a:r>
              <a:rPr lang="en-US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Koltun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V. (2020). Towards robust monocular depth estimation: Mixing datasets for zero-shot cross-dataset transfer. </a:t>
            </a:r>
            <a:r>
              <a:rPr lang="en-US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IEEE transactions on pattern analysis and machine intelligence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 </a:t>
            </a:r>
            <a:r>
              <a:rPr lang="en-US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44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(3), 1623-1637.</a:t>
            </a:r>
          </a:p>
          <a:p>
            <a:pPr lvl="1"/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MIT License</a:t>
            </a:r>
          </a:p>
          <a:p>
            <a:pPr lvl="1"/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Fastest</a:t>
            </a:r>
          </a:p>
          <a:p>
            <a:pPr lvl="1"/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Qualitative.  Depth order (but not quantitative distances)</a:t>
            </a:r>
          </a:p>
          <a:p>
            <a:r>
              <a:rPr lang="en-US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ZoeDepth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https://github.com/isl-org/ZoeDepth</a:t>
            </a:r>
            <a:r>
              <a:rPr lang="en-US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Bhat, S. F., </a:t>
            </a:r>
            <a:r>
              <a:rPr lang="en-US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Birkl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R., </a:t>
            </a:r>
            <a:r>
              <a:rPr lang="en-US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Wofk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D., Wonka, P., &amp; Müller, M. (2023). </a:t>
            </a:r>
            <a:r>
              <a:rPr lang="en-US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Zoedepth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Zero-shot transfer by combining relative and metric depth. </a:t>
            </a:r>
            <a:r>
              <a:rPr lang="en-US" sz="16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arXiv</a:t>
            </a:r>
            <a:r>
              <a:rPr lang="en-US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preprint arXiv:2302.12288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MIT License</a:t>
            </a:r>
          </a:p>
          <a:p>
            <a:pPr lvl="1"/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 4x slower than </a:t>
            </a:r>
            <a:r>
              <a:rPr lang="en-US" sz="1600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MiDAS</a:t>
            </a:r>
            <a:endParaRPr lang="en-US" sz="1600" dirty="0">
              <a:solidFill>
                <a:srgbClr val="22222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Depth estimation in quantitative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Marigold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https://github.com/prs-eth/Marigold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Ke, B., Obukhov, A., Huang, S., Metzger, N., </a:t>
            </a:r>
            <a:r>
              <a:rPr lang="en-US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Daudt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R. C., &amp; Schindler, K. (2024). Repurposing diffusion-based image generators for monocular depth estimation. In </a:t>
            </a:r>
            <a:r>
              <a:rPr lang="en-US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Proceedings of the IEEE/CVF Conference on Computer Vision and Pattern Recognition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(pp. 9492-9502).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Apache License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~ 200x slower than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MiDAS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PatchFusion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https://github.com/zhyever/PatchFusion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Li, Z., Bhat, S. F., &amp; Wonka, P. (2024). </a:t>
            </a:r>
            <a:r>
              <a:rPr lang="en-US" sz="16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Patchfusion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An end-to-end tile-based framework for high-resolution monocular metric depth estimation. In </a:t>
            </a:r>
            <a:r>
              <a:rPr lang="en-US" sz="16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Proceedings of the IEEE/CVF Conference on Computer Vision and Pattern Recognition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(pp. 10016-10025).</a:t>
            </a:r>
          </a:p>
          <a:p>
            <a:pPr lvl="1"/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 License</a:t>
            </a:r>
          </a:p>
          <a:p>
            <a:pPr lvl="1"/>
            <a:r>
              <a:rPr lang="en-US" sz="16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 400x slower than </a:t>
            </a:r>
            <a:r>
              <a:rPr lang="en-US" sz="1600" dirty="0" err="1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MiDAS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441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7EE6D-C035-B5D4-36DF-65C467E8E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CB5EB-A14E-CD09-7591-B3DE23810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MiDAS</a:t>
            </a:r>
            <a:endParaRPr lang="en-US" dirty="0"/>
          </a:p>
        </p:txBody>
      </p:sp>
      <p:pic>
        <p:nvPicPr>
          <p:cNvPr id="5" name="Picture 4" descr="A list of movies with numbers and text&#10;&#10;Description automatically generated with medium confidence">
            <a:extLst>
              <a:ext uri="{FF2B5EF4-FFF2-40B4-BE49-F238E27FC236}">
                <a16:creationId xmlns:a16="http://schemas.microsoft.com/office/drawing/2014/main" id="{1B4DECD5-0CF4-0CB1-65DC-6F9C35FFA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8700" y="1772705"/>
            <a:ext cx="3798435" cy="49402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23A928-251B-AA4E-1A4F-F3310E23A841}"/>
              </a:ext>
            </a:extLst>
          </p:cNvPr>
          <p:cNvSpPr txBox="1"/>
          <p:nvPr/>
        </p:nvSpPr>
        <p:spPr>
          <a:xfrm>
            <a:off x="993123" y="2543364"/>
            <a:ext cx="634135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Deep Learning based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ResNET</a:t>
            </a:r>
            <a:r>
              <a:rPr lang="en-US" dirty="0"/>
              <a:t> based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Trained on movies available in both 3D and standard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8" name="Picture 7" descr="A collage of images of people and animals&#10;&#10;Description automatically generated">
            <a:extLst>
              <a:ext uri="{FF2B5EF4-FFF2-40B4-BE49-F238E27FC236}">
                <a16:creationId xmlns:a16="http://schemas.microsoft.com/office/drawing/2014/main" id="{A6FEFEAE-994A-6412-D2EC-4A25D8431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221" y="3676277"/>
            <a:ext cx="4540754" cy="2869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993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4649</TotalTime>
  <Words>598</Words>
  <Application>Microsoft Macintosh PowerPoint</Application>
  <PresentationFormat>Widescreen</PresentationFormat>
  <Paragraphs>87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SFMono-Regular</vt:lpstr>
      <vt:lpstr>Wingdings</vt:lpstr>
      <vt:lpstr>Office Theme</vt:lpstr>
      <vt:lpstr>Lecture 14 Depth and 3D Estimation</vt:lpstr>
      <vt:lpstr>Stereo Vision</vt:lpstr>
      <vt:lpstr>Stereo Vision</vt:lpstr>
      <vt:lpstr>Stereo Vision</vt:lpstr>
      <vt:lpstr>PowerPoint Presentation</vt:lpstr>
      <vt:lpstr>LIDAR (ToF)</vt:lpstr>
      <vt:lpstr>Monocular depth estimation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University of Pittsburgh University of Pittsburgh</dc:creator>
  <cp:lastModifiedBy>HUPPERT, CAROLINE F (STUDENT)</cp:lastModifiedBy>
  <cp:revision>24</cp:revision>
  <dcterms:created xsi:type="dcterms:W3CDTF">2024-07-14T13:25:54Z</dcterms:created>
  <dcterms:modified xsi:type="dcterms:W3CDTF">2024-10-15T12:20:29Z</dcterms:modified>
</cp:coreProperties>
</file>