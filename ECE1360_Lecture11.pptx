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8" r:id="rId2"/>
    <p:sldId id="259" r:id="rId3"/>
    <p:sldId id="260" r:id="rId4"/>
    <p:sldId id="261"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35"/>
    <p:restoredTop sz="94702"/>
  </p:normalViewPr>
  <p:slideViewPr>
    <p:cSldViewPr snapToGrid="0">
      <p:cViewPr varScale="1">
        <p:scale>
          <a:sx n="36" d="100"/>
          <a:sy n="36" d="100"/>
        </p:scale>
        <p:origin x="224" y="15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B0C249-CFF4-8549-9C1D-83533EF6B8ED}" type="datetimeFigureOut">
              <a:rPr lang="en-US" smtClean="0"/>
              <a:t>7/14/24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A9E587-C2E9-8941-8108-1A76FC0A75C9}" type="slidenum">
              <a:rPr lang="en-US" smtClean="0"/>
              <a:t>‹#›</a:t>
            </a:fld>
            <a:endParaRPr lang="en-US"/>
          </a:p>
        </p:txBody>
      </p:sp>
    </p:spTree>
    <p:extLst>
      <p:ext uri="{BB962C8B-B14F-4D97-AF65-F5344CB8AC3E}">
        <p14:creationId xmlns:p14="http://schemas.microsoft.com/office/powerpoint/2010/main" val="2647767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9E587-C2E9-8941-8108-1A76FC0A75C9}" type="slidenum">
              <a:rPr lang="en-US" smtClean="0"/>
              <a:t>1</a:t>
            </a:fld>
            <a:endParaRPr lang="en-US"/>
          </a:p>
        </p:txBody>
      </p:sp>
    </p:spTree>
    <p:extLst>
      <p:ext uri="{BB962C8B-B14F-4D97-AF65-F5344CB8AC3E}">
        <p14:creationId xmlns:p14="http://schemas.microsoft.com/office/powerpoint/2010/main" val="2734764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FC13D-C485-B9D3-99EA-D80E4E9A91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2ED7B23-2526-2A0B-6932-F92267ADD5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094BDB-E7E5-9910-C3EE-41DBC544A82B}"/>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5" name="Footer Placeholder 4">
            <a:extLst>
              <a:ext uri="{FF2B5EF4-FFF2-40B4-BE49-F238E27FC236}">
                <a16:creationId xmlns:a16="http://schemas.microsoft.com/office/drawing/2014/main" id="{79803192-56E2-5809-7472-0D7F875DE8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BB67CD-EF3F-F857-D34F-777CACF3B48C}"/>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3738148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97195-1EBD-7BCB-3B5A-91AACBD3F0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8F9648-3F9A-316C-87DB-7EE7798CA1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3FCF31-6117-AB6E-42EC-0CB56F2D810F}"/>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5" name="Footer Placeholder 4">
            <a:extLst>
              <a:ext uri="{FF2B5EF4-FFF2-40B4-BE49-F238E27FC236}">
                <a16:creationId xmlns:a16="http://schemas.microsoft.com/office/drawing/2014/main" id="{7F54C68E-F23A-A75B-5E8F-82B7E01358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667C07-39A5-0102-8B7C-D54FFEEAB9F1}"/>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371250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0FBF1-3B26-85B7-5B23-196D6D7AC7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EF26AA-12EA-8ABD-6EFD-D08F49B2D0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598597-67E3-8944-18DE-66DCE81A5F6F}"/>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5" name="Footer Placeholder 4">
            <a:extLst>
              <a:ext uri="{FF2B5EF4-FFF2-40B4-BE49-F238E27FC236}">
                <a16:creationId xmlns:a16="http://schemas.microsoft.com/office/drawing/2014/main" id="{A6A04062-2D0B-BCFF-2512-CEB2B699E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1F9974-00DC-799D-5A39-8C4455F5E491}"/>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843666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BE502-6CAF-3BF5-BD6B-065D6AAC92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3FD2C5-EA3F-B247-6115-694CB50A27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F8C6E22-BDC4-EA3F-0157-4E70E0CA8A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755765-826E-C08A-B1AE-7D0450E76A49}"/>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6" name="Footer Placeholder 5">
            <a:extLst>
              <a:ext uri="{FF2B5EF4-FFF2-40B4-BE49-F238E27FC236}">
                <a16:creationId xmlns:a16="http://schemas.microsoft.com/office/drawing/2014/main" id="{04F0ED42-71C9-96FD-9AC7-BBBB1E8052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298970-A713-3810-1656-9A49740562B0}"/>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4098197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EFE3-7F3D-1B88-EFDA-38CEB24904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19FB26-F14D-71C1-7811-FFF97C3205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BA1E4B-1C15-4FB7-4E18-041EB41BCE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7C11D1-5A46-1743-FF30-5B7AA77149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39A520-D677-A0EC-79D6-F04D6C4847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23BA99-897A-0500-AE48-09E7B8C2CC62}"/>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8" name="Footer Placeholder 7">
            <a:extLst>
              <a:ext uri="{FF2B5EF4-FFF2-40B4-BE49-F238E27FC236}">
                <a16:creationId xmlns:a16="http://schemas.microsoft.com/office/drawing/2014/main" id="{52E3C3F4-F2F2-C2AF-D951-2143C2AC1A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081BF2-C18C-5BCE-8867-97369A7EA568}"/>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60386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D803A-82FE-540F-04AD-04E5BC92E5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2AE2E6-A597-C016-7335-DDE3857CEBF7}"/>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4" name="Footer Placeholder 3">
            <a:extLst>
              <a:ext uri="{FF2B5EF4-FFF2-40B4-BE49-F238E27FC236}">
                <a16:creationId xmlns:a16="http://schemas.microsoft.com/office/drawing/2014/main" id="{9616C399-5561-EB63-F9FA-82FD2E4F85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B7DC75-D761-8046-6EA3-3C54C6602799}"/>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3582946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0F3204-AE45-9D32-CF50-26F1909D7018}"/>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3" name="Footer Placeholder 2">
            <a:extLst>
              <a:ext uri="{FF2B5EF4-FFF2-40B4-BE49-F238E27FC236}">
                <a16:creationId xmlns:a16="http://schemas.microsoft.com/office/drawing/2014/main" id="{71BD95A8-B2D5-EADB-1C47-FFB1926049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30A1BD-7287-A602-D01E-2E738D412D29}"/>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4059986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6E0CD-2F46-6818-C3F0-CCADAB2C1B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DADD57-4C79-D6D0-FB66-51CEFBADB7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EB58AD-4B41-DA2A-70C5-3099BAA4B8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73F0C8-41B5-BA77-0536-8BA68ED08D91}"/>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6" name="Footer Placeholder 5">
            <a:extLst>
              <a:ext uri="{FF2B5EF4-FFF2-40B4-BE49-F238E27FC236}">
                <a16:creationId xmlns:a16="http://schemas.microsoft.com/office/drawing/2014/main" id="{8EB776A6-8636-3E77-9BE8-DADC09DBE3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36611F-C2E8-BD14-00A5-38A56CB298C3}"/>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310670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0ACF2-120D-5B4B-92E9-D6DDDB6E05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334234-27D3-8B30-B909-03E904DB24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DFF481E-39C7-E276-5FEC-6132C3F16B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A7F9A7-9755-B9B9-95CC-5F76F16D5FC6}"/>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6" name="Footer Placeholder 5">
            <a:extLst>
              <a:ext uri="{FF2B5EF4-FFF2-40B4-BE49-F238E27FC236}">
                <a16:creationId xmlns:a16="http://schemas.microsoft.com/office/drawing/2014/main" id="{41E77145-B00A-818B-C157-539D33965D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89EE6A-0692-79C1-4E2E-81960BE4EDB9}"/>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1889955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67BE6-9453-29ED-002A-FEE3A328C8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068097-9D96-7737-81FC-C8D04570D2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94BA2E-E4E4-9C71-BA90-B81529C5FC69}"/>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5" name="Footer Placeholder 4">
            <a:extLst>
              <a:ext uri="{FF2B5EF4-FFF2-40B4-BE49-F238E27FC236}">
                <a16:creationId xmlns:a16="http://schemas.microsoft.com/office/drawing/2014/main" id="{2AC99529-4F7C-0023-1CBA-378E4F29F3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9C889C-7082-9C58-C006-A02D0F0ECC77}"/>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151132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DCA38A-5858-C061-82D2-23AB59B0EAB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1AB83F-1485-4E39-161D-4AD3FF8833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07C601-0843-EE91-EFA1-39AC6035BCCF}"/>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5" name="Footer Placeholder 4">
            <a:extLst>
              <a:ext uri="{FF2B5EF4-FFF2-40B4-BE49-F238E27FC236}">
                <a16:creationId xmlns:a16="http://schemas.microsoft.com/office/drawing/2014/main" id="{5DB99449-2C62-2B36-2F54-8C14C84FA5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6EBC43-AC1F-1AFF-9D37-9D0514CA7335}"/>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264314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DBBABD-0DF4-6ADE-361D-4FAE2F6C4C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F65B5A-9A96-CA1E-DE77-1E1269C1B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CB0F49-17FE-CF85-22D1-CF2C47733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E9B49C-C8FD-4344-8CD3-ED4C91409D68}" type="datetimeFigureOut">
              <a:rPr lang="en-US" smtClean="0"/>
              <a:t>7/14/24</a:t>
            </a:fld>
            <a:endParaRPr lang="en-US"/>
          </a:p>
        </p:txBody>
      </p:sp>
      <p:sp>
        <p:nvSpPr>
          <p:cNvPr id="5" name="Footer Placeholder 4">
            <a:extLst>
              <a:ext uri="{FF2B5EF4-FFF2-40B4-BE49-F238E27FC236}">
                <a16:creationId xmlns:a16="http://schemas.microsoft.com/office/drawing/2014/main" id="{65E5ABE4-2438-57F3-F77E-B272A49E8A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EF92FD-D28C-396F-E86B-DDBB7E4D47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0BFA93-80F6-FA45-A2F9-95A3BC2EC460}" type="slidenum">
              <a:rPr lang="en-US" smtClean="0"/>
              <a:t>‹#›</a:t>
            </a:fld>
            <a:endParaRPr lang="en-US"/>
          </a:p>
        </p:txBody>
      </p:sp>
    </p:spTree>
    <p:extLst>
      <p:ext uri="{BB962C8B-B14F-4D97-AF65-F5344CB8AC3E}">
        <p14:creationId xmlns:p14="http://schemas.microsoft.com/office/powerpoint/2010/main" val="3237697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C80CB-850D-B57D-2885-24D9CC950911}"/>
              </a:ext>
            </a:extLst>
          </p:cNvPr>
          <p:cNvSpPr>
            <a:spLocks noGrp="1"/>
          </p:cNvSpPr>
          <p:nvPr>
            <p:ph type="ctrTitle"/>
          </p:nvPr>
        </p:nvSpPr>
        <p:spPr>
          <a:xfrm>
            <a:off x="1524000" y="0"/>
            <a:ext cx="9144000" cy="2387600"/>
          </a:xfrm>
        </p:spPr>
        <p:txBody>
          <a:bodyPr>
            <a:normAutofit/>
          </a:bodyPr>
          <a:lstStyle/>
          <a:p>
            <a:r>
              <a:rPr lang="en-US" dirty="0"/>
              <a:t>Lecture 11</a:t>
            </a:r>
            <a:br>
              <a:rPr lang="en-US" dirty="0"/>
            </a:br>
            <a:r>
              <a:rPr lang="en-US" dirty="0"/>
              <a:t>Image Restoration</a:t>
            </a:r>
          </a:p>
        </p:txBody>
      </p:sp>
      <p:sp>
        <p:nvSpPr>
          <p:cNvPr id="3" name="Subtitle 2">
            <a:extLst>
              <a:ext uri="{FF2B5EF4-FFF2-40B4-BE49-F238E27FC236}">
                <a16:creationId xmlns:a16="http://schemas.microsoft.com/office/drawing/2014/main" id="{EA3925AB-516E-BA4C-6AB2-FAA041E78BF5}"/>
              </a:ext>
            </a:extLst>
          </p:cNvPr>
          <p:cNvSpPr>
            <a:spLocks noGrp="1"/>
          </p:cNvSpPr>
          <p:nvPr>
            <p:ph type="subTitle" idx="1"/>
          </p:nvPr>
        </p:nvSpPr>
        <p:spPr>
          <a:xfrm>
            <a:off x="1524000" y="2601119"/>
            <a:ext cx="9144000" cy="1655762"/>
          </a:xfrm>
        </p:spPr>
        <p:txBody>
          <a:bodyPr>
            <a:normAutofit/>
          </a:bodyPr>
          <a:lstStyle/>
          <a:p>
            <a:r>
              <a:rPr lang="en-US" sz="3200" dirty="0"/>
              <a:t>ECE 1360/2360</a:t>
            </a:r>
            <a:br>
              <a:rPr lang="en-US" sz="3200" dirty="0"/>
            </a:br>
            <a:r>
              <a:rPr lang="en-US" sz="3200" dirty="0"/>
              <a:t>Image Processing</a:t>
            </a:r>
          </a:p>
        </p:txBody>
      </p:sp>
      <p:sp>
        <p:nvSpPr>
          <p:cNvPr id="4" name="Subtitle 2">
            <a:extLst>
              <a:ext uri="{FF2B5EF4-FFF2-40B4-BE49-F238E27FC236}">
                <a16:creationId xmlns:a16="http://schemas.microsoft.com/office/drawing/2014/main" id="{5B0A0098-675E-E0C4-8109-2166A249C06F}"/>
              </a:ext>
            </a:extLst>
          </p:cNvPr>
          <p:cNvSpPr txBox="1">
            <a:spLocks/>
          </p:cNvSpPr>
          <p:nvPr/>
        </p:nvSpPr>
        <p:spPr>
          <a:xfrm>
            <a:off x="660981" y="3745469"/>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dirty="0"/>
              <a:t>Learning Objectives:</a:t>
            </a:r>
          </a:p>
          <a:p>
            <a:pPr algn="l"/>
            <a:endParaRPr lang="en-US" sz="3200" dirty="0"/>
          </a:p>
          <a:p>
            <a:pPr marL="457200" indent="-457200" algn="l">
              <a:buFont typeface="Arial" panose="020B0604020202020204" pitchFamily="34" charset="0"/>
              <a:buChar char="•"/>
            </a:pPr>
            <a:endParaRPr lang="en-US" sz="3200" dirty="0"/>
          </a:p>
          <a:p>
            <a:pPr marL="457200" indent="-457200" algn="l">
              <a:buFont typeface="Arial" panose="020B0604020202020204" pitchFamily="34" charset="0"/>
              <a:buChar char="•"/>
            </a:pPr>
            <a:endParaRPr lang="en-US" sz="3200" dirty="0"/>
          </a:p>
          <a:p>
            <a:pPr marL="457200" indent="-457200" algn="l">
              <a:buFont typeface="Arial" panose="020B0604020202020204" pitchFamily="34" charset="0"/>
              <a:buChar char="•"/>
            </a:pPr>
            <a:endParaRPr lang="en-US" sz="3200" dirty="0"/>
          </a:p>
          <a:p>
            <a:pPr marL="457200" indent="-457200" algn="l">
              <a:buFont typeface="Arial" panose="020B0604020202020204" pitchFamily="34" charset="0"/>
              <a:buChar char="•"/>
            </a:pPr>
            <a:endParaRPr lang="en-US" sz="3200" dirty="0"/>
          </a:p>
          <a:p>
            <a:pPr marL="457200" indent="-457200" algn="l">
              <a:buFont typeface="Arial" panose="020B0604020202020204" pitchFamily="34" charset="0"/>
              <a:buChar char="•"/>
            </a:pPr>
            <a:endParaRPr lang="en-US" sz="3200" dirty="0"/>
          </a:p>
        </p:txBody>
      </p:sp>
    </p:spTree>
    <p:extLst>
      <p:ext uri="{BB962C8B-B14F-4D97-AF65-F5344CB8AC3E}">
        <p14:creationId xmlns:p14="http://schemas.microsoft.com/office/powerpoint/2010/main" val="3976350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50D11-BE09-E3D9-93F7-660A7DD74A4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FE0E10-0049-3634-DD18-6EA58CCE19E8}"/>
              </a:ext>
            </a:extLst>
          </p:cNvPr>
          <p:cNvSpPr>
            <a:spLocks noGrp="1"/>
          </p:cNvSpPr>
          <p:nvPr>
            <p:ph idx="1"/>
          </p:nvPr>
        </p:nvSpPr>
        <p:spPr/>
        <p:txBody>
          <a:bodyPr/>
          <a:lstStyle/>
          <a:p>
            <a:r>
              <a:rPr lang="en-US" b="0" i="0" dirty="0">
                <a:solidFill>
                  <a:srgbClr val="EEF0FF"/>
                </a:solidFill>
                <a:effectLst/>
                <a:highlight>
                  <a:srgbClr val="1F1F1F"/>
                </a:highlight>
                <a:latin typeface="Google Sans"/>
              </a:rPr>
              <a:t>Image restoration in digital image processing is the process of recovering a corrupted or degraded image, such as a blurred or noisy image, into its original state. It's different from image enhancement, which is used to create new characteristics in an image to make it more visually appealing. Image restoration is an image-to-image operation that reverses the process that blurred the image</a:t>
            </a:r>
            <a:endParaRPr lang="en-US" dirty="0"/>
          </a:p>
        </p:txBody>
      </p:sp>
    </p:spTree>
    <p:extLst>
      <p:ext uri="{BB962C8B-B14F-4D97-AF65-F5344CB8AC3E}">
        <p14:creationId xmlns:p14="http://schemas.microsoft.com/office/powerpoint/2010/main" val="3582633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02FD2-F25C-5CCA-1CFA-DE3449008024}"/>
              </a:ext>
            </a:extLst>
          </p:cNvPr>
          <p:cNvSpPr>
            <a:spLocks noGrp="1"/>
          </p:cNvSpPr>
          <p:nvPr>
            <p:ph type="title"/>
          </p:nvPr>
        </p:nvSpPr>
        <p:spPr/>
        <p:txBody>
          <a:bodyPr/>
          <a:lstStyle/>
          <a:p>
            <a:endParaRPr lang="en-US"/>
          </a:p>
        </p:txBody>
      </p:sp>
      <p:pic>
        <p:nvPicPr>
          <p:cNvPr id="51202" name="Picture 2">
            <a:extLst>
              <a:ext uri="{FF2B5EF4-FFF2-40B4-BE49-F238E27FC236}">
                <a16:creationId xmlns:a16="http://schemas.microsoft.com/office/drawing/2014/main" id="{6597B067-28CF-1879-8623-0C8A403235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0306" y="2298700"/>
            <a:ext cx="7015394" cy="295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6923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6C6AB-3B6B-8FB0-287F-585A9AA0B8B4}"/>
              </a:ext>
            </a:extLst>
          </p:cNvPr>
          <p:cNvSpPr>
            <a:spLocks noGrp="1"/>
          </p:cNvSpPr>
          <p:nvPr>
            <p:ph type="title"/>
          </p:nvPr>
        </p:nvSpPr>
        <p:spPr/>
        <p:txBody>
          <a:bodyPr/>
          <a:lstStyle/>
          <a:p>
            <a:endParaRPr lang="en-US"/>
          </a:p>
        </p:txBody>
      </p:sp>
      <p:sp>
        <p:nvSpPr>
          <p:cNvPr id="4" name="Rectangle 1">
            <a:extLst>
              <a:ext uri="{FF2B5EF4-FFF2-40B4-BE49-F238E27FC236}">
                <a16:creationId xmlns:a16="http://schemas.microsoft.com/office/drawing/2014/main" id="{2BB79965-07CE-7716-5BC4-FD5F280E0086}"/>
              </a:ext>
            </a:extLst>
          </p:cNvPr>
          <p:cNvSpPr>
            <a:spLocks noChangeArrowheads="1"/>
          </p:cNvSpPr>
          <p:nvPr/>
        </p:nvSpPr>
        <p:spPr bwMode="auto">
          <a:xfrm>
            <a:off x="2463800" y="-3614393"/>
            <a:ext cx="8631936" cy="140867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09465" rIns="0" bIns="-4443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42424"/>
                </a:solidFill>
                <a:effectLst/>
                <a:latin typeface="sohne"/>
              </a:rPr>
              <a:t>Challenges in Image Restoration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42424"/>
                </a:solidFill>
                <a:effectLst/>
                <a:latin typeface="source-serif-pro"/>
              </a:rPr>
              <a:t>Although digital image restoration techniques have come a long way, there are still several challenges that need to be addressed. Here are a few of the most significant challenges:</a:t>
            </a:r>
            <a:endParaRPr kumimoji="0" lang="en-US" altLang="en-US" sz="1800" b="1" i="0" u="none" strike="noStrike" cap="none" normalizeH="0" baseline="0" dirty="0">
              <a:ln>
                <a:noFill/>
              </a:ln>
              <a:solidFill>
                <a:srgbClr val="242424"/>
              </a:solidFill>
              <a:effectLst/>
              <a:latin typeface="sohn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42424"/>
                </a:solidFill>
                <a:effectLst/>
                <a:latin typeface="sohne"/>
              </a:rPr>
              <a:t>Lack of Information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42424"/>
                </a:solidFill>
                <a:effectLst/>
                <a:latin typeface="source-serif-pro"/>
              </a:rPr>
              <a:t>Sometimes, the degradation in the image is so severe that it is impossible to restore the image to its original quality. This can happen when there is a lack of information in the original image. For example, if an image is heavily compressed, some information may be lost, making it impossible to restore the image to its original quality.</a:t>
            </a:r>
            <a:endParaRPr kumimoji="0" lang="en-US" altLang="en-US" sz="1800" b="1" i="0" u="none" strike="noStrike" cap="none" normalizeH="0" baseline="0" dirty="0">
              <a:ln>
                <a:noFill/>
              </a:ln>
              <a:solidFill>
                <a:srgbClr val="242424"/>
              </a:solidFill>
              <a:effectLst/>
              <a:latin typeface="sohn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42424"/>
                </a:solidFill>
                <a:effectLst/>
                <a:latin typeface="sohne"/>
              </a:rPr>
              <a:t>Computational Complexity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42424"/>
                </a:solidFill>
                <a:effectLst/>
                <a:latin typeface="source-serif-pro"/>
              </a:rPr>
              <a:t>Image restoration is a complex process that involves numerous computational steps, which can make it a resource-intensive task. This means that restoring high-resolution images in real-time can be challenging, as it requires a lot of processing power. However, recent advances in hardware and software technology have made it possible to improve the speed and efficiency of image restoration algorithms. Researchers are constantly exploring new techniques and methods to enhance the accuracy and quality of restored images, while also reducing the computational demands of the process. Despite these advancements, there is still much to learn and improve upon in the field of image restoration, as it remains a critical area of research in numerous industries, including healthcare, entertainment, and security.</a:t>
            </a:r>
            <a:endParaRPr kumimoji="0" lang="en-US" altLang="en-US" sz="1800" b="1" i="0" u="none" strike="noStrike" cap="none" normalizeH="0" baseline="0" dirty="0">
              <a:ln>
                <a:noFill/>
              </a:ln>
              <a:solidFill>
                <a:srgbClr val="242424"/>
              </a:solidFill>
              <a:effectLst/>
              <a:latin typeface="sohn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42424"/>
                </a:solidFill>
                <a:effectLst/>
                <a:latin typeface="sohne"/>
              </a:rPr>
              <a:t>Overfitting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42424"/>
                </a:solidFill>
                <a:effectLst/>
                <a:latin typeface="source-serif-pro"/>
              </a:rPr>
              <a:t>When it comes to image restoration, overfitting can be a particularly significant problem. In this scenario, the algorithm is trained on a set of images, and it learns to restore them to their original state. However, if the algorithm becomes too specialized during training, it may not be able to generalize well to new images that it has not seen before. This can lead to poor results, which is something that needs to be carefully considered when using machine learning for image restoration.</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06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Fig 4.</a:t>
            </a:r>
            <a:endParaRPr kumimoji="0" lang="en-US" altLang="en-US" sz="1800" b="1" i="0" u="none" strike="noStrike" cap="none" normalizeH="0" baseline="0" dirty="0">
              <a:ln>
                <a:noFill/>
              </a:ln>
              <a:solidFill>
                <a:srgbClr val="242424"/>
              </a:solidFill>
              <a:effectLst/>
              <a:latin typeface="sohn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42424"/>
                </a:solidFill>
                <a:effectLst/>
                <a:latin typeface="sohne"/>
              </a:rPr>
              <a:t>Multi-Dimensional Data Restoration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42424"/>
                </a:solidFill>
                <a:effectLst/>
                <a:latin typeface="source-serif-pro"/>
              </a:rPr>
              <a:t>Another challenge in image restoration is multi-dimensional data restoration. This is when images have multiple dimensions, such as color channels, depth, or time. Traditional image restoration techniques are often limited to two dimensions, which can make it difficult to restore images with additional dimensions. However, recent advances in machine learning and deep learning have made it possible to restore multi-dimensional data with greater accuracy and efficiency, making it possible to restore images with more complex structures.</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2226" name="Picture 2">
            <a:extLst>
              <a:ext uri="{FF2B5EF4-FFF2-40B4-BE49-F238E27FC236}">
                <a16:creationId xmlns:a16="http://schemas.microsoft.com/office/drawing/2014/main" id="{70D4EA07-1B62-48B5-FE2A-6025A6A705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216274"/>
            <a:ext cx="8890000" cy="327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464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TotalTime>
  <Words>508</Words>
  <Application>Microsoft Macintosh PowerPoint</Application>
  <PresentationFormat>Widescreen</PresentationFormat>
  <Paragraphs>21</Paragraphs>
  <Slides>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Aptos</vt:lpstr>
      <vt:lpstr>Aptos Display</vt:lpstr>
      <vt:lpstr>Arial</vt:lpstr>
      <vt:lpstr>Google Sans</vt:lpstr>
      <vt:lpstr>sohne</vt:lpstr>
      <vt:lpstr>source-serif-pro</vt:lpstr>
      <vt:lpstr>Office Theme</vt:lpstr>
      <vt:lpstr>Lecture 11 Image Restoration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University of Pittsburgh University of Pittsburgh</dc:creator>
  <cp:lastModifiedBy>University of Pittsburgh University of Pittsburgh</cp:lastModifiedBy>
  <cp:revision>13</cp:revision>
  <dcterms:created xsi:type="dcterms:W3CDTF">2024-07-14T13:25:54Z</dcterms:created>
  <dcterms:modified xsi:type="dcterms:W3CDTF">2024-07-14T15:04:26Z</dcterms:modified>
</cp:coreProperties>
</file>