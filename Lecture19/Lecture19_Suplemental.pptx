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67" r:id="rId14"/>
    <p:sldId id="270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>
        <p:scale>
          <a:sx n="94" d="100"/>
          <a:sy n="94" d="100"/>
        </p:scale>
        <p:origin x="6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77193-E5E4-0840-A77E-8B2D19869A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821CC-CA66-2841-BD89-B8F6195CE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821CC-CA66-2841-BD89-B8F6195CEB1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59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CCC2-6404-0C6D-028B-3769BCDBD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D40A2-9BA8-D715-B66B-B99F0043D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FD92-3955-BC2A-7FF0-30A3F616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218FB-2A56-473C-736B-24AEC228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E0872-1808-203B-0BCB-E155EDEC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8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BCB6-BD9C-F393-B935-E4B540B5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6D1B0-2B92-3B81-1B96-8615BE0B3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AB2A0-1CEC-8280-4EB9-DEE6C538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3C863-DB3F-11B7-3F7F-5DB1BD0B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F75D6-781E-2F33-12F3-F2D75681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4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7112-6EAB-DCBD-4981-AAFE0762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43283-776F-C81F-57D2-EA309154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8CB25-A7E4-15B8-22DB-B34D196D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2626-DFCA-909E-5838-280C895B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8CC98-B2EE-4CA2-FE5E-4F4A78A9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5B37-9BBB-9021-2174-3495550F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7669E-BC55-AC63-DCB1-9FC23CA3C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FDA88-1821-48D6-6055-AA96E3DFE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99846-44C1-CA56-9479-7C55C243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28184-9E2A-AE22-B1F0-39A8813A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3F16E-C86E-F765-67A7-014F6523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EC3D-C874-762D-3EB8-A3648841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615DE-46FB-229E-2B0E-80F5C0EB2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F75CC-4B58-6023-BEA3-A1BE3BDC2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FFBD1-FFAF-7CC2-C583-0B8D7FEDA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3FB3C-42E2-CBEE-8650-31683BD0D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583234-339C-D1BE-32CE-F93D7694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AD83C-CBF7-B439-1F79-3FB76E4B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699FE-C565-19AF-CB1B-5B75A604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842C-5D9C-E5DD-FE57-DD518EDA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1BFC9-032A-5F46-BEC8-08128EBC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5696D-7A05-1679-E4CC-356D8B5A5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CABDF-2686-B913-F14C-DC63B2E9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BC023-A4BC-4279-A7DF-EDAD7A17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E200B-5456-3B6D-6A94-F36D5BFD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253BD-4A7E-995B-5271-BBCBB0F1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7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39D8-5F34-B8C4-B543-53EC10AC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0448E-75AC-4287-26D5-3910790DB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E2C43-AEED-091D-3195-5CAC839E4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0FD26-342A-D270-9442-81A76E7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286DB-3984-32A2-FDB9-BE01BB46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66E51-C9F5-FDAA-78DB-9765F6F4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4D75-2331-0CE5-EB9C-142B313D6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82F3B-AF8F-AE8D-09B5-A7CD9E8BC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9FE88-0796-A92B-3EC7-5DC360349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F99E8-9CA1-9591-C89E-91B50932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2DAA8-BC40-0328-EFE1-BAC77B8B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AD20C-D5EA-E328-65CD-FA8B06F0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8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C340-99E7-644C-F3AF-FAD7D1D6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EFD96-E133-5F92-4C93-B3BE53FFB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E070D-C2BF-5D37-66FC-D99D894C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CD353-1D02-CE6C-EAC5-CD27B9F23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60094-752E-0EFB-BB04-17B922CF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9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1ECB20-6520-3D06-5A66-9394BB3A3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98A37-7A13-E759-E311-D3C4C2EF0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48AA4-3200-E43B-C41F-05ECFB78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C2A3-1C84-FB43-CF0E-0891ACFE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7919-C2CD-3C36-8D12-174FE672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6226C-363C-ED0C-67C5-C379A0C37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278EF-3A61-ABCF-092F-0E5C407B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C5AB6-058E-AC8C-8CE5-12EF2F272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7BB46-29AB-7341-A087-164F627A11D7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B532-C9BC-75EE-7B66-B83006EA9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840D-3CD6-D853-1BFB-E14BECF60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9A13E-84DB-B542-AE6C-CC59CC758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7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F640-4FAC-027D-0FFF-F251D5683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B216E-3C04-4394-5F43-598ED6778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38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vex Hull Algorithm - GeeksforGeeks">
            <a:extLst>
              <a:ext uri="{FF2B5EF4-FFF2-40B4-BE49-F238E27FC236}">
                <a16:creationId xmlns:a16="http://schemas.microsoft.com/office/drawing/2014/main" id="{D93F5355-33D7-F2F2-CBEB-AD51EAE43A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15"/>
          <a:stretch>
            <a:fillRect/>
          </a:stretch>
        </p:blipFill>
        <p:spPr bwMode="auto">
          <a:xfrm>
            <a:off x="147252" y="2173284"/>
            <a:ext cx="6957883" cy="358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onvex Hull Algorithm - GeeksforGeeks">
            <a:extLst>
              <a:ext uri="{FF2B5EF4-FFF2-40B4-BE49-F238E27FC236}">
                <a16:creationId xmlns:a16="http://schemas.microsoft.com/office/drawing/2014/main" id="{83C143F9-662F-AD5D-346A-0AFED73B9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8034982" y="2362754"/>
            <a:ext cx="2703039" cy="358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0E9D64-8CD6-FF27-BFE5-51BA28AD8331}"/>
              </a:ext>
            </a:extLst>
          </p:cNvPr>
          <p:cNvCxnSpPr>
            <a:cxnSpLocks/>
          </p:cNvCxnSpPr>
          <p:nvPr/>
        </p:nvCxnSpPr>
        <p:spPr>
          <a:xfrm>
            <a:off x="8799755" y="3345628"/>
            <a:ext cx="367195" cy="620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249C0-3520-0455-B2A9-2BC76BDDCA97}"/>
              </a:ext>
            </a:extLst>
          </p:cNvPr>
          <p:cNvCxnSpPr>
            <a:cxnSpLocks/>
          </p:cNvCxnSpPr>
          <p:nvPr/>
        </p:nvCxnSpPr>
        <p:spPr>
          <a:xfrm>
            <a:off x="8799755" y="3345628"/>
            <a:ext cx="666974" cy="2259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4D8106-7CA3-6988-EAF5-143FA11CF63B}"/>
              </a:ext>
            </a:extLst>
          </p:cNvPr>
          <p:cNvCxnSpPr>
            <a:cxnSpLocks/>
          </p:cNvCxnSpPr>
          <p:nvPr/>
        </p:nvCxnSpPr>
        <p:spPr>
          <a:xfrm flipV="1">
            <a:off x="9435401" y="3119718"/>
            <a:ext cx="411588" cy="451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181018-1A99-FA88-FCC8-A11F0EFA11AA}"/>
              </a:ext>
            </a:extLst>
          </p:cNvPr>
          <p:cNvCxnSpPr>
            <a:cxnSpLocks/>
          </p:cNvCxnSpPr>
          <p:nvPr/>
        </p:nvCxnSpPr>
        <p:spPr>
          <a:xfrm flipV="1">
            <a:off x="9846989" y="3119718"/>
            <a:ext cx="0" cy="68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6BDBD5-3621-B25F-1FF4-86C51FE1BE6E}"/>
              </a:ext>
            </a:extLst>
          </p:cNvPr>
          <p:cNvCxnSpPr>
            <a:cxnSpLocks/>
          </p:cNvCxnSpPr>
          <p:nvPr/>
        </p:nvCxnSpPr>
        <p:spPr>
          <a:xfrm>
            <a:off x="9846989" y="3808207"/>
            <a:ext cx="7062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85D5EB-B512-9E57-D1C3-D89ED9300C5F}"/>
              </a:ext>
            </a:extLst>
          </p:cNvPr>
          <p:cNvCxnSpPr>
            <a:cxnSpLocks/>
          </p:cNvCxnSpPr>
          <p:nvPr/>
        </p:nvCxnSpPr>
        <p:spPr>
          <a:xfrm flipV="1">
            <a:off x="10101431" y="3808207"/>
            <a:ext cx="451821" cy="688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AD7909-DDD6-8928-6141-052E2140108D}"/>
              </a:ext>
            </a:extLst>
          </p:cNvPr>
          <p:cNvCxnSpPr>
            <a:cxnSpLocks/>
          </p:cNvCxnSpPr>
          <p:nvPr/>
        </p:nvCxnSpPr>
        <p:spPr>
          <a:xfrm flipH="1" flipV="1">
            <a:off x="10072899" y="4565171"/>
            <a:ext cx="329746" cy="68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290C98-078D-13C8-807D-427190555CD7}"/>
              </a:ext>
            </a:extLst>
          </p:cNvPr>
          <p:cNvCxnSpPr>
            <a:cxnSpLocks/>
          </p:cNvCxnSpPr>
          <p:nvPr/>
        </p:nvCxnSpPr>
        <p:spPr>
          <a:xfrm flipH="1">
            <a:off x="9641195" y="5253660"/>
            <a:ext cx="6861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A5F540-DF20-A870-4360-FE62430A9E08}"/>
              </a:ext>
            </a:extLst>
          </p:cNvPr>
          <p:cNvCxnSpPr>
            <a:cxnSpLocks/>
          </p:cNvCxnSpPr>
          <p:nvPr/>
        </p:nvCxnSpPr>
        <p:spPr>
          <a:xfrm flipV="1">
            <a:off x="9627131" y="4776395"/>
            <a:ext cx="0" cy="477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6E223E-E06A-FAFE-8C13-3B6647DD0FD9}"/>
              </a:ext>
            </a:extLst>
          </p:cNvPr>
          <p:cNvCxnSpPr>
            <a:cxnSpLocks/>
          </p:cNvCxnSpPr>
          <p:nvPr/>
        </p:nvCxnSpPr>
        <p:spPr>
          <a:xfrm flipV="1">
            <a:off x="8940985" y="4771358"/>
            <a:ext cx="654703" cy="138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FA06D4C-B10B-1737-AE6A-1DF7C1C2A51C}"/>
              </a:ext>
            </a:extLst>
          </p:cNvPr>
          <p:cNvCxnSpPr>
            <a:cxnSpLocks/>
          </p:cNvCxnSpPr>
          <p:nvPr/>
        </p:nvCxnSpPr>
        <p:spPr>
          <a:xfrm>
            <a:off x="8605609" y="4317519"/>
            <a:ext cx="352375" cy="572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3B5673-0279-BDAD-A03B-863271C93EB8}"/>
              </a:ext>
            </a:extLst>
          </p:cNvPr>
          <p:cNvCxnSpPr>
            <a:cxnSpLocks/>
          </p:cNvCxnSpPr>
          <p:nvPr/>
        </p:nvCxnSpPr>
        <p:spPr>
          <a:xfrm flipV="1">
            <a:off x="8610648" y="3965766"/>
            <a:ext cx="570716" cy="351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FAFDCAC-7B60-A796-66A7-090C83A008ED}"/>
              </a:ext>
            </a:extLst>
          </p:cNvPr>
          <p:cNvSpPr txBox="1"/>
          <p:nvPr/>
        </p:nvSpPr>
        <p:spPr>
          <a:xfrm>
            <a:off x="4787154" y="2269864"/>
            <a:ext cx="1450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Convex Hull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CB8EFB-92BE-40E4-46E1-031DEACF22D1}"/>
              </a:ext>
            </a:extLst>
          </p:cNvPr>
          <p:cNvSpPr txBox="1"/>
          <p:nvPr/>
        </p:nvSpPr>
        <p:spPr>
          <a:xfrm>
            <a:off x="8799755" y="2212326"/>
            <a:ext cx="159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Concave Hull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A1D4C2-CE65-F086-AEAA-37B1EEE88999}"/>
              </a:ext>
            </a:extLst>
          </p:cNvPr>
          <p:cNvSpPr txBox="1"/>
          <p:nvPr/>
        </p:nvSpPr>
        <p:spPr>
          <a:xfrm>
            <a:off x="4787154" y="5854829"/>
            <a:ext cx="206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interior angles exceed 180</a:t>
            </a:r>
            <a:r>
              <a:rPr lang="en-US" baseline="30000" dirty="0"/>
              <a:t>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2082FF-4F05-48B7-D6F7-1468ECC78453}"/>
              </a:ext>
            </a:extLst>
          </p:cNvPr>
          <p:cNvSpPr txBox="1"/>
          <p:nvPr/>
        </p:nvSpPr>
        <p:spPr>
          <a:xfrm>
            <a:off x="284315" y="35684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Convex Hull</a:t>
            </a:r>
          </a:p>
        </p:txBody>
      </p:sp>
    </p:spTree>
    <p:extLst>
      <p:ext uri="{BB962C8B-B14F-4D97-AF65-F5344CB8AC3E}">
        <p14:creationId xmlns:p14="http://schemas.microsoft.com/office/powerpoint/2010/main" val="2471373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DB6D7092-28B5-2FFF-A373-22E8F8E67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287BC-912C-D80D-1D81-A21AE99DE7C2}"/>
              </a:ext>
            </a:extLst>
          </p:cNvPr>
          <p:cNvSpPr txBox="1"/>
          <p:nvPr/>
        </p:nvSpPr>
        <p:spPr>
          <a:xfrm>
            <a:off x="7006280" y="474691"/>
            <a:ext cx="3421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Jarvis’ March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5EE50-5B61-F926-4D44-293FDF0B6229}"/>
              </a:ext>
            </a:extLst>
          </p:cNvPr>
          <p:cNvSpPr txBox="1"/>
          <p:nvPr/>
        </p:nvSpPr>
        <p:spPr>
          <a:xfrm>
            <a:off x="6244281" y="1383956"/>
            <a:ext cx="266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Find Leftmost point (P)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D64C0-F788-5CFC-ABC2-14830230A822}"/>
              </a:ext>
            </a:extLst>
          </p:cNvPr>
          <p:cNvSpPr txBox="1"/>
          <p:nvPr/>
        </p:nvSpPr>
        <p:spPr>
          <a:xfrm>
            <a:off x="1037967" y="3521676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86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E9B3-68EB-F256-5CD5-5B725296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792B65C7-DA15-9A9D-25C2-BE02E1642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DE56C-28D0-798B-DAE9-793618F2CB53}"/>
              </a:ext>
            </a:extLst>
          </p:cNvPr>
          <p:cNvSpPr txBox="1"/>
          <p:nvPr/>
        </p:nvSpPr>
        <p:spPr>
          <a:xfrm>
            <a:off x="7006280" y="474691"/>
            <a:ext cx="3421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Jarvis’ March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CD1C-C905-CE09-54C9-E6AAE7C39288}"/>
              </a:ext>
            </a:extLst>
          </p:cNvPr>
          <p:cNvSpPr txBox="1"/>
          <p:nvPr/>
        </p:nvSpPr>
        <p:spPr>
          <a:xfrm>
            <a:off x="6244281" y="1383956"/>
            <a:ext cx="5445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(P)</a:t>
            </a:r>
          </a:p>
          <a:p>
            <a:pPr marL="342900" indent="-342900">
              <a:buAutoNum type="arabicParenR"/>
            </a:pPr>
            <a:r>
              <a:rPr lang="en-US" dirty="0"/>
              <a:t>Find next point (Q) such that every other point would counter-clockwise the pair (P,Q)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EBA71-41BB-DDC5-90B5-35998AA78084}"/>
              </a:ext>
            </a:extLst>
          </p:cNvPr>
          <p:cNvSpPr txBox="1"/>
          <p:nvPr/>
        </p:nvSpPr>
        <p:spPr>
          <a:xfrm>
            <a:off x="1037967" y="3521676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E9DD5E-EE99-8C83-57EA-CF686EFEA930}"/>
              </a:ext>
            </a:extLst>
          </p:cNvPr>
          <p:cNvCxnSpPr>
            <a:cxnSpLocks/>
          </p:cNvCxnSpPr>
          <p:nvPr/>
        </p:nvCxnSpPr>
        <p:spPr>
          <a:xfrm flipH="1" flipV="1">
            <a:off x="1248032" y="3783286"/>
            <a:ext cx="473675" cy="603363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080C08-1814-1DDA-9396-5D73005FECA1}"/>
              </a:ext>
            </a:extLst>
          </p:cNvPr>
          <p:cNvSpPr txBox="1"/>
          <p:nvPr/>
        </p:nvSpPr>
        <p:spPr>
          <a:xfrm>
            <a:off x="1635210" y="4059371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ABB83F-76BD-0CD8-848A-57E14CE3BEEE}"/>
              </a:ext>
            </a:extLst>
          </p:cNvPr>
          <p:cNvCxnSpPr>
            <a:cxnSpLocks/>
          </p:cNvCxnSpPr>
          <p:nvPr/>
        </p:nvCxnSpPr>
        <p:spPr>
          <a:xfrm flipH="1">
            <a:off x="1721707" y="2753262"/>
            <a:ext cx="720811" cy="1760731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CEB0DC-386A-5582-A020-25C7CD6A2052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248032" y="2792627"/>
            <a:ext cx="1200665" cy="729049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541F9A-8FC8-8600-47EA-7947F6522402}"/>
              </a:ext>
            </a:extLst>
          </p:cNvPr>
          <p:cNvCxnSpPr>
            <a:cxnSpLocks/>
          </p:cNvCxnSpPr>
          <p:nvPr/>
        </p:nvCxnSpPr>
        <p:spPr>
          <a:xfrm flipH="1">
            <a:off x="1721707" y="4513993"/>
            <a:ext cx="934996" cy="0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DEA34C-0C66-B737-C966-F29FF422753E}"/>
              </a:ext>
            </a:extLst>
          </p:cNvPr>
          <p:cNvCxnSpPr>
            <a:cxnSpLocks/>
          </p:cNvCxnSpPr>
          <p:nvPr/>
        </p:nvCxnSpPr>
        <p:spPr>
          <a:xfrm>
            <a:off x="1400432" y="3674076"/>
            <a:ext cx="1355125" cy="576648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A4B2C9-719B-360C-7AC1-7BF34004A204}"/>
              </a:ext>
            </a:extLst>
          </p:cNvPr>
          <p:cNvCxnSpPr>
            <a:cxnSpLocks/>
          </p:cNvCxnSpPr>
          <p:nvPr/>
        </p:nvCxnSpPr>
        <p:spPr>
          <a:xfrm flipH="1" flipV="1">
            <a:off x="1715528" y="4442490"/>
            <a:ext cx="1037969" cy="525396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51447B-EBED-3362-4282-F2D331B15811}"/>
              </a:ext>
            </a:extLst>
          </p:cNvPr>
          <p:cNvCxnSpPr>
            <a:cxnSpLocks/>
          </p:cNvCxnSpPr>
          <p:nvPr/>
        </p:nvCxnSpPr>
        <p:spPr>
          <a:xfrm>
            <a:off x="1232585" y="3728681"/>
            <a:ext cx="1473543" cy="1199440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46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18FD-F8F2-51E4-015E-2C165A7E4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D48B7E14-DB99-165A-9FD2-7AE422DC8B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E4A2BF-AA3F-C73E-3E34-711DC437419E}"/>
              </a:ext>
            </a:extLst>
          </p:cNvPr>
          <p:cNvSpPr txBox="1"/>
          <p:nvPr/>
        </p:nvSpPr>
        <p:spPr>
          <a:xfrm>
            <a:off x="7006280" y="474691"/>
            <a:ext cx="3421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Jarvis’ March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00A647-4B94-39A6-1B91-6098D73F5A17}"/>
              </a:ext>
            </a:extLst>
          </p:cNvPr>
          <p:cNvSpPr txBox="1"/>
          <p:nvPr/>
        </p:nvSpPr>
        <p:spPr>
          <a:xfrm>
            <a:off x="6244281" y="1383956"/>
            <a:ext cx="5445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(P)</a:t>
            </a:r>
          </a:p>
          <a:p>
            <a:pPr marL="342900" indent="-342900">
              <a:buAutoNum type="arabicParenR"/>
            </a:pPr>
            <a:r>
              <a:rPr lang="en-US" dirty="0"/>
              <a:t>Find next point (Q) such that every other point would counter-clockwise the pair (P,Q) </a:t>
            </a:r>
          </a:p>
          <a:p>
            <a:pPr marL="342900" indent="-342900">
              <a:buAutoNum type="arabicParenR"/>
            </a:pPr>
            <a:r>
              <a:rPr lang="en-US" dirty="0"/>
              <a:t>Move P to next point and repeat the process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865CE-84B2-552F-7F51-8A26ECD13CA0}"/>
              </a:ext>
            </a:extLst>
          </p:cNvPr>
          <p:cNvSpPr txBox="1"/>
          <p:nvPr/>
        </p:nvSpPr>
        <p:spPr>
          <a:xfrm>
            <a:off x="1657865" y="4045954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43EF58-42AA-5241-08E6-19ED72DB53A1}"/>
              </a:ext>
            </a:extLst>
          </p:cNvPr>
          <p:cNvCxnSpPr>
            <a:cxnSpLocks/>
          </p:cNvCxnSpPr>
          <p:nvPr/>
        </p:nvCxnSpPr>
        <p:spPr>
          <a:xfrm flipH="1" flipV="1">
            <a:off x="1237735" y="3812236"/>
            <a:ext cx="473675" cy="603363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56F7C8-9E3C-6CD1-C559-D84929E29B91}"/>
              </a:ext>
            </a:extLst>
          </p:cNvPr>
          <p:cNvSpPr txBox="1"/>
          <p:nvPr/>
        </p:nvSpPr>
        <p:spPr>
          <a:xfrm>
            <a:off x="2574324" y="4789902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9DAA0B-5044-987A-A6FE-95CF95C18808}"/>
              </a:ext>
            </a:extLst>
          </p:cNvPr>
          <p:cNvCxnSpPr>
            <a:cxnSpLocks/>
          </p:cNvCxnSpPr>
          <p:nvPr/>
        </p:nvCxnSpPr>
        <p:spPr>
          <a:xfrm>
            <a:off x="1551802" y="2307286"/>
            <a:ext cx="1284074" cy="2712097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3E87A7-8EE2-AA22-ECF4-333DED6FC38C}"/>
              </a:ext>
            </a:extLst>
          </p:cNvPr>
          <p:cNvCxnSpPr>
            <a:cxnSpLocks/>
          </p:cNvCxnSpPr>
          <p:nvPr/>
        </p:nvCxnSpPr>
        <p:spPr>
          <a:xfrm>
            <a:off x="1793789" y="4385941"/>
            <a:ext cx="2018270" cy="633442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948B03-6AFC-E304-1AFE-D2903010AC2B}"/>
              </a:ext>
            </a:extLst>
          </p:cNvPr>
          <p:cNvCxnSpPr>
            <a:cxnSpLocks/>
          </p:cNvCxnSpPr>
          <p:nvPr/>
        </p:nvCxnSpPr>
        <p:spPr>
          <a:xfrm flipH="1">
            <a:off x="2784389" y="5082226"/>
            <a:ext cx="934996" cy="0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64D89A-4195-A241-1EA7-7AE1EA1FBDBD}"/>
              </a:ext>
            </a:extLst>
          </p:cNvPr>
          <p:cNvCxnSpPr>
            <a:cxnSpLocks/>
          </p:cNvCxnSpPr>
          <p:nvPr/>
        </p:nvCxnSpPr>
        <p:spPr>
          <a:xfrm flipH="1" flipV="1">
            <a:off x="1517307" y="2307286"/>
            <a:ext cx="229113" cy="2056944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09F9AB7-D9E4-544A-838D-D1BC5AE3A9C6}"/>
              </a:ext>
            </a:extLst>
          </p:cNvPr>
          <p:cNvCxnSpPr>
            <a:cxnSpLocks/>
          </p:cNvCxnSpPr>
          <p:nvPr/>
        </p:nvCxnSpPr>
        <p:spPr>
          <a:xfrm flipV="1">
            <a:off x="1758263" y="4060400"/>
            <a:ext cx="1503920" cy="325541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14D672-C453-8D74-8899-F31CE2CCBF09}"/>
              </a:ext>
            </a:extLst>
          </p:cNvPr>
          <p:cNvCxnSpPr>
            <a:cxnSpLocks/>
          </p:cNvCxnSpPr>
          <p:nvPr/>
        </p:nvCxnSpPr>
        <p:spPr>
          <a:xfrm flipH="1">
            <a:off x="2760706" y="4102942"/>
            <a:ext cx="543695" cy="948570"/>
          </a:xfrm>
          <a:prstGeom prst="line">
            <a:avLst/>
          </a:prstGeom>
          <a:ln>
            <a:solidFill>
              <a:schemeClr val="accent6"/>
            </a:solidFill>
            <a:prstDash val="sysDot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9B67F46-9462-4172-3FCB-138308CC0174}"/>
              </a:ext>
            </a:extLst>
          </p:cNvPr>
          <p:cNvCxnSpPr>
            <a:cxnSpLocks/>
          </p:cNvCxnSpPr>
          <p:nvPr/>
        </p:nvCxnSpPr>
        <p:spPr>
          <a:xfrm flipH="1" flipV="1">
            <a:off x="1738184" y="4417658"/>
            <a:ext cx="1022522" cy="664568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88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1068D-49DA-07E6-7EF5-2B99894A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1F20A1-87A7-0D2E-A02D-820537B96EB2}"/>
              </a:ext>
            </a:extLst>
          </p:cNvPr>
          <p:cNvSpPr txBox="1"/>
          <p:nvPr/>
        </p:nvSpPr>
        <p:spPr>
          <a:xfrm>
            <a:off x="7006280" y="474691"/>
            <a:ext cx="3421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Jarvis’ March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0FF54-43E6-A7E8-C50A-FDEA63640EBA}"/>
              </a:ext>
            </a:extLst>
          </p:cNvPr>
          <p:cNvSpPr txBox="1"/>
          <p:nvPr/>
        </p:nvSpPr>
        <p:spPr>
          <a:xfrm>
            <a:off x="6244281" y="1383956"/>
            <a:ext cx="54452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(P)</a:t>
            </a:r>
          </a:p>
          <a:p>
            <a:pPr marL="342900" indent="-342900">
              <a:buAutoNum type="arabicParenR"/>
            </a:pPr>
            <a:r>
              <a:rPr lang="en-US" dirty="0"/>
              <a:t>Find next point (Q) such that every other point would counter-clockwise the pair (P,Q) </a:t>
            </a:r>
          </a:p>
          <a:p>
            <a:pPr marL="342900" indent="-342900">
              <a:buAutoNum type="arabicParenR"/>
            </a:pPr>
            <a:r>
              <a:rPr lang="en-US" dirty="0"/>
              <a:t>Move P to next point and repeat the process</a:t>
            </a:r>
          </a:p>
          <a:p>
            <a:pPr marL="342900" indent="-342900">
              <a:buAutoNum type="arabicParenR"/>
            </a:pPr>
            <a:r>
              <a:rPr lang="en-US" dirty="0"/>
              <a:t>Repeat until you land back on the first point 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047626-F8CA-CD6A-EF0E-61526FCA8677}"/>
              </a:ext>
            </a:extLst>
          </p:cNvPr>
          <p:cNvGrpSpPr/>
          <p:nvPr/>
        </p:nvGrpSpPr>
        <p:grpSpPr>
          <a:xfrm>
            <a:off x="222421" y="659357"/>
            <a:ext cx="4176583" cy="5539285"/>
            <a:chOff x="222421" y="659357"/>
            <a:chExt cx="4176583" cy="5539285"/>
          </a:xfrm>
        </p:grpSpPr>
        <p:pic>
          <p:nvPicPr>
            <p:cNvPr id="6" name="Picture 2" descr="Convex Hull Algorithm - GeeksforGeeks">
              <a:extLst>
                <a:ext uri="{FF2B5EF4-FFF2-40B4-BE49-F238E27FC236}">
                  <a16:creationId xmlns:a16="http://schemas.microsoft.com/office/drawing/2014/main" id="{61CAF0EF-6C78-DA39-5C7F-1C576A5437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151" b="22115"/>
            <a:stretch>
              <a:fillRect/>
            </a:stretch>
          </p:blipFill>
          <p:spPr bwMode="auto">
            <a:xfrm>
              <a:off x="222421" y="659357"/>
              <a:ext cx="4176583" cy="553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4B54718-635E-B995-99D0-6A94D41856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35" y="3812236"/>
              <a:ext cx="473675" cy="603363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8FDA4175-57E4-74B3-B349-B652D80903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184" y="4417658"/>
              <a:ext cx="1022522" cy="664568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0B3841A-93AE-B95F-0E0B-A7A7226FEE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7480" y="5082226"/>
              <a:ext cx="1030758" cy="0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27D927-EC0E-C06D-2FD3-CE511DAF49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625" y="2965622"/>
              <a:ext cx="169391" cy="2116604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4E747E-A55B-FFA8-B281-4C0FE2AC8EBA}"/>
                </a:ext>
              </a:extLst>
            </p:cNvPr>
            <p:cNvCxnSpPr>
              <a:cxnSpLocks/>
            </p:cNvCxnSpPr>
            <p:nvPr/>
          </p:nvCxnSpPr>
          <p:spPr>
            <a:xfrm>
              <a:off x="3045682" y="1984120"/>
              <a:ext cx="1007334" cy="1067999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7AB684-5F9D-984C-9D65-52F9EFB724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988" y="2004508"/>
              <a:ext cx="1543694" cy="356492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C2BF916-4EE0-AD04-1CEE-143C07CE03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405" y="2361000"/>
              <a:ext cx="343289" cy="1345151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7961260-4FA6-42B3-C497-70E6961B5FEC}"/>
              </a:ext>
            </a:extLst>
          </p:cNvPr>
          <p:cNvSpPr txBox="1"/>
          <p:nvPr/>
        </p:nvSpPr>
        <p:spPr>
          <a:xfrm>
            <a:off x="8966886" y="4046267"/>
            <a:ext cx="25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Runs as O(N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75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96DA3-A8DC-0AB4-8505-D09BCB6D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069513C1-B64D-ED30-F96A-EE6166CC42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C6BF26-07C9-361F-5C9E-64906DD51D12}"/>
              </a:ext>
            </a:extLst>
          </p:cNvPr>
          <p:cNvSpPr txBox="1"/>
          <p:nvPr/>
        </p:nvSpPr>
        <p:spPr>
          <a:xfrm>
            <a:off x="7006280" y="474691"/>
            <a:ext cx="159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QuickHull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6CE30-5A9D-1C62-B1D9-57CA0E61C21C}"/>
              </a:ext>
            </a:extLst>
          </p:cNvPr>
          <p:cNvSpPr txBox="1"/>
          <p:nvPr/>
        </p:nvSpPr>
        <p:spPr>
          <a:xfrm>
            <a:off x="6244281" y="1383956"/>
            <a:ext cx="5445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(L) and the Rightmost point (R).  Divide the points according to this line</a:t>
            </a:r>
          </a:p>
          <a:p>
            <a:pPr marL="342900" indent="-342900">
              <a:buAutoNum type="arabicParenR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EE6A54-713A-8520-ED54-AFEC396C5324}"/>
              </a:ext>
            </a:extLst>
          </p:cNvPr>
          <p:cNvSpPr txBox="1"/>
          <p:nvPr/>
        </p:nvSpPr>
        <p:spPr>
          <a:xfrm>
            <a:off x="8707394" y="5479652"/>
            <a:ext cx="25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Runs as O(N*ln(N))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E5FCA-DD41-FB4D-CC00-B3BBCFF719C6}"/>
              </a:ext>
            </a:extLst>
          </p:cNvPr>
          <p:cNvSpPr txBox="1"/>
          <p:nvPr/>
        </p:nvSpPr>
        <p:spPr>
          <a:xfrm>
            <a:off x="1015314" y="352304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B0532-4533-48A2-EA77-F47B82B13111}"/>
              </a:ext>
            </a:extLst>
          </p:cNvPr>
          <p:cNvSpPr txBox="1"/>
          <p:nvPr/>
        </p:nvSpPr>
        <p:spPr>
          <a:xfrm>
            <a:off x="3886200" y="2748690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96CBCB-B38C-D8B1-B74C-B2BE39865878}"/>
              </a:ext>
            </a:extLst>
          </p:cNvPr>
          <p:cNvCxnSpPr>
            <a:cxnSpLocks/>
          </p:cNvCxnSpPr>
          <p:nvPr/>
        </p:nvCxnSpPr>
        <p:spPr>
          <a:xfrm flipV="1">
            <a:off x="1225379" y="3010300"/>
            <a:ext cx="2870886" cy="77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32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3FDD-7221-2104-146F-F3651040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6CD53BB0-4FC5-B346-DD32-990721A79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8B0613-18D8-0879-1B90-44D1D32CDE18}"/>
              </a:ext>
            </a:extLst>
          </p:cNvPr>
          <p:cNvSpPr txBox="1"/>
          <p:nvPr/>
        </p:nvSpPr>
        <p:spPr>
          <a:xfrm>
            <a:off x="7006280" y="474691"/>
            <a:ext cx="159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QuickHull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1BF77-9931-4C94-1B75-5B440B24E8E4}"/>
              </a:ext>
            </a:extLst>
          </p:cNvPr>
          <p:cNvSpPr txBox="1"/>
          <p:nvPr/>
        </p:nvSpPr>
        <p:spPr>
          <a:xfrm>
            <a:off x="6244281" y="1383956"/>
            <a:ext cx="54452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(L) and the Rightmost point (R).  Divide the points according to this line</a:t>
            </a:r>
          </a:p>
          <a:p>
            <a:endParaRPr lang="en-US" dirty="0"/>
          </a:p>
          <a:p>
            <a:r>
              <a:rPr lang="en-US" dirty="0"/>
              <a:t>For the top and bottom separately (can be in parallel)</a:t>
            </a:r>
          </a:p>
          <a:p>
            <a:endParaRPr lang="en-US" dirty="0"/>
          </a:p>
          <a:p>
            <a:r>
              <a:rPr lang="en-US" dirty="0"/>
              <a:t>2) Find the further new point from the line L-R.</a:t>
            </a:r>
          </a:p>
          <a:p>
            <a:r>
              <a:rPr lang="en-US" dirty="0"/>
              <a:t>This point is on the hull.  Any point inside the triangle formed by L-R-1 is not on the hull.  </a:t>
            </a:r>
          </a:p>
          <a:p>
            <a:pPr marL="342900" indent="-342900">
              <a:buAutoNum type="arabicParenR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69028E-7D48-7E1B-4BD4-A9BC1CEFD63E}"/>
              </a:ext>
            </a:extLst>
          </p:cNvPr>
          <p:cNvSpPr txBox="1"/>
          <p:nvPr/>
        </p:nvSpPr>
        <p:spPr>
          <a:xfrm>
            <a:off x="8707394" y="5479652"/>
            <a:ext cx="25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Runs as O(N*ln(N))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4B022-D0D8-E42A-2C00-72A373AB206C}"/>
              </a:ext>
            </a:extLst>
          </p:cNvPr>
          <p:cNvSpPr txBox="1"/>
          <p:nvPr/>
        </p:nvSpPr>
        <p:spPr>
          <a:xfrm>
            <a:off x="1015314" y="352304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29FF9-D073-09A0-9158-FD1BB6D612B4}"/>
              </a:ext>
            </a:extLst>
          </p:cNvPr>
          <p:cNvSpPr txBox="1"/>
          <p:nvPr/>
        </p:nvSpPr>
        <p:spPr>
          <a:xfrm>
            <a:off x="3886200" y="2748690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9D79C5-5006-FEE8-A79D-5B585D6E347D}"/>
              </a:ext>
            </a:extLst>
          </p:cNvPr>
          <p:cNvCxnSpPr>
            <a:cxnSpLocks/>
          </p:cNvCxnSpPr>
          <p:nvPr/>
        </p:nvCxnSpPr>
        <p:spPr>
          <a:xfrm flipV="1">
            <a:off x="1225379" y="3010300"/>
            <a:ext cx="2870886" cy="77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C10B2D-9B65-6E0C-6CEE-0A81ACA94451}"/>
              </a:ext>
            </a:extLst>
          </p:cNvPr>
          <p:cNvCxnSpPr>
            <a:cxnSpLocks/>
          </p:cNvCxnSpPr>
          <p:nvPr/>
        </p:nvCxnSpPr>
        <p:spPr>
          <a:xfrm>
            <a:off x="1225379" y="3784657"/>
            <a:ext cx="2660821" cy="1343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54EF21-3F2E-B5B1-B0BD-0F81B35B465E}"/>
              </a:ext>
            </a:extLst>
          </p:cNvPr>
          <p:cNvCxnSpPr>
            <a:cxnSpLocks/>
          </p:cNvCxnSpPr>
          <p:nvPr/>
        </p:nvCxnSpPr>
        <p:spPr>
          <a:xfrm flipH="1">
            <a:off x="3886200" y="3010300"/>
            <a:ext cx="210065" cy="2117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7B7CB9-BD73-11AD-AFBE-CD2636278B21}"/>
              </a:ext>
            </a:extLst>
          </p:cNvPr>
          <p:cNvSpPr txBox="1"/>
          <p:nvPr/>
        </p:nvSpPr>
        <p:spPr>
          <a:xfrm>
            <a:off x="3626707" y="4823036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4BE1A-0884-02F9-0246-CFEF9094353B}"/>
              </a:ext>
            </a:extLst>
          </p:cNvPr>
          <p:cNvSpPr txBox="1"/>
          <p:nvPr/>
        </p:nvSpPr>
        <p:spPr>
          <a:xfrm>
            <a:off x="2611394" y="406917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58FB7-F2B9-40AD-6421-47E6B38866EB}"/>
              </a:ext>
            </a:extLst>
          </p:cNvPr>
          <p:cNvSpPr txBox="1"/>
          <p:nvPr/>
        </p:nvSpPr>
        <p:spPr>
          <a:xfrm>
            <a:off x="3126259" y="378465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0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5E09-2993-6427-B337-66231576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F7A18FE6-96EC-9309-D5D5-7C09657CB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2DC2B-9E90-CFD4-4AED-913D337D25F7}"/>
              </a:ext>
            </a:extLst>
          </p:cNvPr>
          <p:cNvSpPr txBox="1"/>
          <p:nvPr/>
        </p:nvSpPr>
        <p:spPr>
          <a:xfrm>
            <a:off x="7006280" y="474691"/>
            <a:ext cx="159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QuickHull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B745F-6509-4B52-6635-C2C41F722916}"/>
              </a:ext>
            </a:extLst>
          </p:cNvPr>
          <p:cNvSpPr txBox="1"/>
          <p:nvPr/>
        </p:nvSpPr>
        <p:spPr>
          <a:xfrm>
            <a:off x="6244281" y="1383956"/>
            <a:ext cx="54452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(L) and the Rightmost point (R).  Divide the points according to this line</a:t>
            </a:r>
          </a:p>
          <a:p>
            <a:endParaRPr lang="en-US" dirty="0"/>
          </a:p>
          <a:p>
            <a:r>
              <a:rPr lang="en-US" dirty="0"/>
              <a:t>For the top and bottom separately (can be in parallel)</a:t>
            </a:r>
          </a:p>
          <a:p>
            <a:endParaRPr lang="en-US" dirty="0"/>
          </a:p>
          <a:p>
            <a:r>
              <a:rPr lang="en-US" dirty="0"/>
              <a:t>2) Find the further new point from the line L-R.</a:t>
            </a:r>
          </a:p>
          <a:p>
            <a:r>
              <a:rPr lang="en-US" dirty="0"/>
              <a:t>This point is on the hull.  Any point inside the triangle formed by L-R-O is not on the hull.  </a:t>
            </a:r>
          </a:p>
          <a:p>
            <a:endParaRPr lang="en-US" dirty="0"/>
          </a:p>
          <a:p>
            <a:r>
              <a:rPr lang="en-US" dirty="0"/>
              <a:t>3) From the points that have not been labeled yet, find the next furthest from the line L-R. Any unlabeled point inside the triangle formed by L-R-O is not on the hull.  </a:t>
            </a:r>
          </a:p>
          <a:p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71A31F-75FF-7B6F-6E1A-54F0AA5F125F}"/>
              </a:ext>
            </a:extLst>
          </p:cNvPr>
          <p:cNvSpPr txBox="1"/>
          <p:nvPr/>
        </p:nvSpPr>
        <p:spPr>
          <a:xfrm>
            <a:off x="8756821" y="5894207"/>
            <a:ext cx="25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Runs as O(N*ln(N))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0870D-1AFA-8E98-C8F8-DD44873871CD}"/>
              </a:ext>
            </a:extLst>
          </p:cNvPr>
          <p:cNvSpPr txBox="1"/>
          <p:nvPr/>
        </p:nvSpPr>
        <p:spPr>
          <a:xfrm>
            <a:off x="1015314" y="352304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4100F-9243-5F37-98B9-DAFD23560EFA}"/>
              </a:ext>
            </a:extLst>
          </p:cNvPr>
          <p:cNvSpPr txBox="1"/>
          <p:nvPr/>
        </p:nvSpPr>
        <p:spPr>
          <a:xfrm>
            <a:off x="3886200" y="2748690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DA48BA-3195-3D55-466E-75B8E21D3BBB}"/>
              </a:ext>
            </a:extLst>
          </p:cNvPr>
          <p:cNvCxnSpPr>
            <a:cxnSpLocks/>
          </p:cNvCxnSpPr>
          <p:nvPr/>
        </p:nvCxnSpPr>
        <p:spPr>
          <a:xfrm flipV="1">
            <a:off x="1225379" y="3010300"/>
            <a:ext cx="2870886" cy="77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FE2F96-C413-20AA-A897-6A6F63D522AB}"/>
              </a:ext>
            </a:extLst>
          </p:cNvPr>
          <p:cNvCxnSpPr>
            <a:cxnSpLocks/>
          </p:cNvCxnSpPr>
          <p:nvPr/>
        </p:nvCxnSpPr>
        <p:spPr>
          <a:xfrm>
            <a:off x="1225379" y="3784657"/>
            <a:ext cx="1554891" cy="1256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9E53F8-3348-DCF1-2191-DDD6F4354EDC}"/>
              </a:ext>
            </a:extLst>
          </p:cNvPr>
          <p:cNvCxnSpPr>
            <a:cxnSpLocks/>
          </p:cNvCxnSpPr>
          <p:nvPr/>
        </p:nvCxnSpPr>
        <p:spPr>
          <a:xfrm flipH="1">
            <a:off x="2780270" y="3010300"/>
            <a:ext cx="1315995" cy="2031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9ACE6B-2E60-26F7-8C70-0BF535BB1C79}"/>
              </a:ext>
            </a:extLst>
          </p:cNvPr>
          <p:cNvSpPr txBox="1"/>
          <p:nvPr/>
        </p:nvSpPr>
        <p:spPr>
          <a:xfrm>
            <a:off x="3626707" y="4823036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2E5F6-9BC2-AF8F-16A9-277F96A7A407}"/>
              </a:ext>
            </a:extLst>
          </p:cNvPr>
          <p:cNvSpPr txBox="1"/>
          <p:nvPr/>
        </p:nvSpPr>
        <p:spPr>
          <a:xfrm>
            <a:off x="2611394" y="406917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EF984-ADD8-43C8-995B-B15A6207CE06}"/>
              </a:ext>
            </a:extLst>
          </p:cNvPr>
          <p:cNvSpPr txBox="1"/>
          <p:nvPr/>
        </p:nvSpPr>
        <p:spPr>
          <a:xfrm>
            <a:off x="3126259" y="378465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706191-AB62-191A-68F2-50B5B150E2BF}"/>
              </a:ext>
            </a:extLst>
          </p:cNvPr>
          <p:cNvSpPr txBox="1"/>
          <p:nvPr/>
        </p:nvSpPr>
        <p:spPr>
          <a:xfrm>
            <a:off x="2570205" y="4864560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014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656A-1E07-181A-BA15-712841D7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onvex Hull Algorithm - GeeksforGeeks">
            <a:extLst>
              <a:ext uri="{FF2B5EF4-FFF2-40B4-BE49-F238E27FC236}">
                <a16:creationId xmlns:a16="http://schemas.microsoft.com/office/drawing/2014/main" id="{9D7894A3-98D2-4376-FB2F-E3A461594C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CE95A2-5A0D-05AD-AF8B-F7362879F082}"/>
              </a:ext>
            </a:extLst>
          </p:cNvPr>
          <p:cNvSpPr txBox="1"/>
          <p:nvPr/>
        </p:nvSpPr>
        <p:spPr>
          <a:xfrm>
            <a:off x="7006280" y="474691"/>
            <a:ext cx="1593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QuickHull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94502-A247-089F-F974-6D711FEFE987}"/>
              </a:ext>
            </a:extLst>
          </p:cNvPr>
          <p:cNvSpPr txBox="1"/>
          <p:nvPr/>
        </p:nvSpPr>
        <p:spPr>
          <a:xfrm>
            <a:off x="6207210" y="1087394"/>
            <a:ext cx="544521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Find Leftmost point (L) and the Rightmost point (R).  Divide the points according to this line</a:t>
            </a:r>
          </a:p>
          <a:p>
            <a:endParaRPr lang="en-US" dirty="0"/>
          </a:p>
          <a:p>
            <a:r>
              <a:rPr lang="en-US" dirty="0"/>
              <a:t>For the top and bottom separately (can be in parallel)</a:t>
            </a:r>
          </a:p>
          <a:p>
            <a:endParaRPr lang="en-US" dirty="0"/>
          </a:p>
          <a:p>
            <a:r>
              <a:rPr lang="en-US" dirty="0"/>
              <a:t>2) Find the further new point from the line L-R.</a:t>
            </a:r>
          </a:p>
          <a:p>
            <a:r>
              <a:rPr lang="en-US" dirty="0"/>
              <a:t>This point is on the hull.  Any point inside the triangle formed by L-R-O is not on the hull.  </a:t>
            </a:r>
          </a:p>
          <a:p>
            <a:endParaRPr lang="en-US" dirty="0"/>
          </a:p>
          <a:p>
            <a:r>
              <a:rPr lang="en-US" dirty="0"/>
              <a:t>3) From the points that have not been labeled yet, find the next furthest from the line L-R. Any unlabeled point inside the triangle formed by L-R-O is not on the hull.  </a:t>
            </a:r>
          </a:p>
          <a:p>
            <a:endParaRPr lang="en-US" dirty="0"/>
          </a:p>
          <a:p>
            <a:r>
              <a:rPr lang="en-US" dirty="0"/>
              <a:t>4) Repeat till all points are labeled</a:t>
            </a:r>
          </a:p>
          <a:p>
            <a:endParaRPr lang="en-US" dirty="0"/>
          </a:p>
          <a:p>
            <a:r>
              <a:rPr lang="en-US" dirty="0"/>
              <a:t>5) Now, connect the points (The order of found points is not necessarily the order around the hull)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FBD1F3-D90A-AB80-828F-78D2995746A9}"/>
              </a:ext>
            </a:extLst>
          </p:cNvPr>
          <p:cNvSpPr txBox="1"/>
          <p:nvPr/>
        </p:nvSpPr>
        <p:spPr>
          <a:xfrm>
            <a:off x="8695037" y="6092937"/>
            <a:ext cx="258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Runs as O(N*ln(N))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CB27D-5320-98C4-96D2-FA2A454481FC}"/>
              </a:ext>
            </a:extLst>
          </p:cNvPr>
          <p:cNvSpPr txBox="1"/>
          <p:nvPr/>
        </p:nvSpPr>
        <p:spPr>
          <a:xfrm>
            <a:off x="1015314" y="352304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F638E-EBD9-4F2B-04B5-10A8175AB51D}"/>
              </a:ext>
            </a:extLst>
          </p:cNvPr>
          <p:cNvSpPr txBox="1"/>
          <p:nvPr/>
        </p:nvSpPr>
        <p:spPr>
          <a:xfrm>
            <a:off x="3886200" y="2748690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29D947-3833-6D2C-828C-0AA1153989E6}"/>
              </a:ext>
            </a:extLst>
          </p:cNvPr>
          <p:cNvCxnSpPr>
            <a:cxnSpLocks/>
          </p:cNvCxnSpPr>
          <p:nvPr/>
        </p:nvCxnSpPr>
        <p:spPr>
          <a:xfrm flipV="1">
            <a:off x="1225379" y="3010300"/>
            <a:ext cx="2870886" cy="774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09CC9A5-6F09-80AA-6AF2-A8C87E0E1E14}"/>
              </a:ext>
            </a:extLst>
          </p:cNvPr>
          <p:cNvCxnSpPr>
            <a:cxnSpLocks/>
          </p:cNvCxnSpPr>
          <p:nvPr/>
        </p:nvCxnSpPr>
        <p:spPr>
          <a:xfrm>
            <a:off x="1225379" y="3784657"/>
            <a:ext cx="541637" cy="639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011340-C58D-0D35-9A0C-E136CACFE87A}"/>
              </a:ext>
            </a:extLst>
          </p:cNvPr>
          <p:cNvCxnSpPr>
            <a:cxnSpLocks/>
          </p:cNvCxnSpPr>
          <p:nvPr/>
        </p:nvCxnSpPr>
        <p:spPr>
          <a:xfrm flipH="1">
            <a:off x="1767016" y="3010300"/>
            <a:ext cx="2329249" cy="1413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8CA07DA-CC5A-E177-C6DF-469C8106FEF1}"/>
              </a:ext>
            </a:extLst>
          </p:cNvPr>
          <p:cNvSpPr txBox="1"/>
          <p:nvPr/>
        </p:nvSpPr>
        <p:spPr>
          <a:xfrm>
            <a:off x="3626707" y="4823036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D92C3-7158-BA32-3957-99E5F06CEE9A}"/>
              </a:ext>
            </a:extLst>
          </p:cNvPr>
          <p:cNvSpPr txBox="1"/>
          <p:nvPr/>
        </p:nvSpPr>
        <p:spPr>
          <a:xfrm>
            <a:off x="2611394" y="406917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8823C1-BDD8-6A1F-F20E-4D361E538620}"/>
              </a:ext>
            </a:extLst>
          </p:cNvPr>
          <p:cNvSpPr txBox="1"/>
          <p:nvPr/>
        </p:nvSpPr>
        <p:spPr>
          <a:xfrm>
            <a:off x="3126259" y="3784657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A1F19-5260-AEC2-E7EF-0D43BEECD4C0}"/>
              </a:ext>
            </a:extLst>
          </p:cNvPr>
          <p:cNvSpPr txBox="1"/>
          <p:nvPr/>
        </p:nvSpPr>
        <p:spPr>
          <a:xfrm>
            <a:off x="2570205" y="4864560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F5353-57E7-A193-99EA-34726C45F635}"/>
              </a:ext>
            </a:extLst>
          </p:cNvPr>
          <p:cNvSpPr txBox="1"/>
          <p:nvPr/>
        </p:nvSpPr>
        <p:spPr>
          <a:xfrm>
            <a:off x="1521939" y="4162109"/>
            <a:ext cx="420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12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0B57-5BF5-69FA-7E1F-A603BB3C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C5752AC-B66E-BE17-C736-CF5CFDC9F867}"/>
              </a:ext>
            </a:extLst>
          </p:cNvPr>
          <p:cNvGrpSpPr/>
          <p:nvPr/>
        </p:nvGrpSpPr>
        <p:grpSpPr>
          <a:xfrm>
            <a:off x="222421" y="659357"/>
            <a:ext cx="4176583" cy="5539285"/>
            <a:chOff x="222421" y="659357"/>
            <a:chExt cx="4176583" cy="5539285"/>
          </a:xfrm>
        </p:grpSpPr>
        <p:pic>
          <p:nvPicPr>
            <p:cNvPr id="5" name="Picture 2" descr="Convex Hull Algorithm - GeeksforGeeks">
              <a:extLst>
                <a:ext uri="{FF2B5EF4-FFF2-40B4-BE49-F238E27FC236}">
                  <a16:creationId xmlns:a16="http://schemas.microsoft.com/office/drawing/2014/main" id="{386BD44E-8FE4-6895-B2E4-4C9ABB81B7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151" b="22115"/>
            <a:stretch>
              <a:fillRect/>
            </a:stretch>
          </p:blipFill>
          <p:spPr bwMode="auto">
            <a:xfrm>
              <a:off x="222421" y="659357"/>
              <a:ext cx="4176583" cy="553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D77F225-0965-1684-B012-917D5E213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35" y="3812236"/>
              <a:ext cx="473675" cy="603363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F25693D-377E-1FD4-D61D-300E40A5F2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184" y="4417658"/>
              <a:ext cx="1022522" cy="664568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ECD9990-BE18-665C-849E-2431F9827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7480" y="5082226"/>
              <a:ext cx="1030758" cy="0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DBE5FB3-BC87-34B3-C887-FB3102242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625" y="2965622"/>
              <a:ext cx="169391" cy="2116604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43D404C-1679-5C31-A352-870306FBA83D}"/>
                </a:ext>
              </a:extLst>
            </p:cNvPr>
            <p:cNvCxnSpPr>
              <a:cxnSpLocks/>
            </p:cNvCxnSpPr>
            <p:nvPr/>
          </p:nvCxnSpPr>
          <p:spPr>
            <a:xfrm>
              <a:off x="3045682" y="1984120"/>
              <a:ext cx="1007334" cy="1067999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96F505-C192-22A9-A41D-29657D1E5E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988" y="2004508"/>
              <a:ext cx="1543694" cy="356492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433B3D-E0C6-5913-AE2A-B757CB368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405" y="2361000"/>
              <a:ext cx="343289" cy="1345151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43078F8-48C2-89D7-6478-7F3E3938A363}"/>
              </a:ext>
            </a:extLst>
          </p:cNvPr>
          <p:cNvSpPr txBox="1"/>
          <p:nvPr/>
        </p:nvSpPr>
        <p:spPr>
          <a:xfrm>
            <a:off x="284315" y="35684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Delaunay Triangulation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1AD74F-AC01-9937-AD05-D0CD61D169E4}"/>
              </a:ext>
            </a:extLst>
          </p:cNvPr>
          <p:cNvCxnSpPr>
            <a:cxnSpLocks/>
          </p:cNvCxnSpPr>
          <p:nvPr/>
        </p:nvCxnSpPr>
        <p:spPr>
          <a:xfrm flipH="1">
            <a:off x="1261416" y="3059829"/>
            <a:ext cx="749314" cy="661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B88B92-CAE9-3B8A-E7E0-DD255DC51F2C}"/>
              </a:ext>
            </a:extLst>
          </p:cNvPr>
          <p:cNvCxnSpPr>
            <a:cxnSpLocks/>
          </p:cNvCxnSpPr>
          <p:nvPr/>
        </p:nvCxnSpPr>
        <p:spPr>
          <a:xfrm flipH="1" flipV="1">
            <a:off x="1543694" y="2342478"/>
            <a:ext cx="467036" cy="709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209480-D1B4-9316-7D79-73177A3ACA6A}"/>
              </a:ext>
            </a:extLst>
          </p:cNvPr>
          <p:cNvCxnSpPr>
            <a:cxnSpLocks/>
          </p:cNvCxnSpPr>
          <p:nvPr/>
        </p:nvCxnSpPr>
        <p:spPr>
          <a:xfrm flipH="1">
            <a:off x="1711410" y="4278284"/>
            <a:ext cx="1122919" cy="135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5C7B69-75A1-23DA-7FF7-5DC71CEF2180}"/>
              </a:ext>
            </a:extLst>
          </p:cNvPr>
          <p:cNvCxnSpPr>
            <a:cxnSpLocks/>
          </p:cNvCxnSpPr>
          <p:nvPr/>
        </p:nvCxnSpPr>
        <p:spPr>
          <a:xfrm flipV="1">
            <a:off x="1738184" y="3106568"/>
            <a:ext cx="282953" cy="1309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EE4F30-EDE2-BF81-8775-4146FFE345BD}"/>
              </a:ext>
            </a:extLst>
          </p:cNvPr>
          <p:cNvCxnSpPr>
            <a:cxnSpLocks/>
          </p:cNvCxnSpPr>
          <p:nvPr/>
        </p:nvCxnSpPr>
        <p:spPr>
          <a:xfrm flipV="1">
            <a:off x="2775778" y="4291724"/>
            <a:ext cx="0" cy="677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DEEE2F0-59D3-060D-4115-642229A96ADA}"/>
              </a:ext>
            </a:extLst>
          </p:cNvPr>
          <p:cNvCxnSpPr>
            <a:cxnSpLocks/>
          </p:cNvCxnSpPr>
          <p:nvPr/>
        </p:nvCxnSpPr>
        <p:spPr>
          <a:xfrm flipH="1" flipV="1">
            <a:off x="2023431" y="3084397"/>
            <a:ext cx="773075" cy="11327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775C90-4869-C73E-1EAB-16897F4B0721}"/>
              </a:ext>
            </a:extLst>
          </p:cNvPr>
          <p:cNvCxnSpPr>
            <a:cxnSpLocks/>
          </p:cNvCxnSpPr>
          <p:nvPr/>
        </p:nvCxnSpPr>
        <p:spPr>
          <a:xfrm flipV="1">
            <a:off x="2001503" y="2679755"/>
            <a:ext cx="495290" cy="426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83C7853-9CD5-6554-CCA9-7D4553F1535C}"/>
              </a:ext>
            </a:extLst>
          </p:cNvPr>
          <p:cNvCxnSpPr>
            <a:cxnSpLocks/>
          </p:cNvCxnSpPr>
          <p:nvPr/>
        </p:nvCxnSpPr>
        <p:spPr>
          <a:xfrm>
            <a:off x="1525847" y="2321073"/>
            <a:ext cx="970946" cy="3694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D8EDEB-0019-8E65-35D8-14F9E446D41F}"/>
              </a:ext>
            </a:extLst>
          </p:cNvPr>
          <p:cNvCxnSpPr>
            <a:cxnSpLocks/>
          </p:cNvCxnSpPr>
          <p:nvPr/>
        </p:nvCxnSpPr>
        <p:spPr>
          <a:xfrm>
            <a:off x="2751131" y="4377258"/>
            <a:ext cx="1086539" cy="704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CA983CE-91A6-533B-993C-A1EA624F4E4C}"/>
              </a:ext>
            </a:extLst>
          </p:cNvPr>
          <p:cNvCxnSpPr>
            <a:cxnSpLocks/>
          </p:cNvCxnSpPr>
          <p:nvPr/>
        </p:nvCxnSpPr>
        <p:spPr>
          <a:xfrm flipV="1">
            <a:off x="2841728" y="4023924"/>
            <a:ext cx="566241" cy="33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0327A2A-30C4-5318-CF71-6C309F958985}"/>
              </a:ext>
            </a:extLst>
          </p:cNvPr>
          <p:cNvCxnSpPr>
            <a:cxnSpLocks/>
          </p:cNvCxnSpPr>
          <p:nvPr/>
        </p:nvCxnSpPr>
        <p:spPr>
          <a:xfrm>
            <a:off x="3376649" y="4040931"/>
            <a:ext cx="506976" cy="1024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3D4A6D4-D7CC-B482-B4B2-A00B43FAC664}"/>
              </a:ext>
            </a:extLst>
          </p:cNvPr>
          <p:cNvCxnSpPr>
            <a:cxnSpLocks/>
          </p:cNvCxnSpPr>
          <p:nvPr/>
        </p:nvCxnSpPr>
        <p:spPr>
          <a:xfrm flipV="1">
            <a:off x="3382752" y="3025688"/>
            <a:ext cx="690050" cy="9653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FCF828-291A-43A2-31F8-FE68A1E5A892}"/>
              </a:ext>
            </a:extLst>
          </p:cNvPr>
          <p:cNvCxnSpPr>
            <a:cxnSpLocks/>
          </p:cNvCxnSpPr>
          <p:nvPr/>
        </p:nvCxnSpPr>
        <p:spPr>
          <a:xfrm flipH="1" flipV="1">
            <a:off x="3060334" y="3038904"/>
            <a:ext cx="229090" cy="956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91C5F41-5E7B-AA5B-68D0-E6D9BE728A6B}"/>
              </a:ext>
            </a:extLst>
          </p:cNvPr>
          <p:cNvCxnSpPr>
            <a:cxnSpLocks/>
          </p:cNvCxnSpPr>
          <p:nvPr/>
        </p:nvCxnSpPr>
        <p:spPr>
          <a:xfrm flipH="1" flipV="1">
            <a:off x="3092426" y="2988092"/>
            <a:ext cx="948427" cy="33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16A9D8B-5D3F-E1CD-7DA6-79870076B21F}"/>
              </a:ext>
            </a:extLst>
          </p:cNvPr>
          <p:cNvCxnSpPr>
            <a:cxnSpLocks/>
          </p:cNvCxnSpPr>
          <p:nvPr/>
        </p:nvCxnSpPr>
        <p:spPr>
          <a:xfrm flipV="1">
            <a:off x="3013296" y="2016357"/>
            <a:ext cx="79130" cy="936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FA6C3C6-530F-10FB-5EF4-3E85C2D0CBC2}"/>
              </a:ext>
            </a:extLst>
          </p:cNvPr>
          <p:cNvCxnSpPr>
            <a:cxnSpLocks/>
          </p:cNvCxnSpPr>
          <p:nvPr/>
        </p:nvCxnSpPr>
        <p:spPr>
          <a:xfrm flipH="1" flipV="1">
            <a:off x="2515361" y="2687875"/>
            <a:ext cx="524025" cy="3719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28E95F5-093F-495D-2ABF-1CDC1CFCC9A2}"/>
              </a:ext>
            </a:extLst>
          </p:cNvPr>
          <p:cNvCxnSpPr>
            <a:cxnSpLocks/>
          </p:cNvCxnSpPr>
          <p:nvPr/>
        </p:nvCxnSpPr>
        <p:spPr>
          <a:xfrm flipV="1">
            <a:off x="2494413" y="2032467"/>
            <a:ext cx="577703" cy="6648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1805163-D846-2B27-50D8-44859AB333EF}"/>
              </a:ext>
            </a:extLst>
          </p:cNvPr>
          <p:cNvCxnSpPr>
            <a:cxnSpLocks/>
          </p:cNvCxnSpPr>
          <p:nvPr/>
        </p:nvCxnSpPr>
        <p:spPr>
          <a:xfrm flipH="1">
            <a:off x="2770505" y="3022880"/>
            <a:ext cx="267782" cy="1212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DAFB273-D188-47FB-AA79-A08C5C1F6427}"/>
              </a:ext>
            </a:extLst>
          </p:cNvPr>
          <p:cNvCxnSpPr>
            <a:cxnSpLocks/>
          </p:cNvCxnSpPr>
          <p:nvPr/>
        </p:nvCxnSpPr>
        <p:spPr>
          <a:xfrm flipH="1">
            <a:off x="2054889" y="3029040"/>
            <a:ext cx="1001283" cy="99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3707D3F-9BA2-1321-77E0-84FA9084BC02}"/>
              </a:ext>
            </a:extLst>
          </p:cNvPr>
          <p:cNvSpPr txBox="1"/>
          <p:nvPr/>
        </p:nvSpPr>
        <p:spPr>
          <a:xfrm>
            <a:off x="5568096" y="1351669"/>
            <a:ext cx="4386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Delaunay Triangulation sub-divides the face spanned by the convex hull into triangles.</a:t>
            </a:r>
          </a:p>
          <a:p>
            <a:endParaRPr lang="en-US" dirty="0"/>
          </a:p>
          <a:p>
            <a:r>
              <a:rPr lang="en-US" dirty="0"/>
              <a:t>Specifically, this is the triangulation where the smallest triangle is has the most area (avoids “sliver triangles” [really tiny triangles])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304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F38D-2704-0EB3-F723-E8712421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FEBB15-4F5C-882F-6E8E-F39C0860987D}"/>
              </a:ext>
            </a:extLst>
          </p:cNvPr>
          <p:cNvGrpSpPr/>
          <p:nvPr/>
        </p:nvGrpSpPr>
        <p:grpSpPr>
          <a:xfrm>
            <a:off x="222421" y="659357"/>
            <a:ext cx="4176583" cy="5539285"/>
            <a:chOff x="222421" y="659357"/>
            <a:chExt cx="4176583" cy="5539285"/>
          </a:xfrm>
        </p:grpSpPr>
        <p:pic>
          <p:nvPicPr>
            <p:cNvPr id="5" name="Picture 2" descr="Convex Hull Algorithm - GeeksforGeeks">
              <a:extLst>
                <a:ext uri="{FF2B5EF4-FFF2-40B4-BE49-F238E27FC236}">
                  <a16:creationId xmlns:a16="http://schemas.microsoft.com/office/drawing/2014/main" id="{4C997554-E2F3-3A94-229A-6748B563E6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151" b="22115"/>
            <a:stretch>
              <a:fillRect/>
            </a:stretch>
          </p:blipFill>
          <p:spPr bwMode="auto">
            <a:xfrm>
              <a:off x="222421" y="659357"/>
              <a:ext cx="4176583" cy="553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75E0157-2F41-6D34-25CD-5C35029A9E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35" y="3812236"/>
              <a:ext cx="473675" cy="603363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B8EB455-CAC5-8533-8676-4CE1C20E77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184" y="4417658"/>
              <a:ext cx="1022522" cy="664568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C336231-3B8F-BF29-0053-0992E2411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7480" y="5082226"/>
              <a:ext cx="1030758" cy="0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84E9E-D791-3A12-49CD-D1C22764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625" y="2965622"/>
              <a:ext cx="169391" cy="2116604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7CAA991-3727-9331-C201-139D3E2D0E80}"/>
                </a:ext>
              </a:extLst>
            </p:cNvPr>
            <p:cNvCxnSpPr>
              <a:cxnSpLocks/>
            </p:cNvCxnSpPr>
            <p:nvPr/>
          </p:nvCxnSpPr>
          <p:spPr>
            <a:xfrm>
              <a:off x="3045682" y="1984120"/>
              <a:ext cx="1007334" cy="1067999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B2DAA5-4D11-EEA6-D036-39EA8C756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988" y="2004508"/>
              <a:ext cx="1543694" cy="356492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2254075-9527-D9E4-1ACB-7C04FCF01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405" y="2361000"/>
              <a:ext cx="343289" cy="1345151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368413-2C17-51AF-B6E1-DB480D4E013F}"/>
              </a:ext>
            </a:extLst>
          </p:cNvPr>
          <p:cNvCxnSpPr>
            <a:cxnSpLocks/>
          </p:cNvCxnSpPr>
          <p:nvPr/>
        </p:nvCxnSpPr>
        <p:spPr>
          <a:xfrm flipH="1">
            <a:off x="1261416" y="3059829"/>
            <a:ext cx="749314" cy="661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0614E2A-2043-B3E8-1CEF-F86C6D313C4B}"/>
              </a:ext>
            </a:extLst>
          </p:cNvPr>
          <p:cNvCxnSpPr>
            <a:cxnSpLocks/>
          </p:cNvCxnSpPr>
          <p:nvPr/>
        </p:nvCxnSpPr>
        <p:spPr>
          <a:xfrm flipV="1">
            <a:off x="1738184" y="3106568"/>
            <a:ext cx="282953" cy="1309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F29195-B5B1-C569-CBC7-0E2150075C37}"/>
              </a:ext>
            </a:extLst>
          </p:cNvPr>
          <p:cNvSpPr txBox="1"/>
          <p:nvPr/>
        </p:nvSpPr>
        <p:spPr>
          <a:xfrm>
            <a:off x="5568096" y="1351669"/>
            <a:ext cx="43866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Delaunay Triangulation sub-divides the face spanned by the convex hull into triangles.</a:t>
            </a:r>
          </a:p>
          <a:p>
            <a:endParaRPr lang="en-US" dirty="0"/>
          </a:p>
          <a:p>
            <a:r>
              <a:rPr lang="en-US" dirty="0"/>
              <a:t>Specifically, this is the triangulation where the smallest triangle is has the most area (avoids “sliver triangles” [really tiny triangles])</a:t>
            </a:r>
          </a:p>
          <a:p>
            <a:endParaRPr lang="en-US" dirty="0"/>
          </a:p>
          <a:p>
            <a:r>
              <a:rPr lang="en-US" b="1" dirty="0"/>
              <a:t>How to create:</a:t>
            </a:r>
          </a:p>
          <a:p>
            <a:r>
              <a:rPr lang="en-US" dirty="0"/>
              <a:t>Three points form a triangle if the circumcircle created by the three points does NOT contain any other points</a:t>
            </a:r>
          </a:p>
          <a:p>
            <a:endParaRPr lang="en-US" dirty="0"/>
          </a:p>
          <a:p>
            <a:r>
              <a:rPr lang="en-US" dirty="0"/>
              <a:t>A circumcircle is a circle with all three points on the circumference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8045D7-2FE1-74CB-9DA1-2E6E707D4847}"/>
              </a:ext>
            </a:extLst>
          </p:cNvPr>
          <p:cNvGrpSpPr/>
          <p:nvPr/>
        </p:nvGrpSpPr>
        <p:grpSpPr>
          <a:xfrm>
            <a:off x="222421" y="659357"/>
            <a:ext cx="4176583" cy="5539285"/>
            <a:chOff x="222421" y="659357"/>
            <a:chExt cx="4176583" cy="5539285"/>
          </a:xfrm>
        </p:grpSpPr>
        <p:pic>
          <p:nvPicPr>
            <p:cNvPr id="14" name="Picture 2" descr="Convex Hull Algorithm - GeeksforGeeks">
              <a:extLst>
                <a:ext uri="{FF2B5EF4-FFF2-40B4-BE49-F238E27FC236}">
                  <a16:creationId xmlns:a16="http://schemas.microsoft.com/office/drawing/2014/main" id="{230D0547-483F-1C99-804A-75A28D2298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151" b="22115"/>
            <a:stretch>
              <a:fillRect/>
            </a:stretch>
          </p:blipFill>
          <p:spPr bwMode="auto">
            <a:xfrm>
              <a:off x="222421" y="659357"/>
              <a:ext cx="4176583" cy="553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E66B07-9717-06D1-26B5-29DA7B305A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35" y="3812236"/>
              <a:ext cx="473675" cy="603363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4B1A542-0B78-9C88-56A4-A7BBAE5F29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184" y="4417658"/>
              <a:ext cx="1022522" cy="664568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DC6D9EC-4F93-2D8E-4299-E05CC09DB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7480" y="5082226"/>
              <a:ext cx="1030758" cy="0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41D8F7-F663-4C78-FDC4-89316AE9A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625" y="2965622"/>
              <a:ext cx="169391" cy="2116604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13C5A4-DA45-5D3D-7A86-9FB4D566A768}"/>
                </a:ext>
              </a:extLst>
            </p:cNvPr>
            <p:cNvCxnSpPr>
              <a:cxnSpLocks/>
            </p:cNvCxnSpPr>
            <p:nvPr/>
          </p:nvCxnSpPr>
          <p:spPr>
            <a:xfrm>
              <a:off x="3045682" y="1984120"/>
              <a:ext cx="1007334" cy="1067999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FE6359-72D2-D27E-2C22-C272969430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988" y="2004508"/>
              <a:ext cx="1543694" cy="356492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E38EE23-7912-6F69-E8C8-81EC7D41CA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405" y="2361000"/>
              <a:ext cx="343289" cy="1345151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C22BDF27-3BF4-0F84-2ED8-F0F129C66A8C}"/>
              </a:ext>
            </a:extLst>
          </p:cNvPr>
          <p:cNvSpPr/>
          <p:nvPr/>
        </p:nvSpPr>
        <p:spPr>
          <a:xfrm>
            <a:off x="450827" y="2173402"/>
            <a:ext cx="1527125" cy="162938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777A2D-2BD7-757D-B768-A3450CDC9F6E}"/>
              </a:ext>
            </a:extLst>
          </p:cNvPr>
          <p:cNvSpPr txBox="1"/>
          <p:nvPr/>
        </p:nvSpPr>
        <p:spPr>
          <a:xfrm>
            <a:off x="284315" y="35684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Delaunay Triangulation</a:t>
            </a:r>
          </a:p>
        </p:txBody>
      </p:sp>
    </p:spTree>
    <p:extLst>
      <p:ext uri="{BB962C8B-B14F-4D97-AF65-F5344CB8AC3E}">
        <p14:creationId xmlns:p14="http://schemas.microsoft.com/office/powerpoint/2010/main" val="138389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5CF876-0827-95BA-992D-1DC522A98468}"/>
              </a:ext>
            </a:extLst>
          </p:cNvPr>
          <p:cNvGrpSpPr/>
          <p:nvPr/>
        </p:nvGrpSpPr>
        <p:grpSpPr>
          <a:xfrm>
            <a:off x="222421" y="659357"/>
            <a:ext cx="4176583" cy="5539285"/>
            <a:chOff x="222421" y="659357"/>
            <a:chExt cx="4176583" cy="5539285"/>
          </a:xfrm>
        </p:grpSpPr>
        <p:pic>
          <p:nvPicPr>
            <p:cNvPr id="5" name="Picture 2" descr="Convex Hull Algorithm - GeeksforGeeks">
              <a:extLst>
                <a:ext uri="{FF2B5EF4-FFF2-40B4-BE49-F238E27FC236}">
                  <a16:creationId xmlns:a16="http://schemas.microsoft.com/office/drawing/2014/main" id="{15BDD30C-A192-51A0-FBE8-EB35622480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151" b="22115"/>
            <a:stretch>
              <a:fillRect/>
            </a:stretch>
          </p:blipFill>
          <p:spPr bwMode="auto">
            <a:xfrm>
              <a:off x="222421" y="659357"/>
              <a:ext cx="4176583" cy="553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6BF3B3F-ECD1-A7F8-D06C-58B338029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35" y="3812236"/>
              <a:ext cx="473675" cy="603363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215AF6D-D18C-BE60-8034-BB0D7C8FC8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184" y="4417658"/>
              <a:ext cx="1022522" cy="664568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B094C01-7E98-62AF-4A27-676C04F71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7480" y="5082226"/>
              <a:ext cx="1030758" cy="0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41A6F62-3605-5AA1-1FEB-7635A1A19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3625" y="2965622"/>
              <a:ext cx="169391" cy="2116604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C6F0320-E693-122E-D0BF-5F01839CCFC0}"/>
                </a:ext>
              </a:extLst>
            </p:cNvPr>
            <p:cNvCxnSpPr>
              <a:cxnSpLocks/>
            </p:cNvCxnSpPr>
            <p:nvPr/>
          </p:nvCxnSpPr>
          <p:spPr>
            <a:xfrm>
              <a:off x="3045682" y="1984120"/>
              <a:ext cx="1007334" cy="1067999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09A6B8A-01CE-7FEB-02F4-14E9EB0A9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988" y="2004508"/>
              <a:ext cx="1543694" cy="356492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156075-FB81-C560-E577-8E668306A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405" y="2361000"/>
              <a:ext cx="343289" cy="1345151"/>
            </a:xfrm>
            <a:prstGeom prst="line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4F7C932-49C3-2E6B-7F57-BEB061C28308}"/>
              </a:ext>
            </a:extLst>
          </p:cNvPr>
          <p:cNvSpPr txBox="1"/>
          <p:nvPr/>
        </p:nvSpPr>
        <p:spPr>
          <a:xfrm>
            <a:off x="284315" y="35684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Delaunay Triangulation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1D9186-243B-4130-F580-4469FAA7F399}"/>
              </a:ext>
            </a:extLst>
          </p:cNvPr>
          <p:cNvCxnSpPr>
            <a:cxnSpLocks/>
          </p:cNvCxnSpPr>
          <p:nvPr/>
        </p:nvCxnSpPr>
        <p:spPr>
          <a:xfrm flipH="1">
            <a:off x="1261416" y="3059829"/>
            <a:ext cx="749314" cy="661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A16E12-486D-03E5-B15B-D1620DE472FA}"/>
              </a:ext>
            </a:extLst>
          </p:cNvPr>
          <p:cNvCxnSpPr>
            <a:cxnSpLocks/>
          </p:cNvCxnSpPr>
          <p:nvPr/>
        </p:nvCxnSpPr>
        <p:spPr>
          <a:xfrm flipH="1" flipV="1">
            <a:off x="1543694" y="2342478"/>
            <a:ext cx="467036" cy="709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45ECAE9-3DB4-AF63-B11A-DCF2559156AC}"/>
              </a:ext>
            </a:extLst>
          </p:cNvPr>
          <p:cNvSpPr/>
          <p:nvPr/>
        </p:nvSpPr>
        <p:spPr>
          <a:xfrm>
            <a:off x="450827" y="2173402"/>
            <a:ext cx="1527125" cy="162938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1286EB-1903-8A5C-B2EE-74D818D0472C}"/>
              </a:ext>
            </a:extLst>
          </p:cNvPr>
          <p:cNvCxnSpPr>
            <a:cxnSpLocks/>
          </p:cNvCxnSpPr>
          <p:nvPr/>
        </p:nvCxnSpPr>
        <p:spPr>
          <a:xfrm flipH="1">
            <a:off x="1711410" y="4278284"/>
            <a:ext cx="1122919" cy="135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8F0984-7C8F-B71B-F258-8871D3B3A69E}"/>
              </a:ext>
            </a:extLst>
          </p:cNvPr>
          <p:cNvCxnSpPr>
            <a:cxnSpLocks/>
          </p:cNvCxnSpPr>
          <p:nvPr/>
        </p:nvCxnSpPr>
        <p:spPr>
          <a:xfrm flipV="1">
            <a:off x="1738184" y="3106568"/>
            <a:ext cx="282953" cy="1309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D72327A8-A37D-57F5-450F-3A1A25F31A09}"/>
              </a:ext>
            </a:extLst>
          </p:cNvPr>
          <p:cNvSpPr/>
          <p:nvPr/>
        </p:nvSpPr>
        <p:spPr>
          <a:xfrm>
            <a:off x="1184479" y="3078364"/>
            <a:ext cx="1464221" cy="1345151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05F295-D2E7-8EDD-3ADB-6221C04B5777}"/>
              </a:ext>
            </a:extLst>
          </p:cNvPr>
          <p:cNvCxnSpPr>
            <a:cxnSpLocks/>
          </p:cNvCxnSpPr>
          <p:nvPr/>
        </p:nvCxnSpPr>
        <p:spPr>
          <a:xfrm flipV="1">
            <a:off x="2775778" y="4291724"/>
            <a:ext cx="0" cy="6776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1A7CEC8B-7E5E-27A4-B524-AA1BDF241CB2}"/>
              </a:ext>
            </a:extLst>
          </p:cNvPr>
          <p:cNvSpPr/>
          <p:nvPr/>
        </p:nvSpPr>
        <p:spPr>
          <a:xfrm>
            <a:off x="1572826" y="4113917"/>
            <a:ext cx="1351373" cy="130903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42E368-B883-D5A8-E4ED-E829A71FE004}"/>
              </a:ext>
            </a:extLst>
          </p:cNvPr>
          <p:cNvCxnSpPr>
            <a:cxnSpLocks/>
          </p:cNvCxnSpPr>
          <p:nvPr/>
        </p:nvCxnSpPr>
        <p:spPr>
          <a:xfrm flipH="1" flipV="1">
            <a:off x="2023431" y="3084397"/>
            <a:ext cx="773075" cy="11327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DF6FD81-7052-861A-3D9F-9F24CEE5A7CB}"/>
              </a:ext>
            </a:extLst>
          </p:cNvPr>
          <p:cNvSpPr/>
          <p:nvPr/>
        </p:nvSpPr>
        <p:spPr>
          <a:xfrm>
            <a:off x="1474572" y="3078364"/>
            <a:ext cx="1495582" cy="1521749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5433528-81EA-075B-B9A1-29622D60417C}"/>
              </a:ext>
            </a:extLst>
          </p:cNvPr>
          <p:cNvCxnSpPr>
            <a:cxnSpLocks/>
          </p:cNvCxnSpPr>
          <p:nvPr/>
        </p:nvCxnSpPr>
        <p:spPr>
          <a:xfrm flipV="1">
            <a:off x="2001503" y="2679755"/>
            <a:ext cx="495290" cy="426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7400AAE-E385-C868-50AC-0F0D9B3F747C}"/>
              </a:ext>
            </a:extLst>
          </p:cNvPr>
          <p:cNvCxnSpPr>
            <a:cxnSpLocks/>
          </p:cNvCxnSpPr>
          <p:nvPr/>
        </p:nvCxnSpPr>
        <p:spPr>
          <a:xfrm>
            <a:off x="1525847" y="2321073"/>
            <a:ext cx="970946" cy="3694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98C028C-12D2-80E3-E747-ECA2840D4DB8}"/>
              </a:ext>
            </a:extLst>
          </p:cNvPr>
          <p:cNvSpPr/>
          <p:nvPr/>
        </p:nvSpPr>
        <p:spPr>
          <a:xfrm>
            <a:off x="1427959" y="1867536"/>
            <a:ext cx="1148056" cy="117701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B6E5BAC-FA0D-46AC-CB0A-985292D4DDC7}"/>
              </a:ext>
            </a:extLst>
          </p:cNvPr>
          <p:cNvCxnSpPr>
            <a:cxnSpLocks/>
            <a:stCxn id="43" idx="5"/>
          </p:cNvCxnSpPr>
          <p:nvPr/>
        </p:nvCxnSpPr>
        <p:spPr>
          <a:xfrm>
            <a:off x="2751131" y="4377258"/>
            <a:ext cx="1086539" cy="704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F117CA13-5B77-619F-6526-057D1407A4D0}"/>
              </a:ext>
            </a:extLst>
          </p:cNvPr>
          <p:cNvSpPr/>
          <p:nvPr/>
        </p:nvSpPr>
        <p:spPr>
          <a:xfrm>
            <a:off x="2675474" y="4173312"/>
            <a:ext cx="1232477" cy="11902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FBAB86-E1B8-416B-7B2C-FDB4A89698C4}"/>
              </a:ext>
            </a:extLst>
          </p:cNvPr>
          <p:cNvCxnSpPr>
            <a:cxnSpLocks/>
          </p:cNvCxnSpPr>
          <p:nvPr/>
        </p:nvCxnSpPr>
        <p:spPr>
          <a:xfrm flipV="1">
            <a:off x="2841728" y="4023924"/>
            <a:ext cx="566241" cy="33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68C3000-412D-BFB3-052E-6E18ACA1F8AB}"/>
              </a:ext>
            </a:extLst>
          </p:cNvPr>
          <p:cNvCxnSpPr>
            <a:cxnSpLocks/>
          </p:cNvCxnSpPr>
          <p:nvPr/>
        </p:nvCxnSpPr>
        <p:spPr>
          <a:xfrm>
            <a:off x="3376649" y="4040931"/>
            <a:ext cx="506976" cy="1024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2AEA2DDD-184E-63E0-1A86-7AC9839E85EB}"/>
              </a:ext>
            </a:extLst>
          </p:cNvPr>
          <p:cNvSpPr/>
          <p:nvPr/>
        </p:nvSpPr>
        <p:spPr>
          <a:xfrm>
            <a:off x="2763154" y="4017045"/>
            <a:ext cx="1232477" cy="11902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15BB21C-577C-FF02-04CE-BD6495813476}"/>
              </a:ext>
            </a:extLst>
          </p:cNvPr>
          <p:cNvCxnSpPr>
            <a:cxnSpLocks/>
          </p:cNvCxnSpPr>
          <p:nvPr/>
        </p:nvCxnSpPr>
        <p:spPr>
          <a:xfrm flipV="1">
            <a:off x="3382752" y="3025688"/>
            <a:ext cx="690050" cy="9653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D421A6A-5534-6E09-3273-2D3A42E17E0F}"/>
              </a:ext>
            </a:extLst>
          </p:cNvPr>
          <p:cNvSpPr/>
          <p:nvPr/>
        </p:nvSpPr>
        <p:spPr>
          <a:xfrm>
            <a:off x="3309510" y="2988093"/>
            <a:ext cx="2439899" cy="217629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D5CDE9F-7F47-EFDB-5248-F1723A498585}"/>
              </a:ext>
            </a:extLst>
          </p:cNvPr>
          <p:cNvCxnSpPr>
            <a:cxnSpLocks/>
          </p:cNvCxnSpPr>
          <p:nvPr/>
        </p:nvCxnSpPr>
        <p:spPr>
          <a:xfrm flipH="1" flipV="1">
            <a:off x="3060334" y="3038904"/>
            <a:ext cx="229090" cy="956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AA04FCB-B7FC-2D92-E22D-5C504CA5B186}"/>
              </a:ext>
            </a:extLst>
          </p:cNvPr>
          <p:cNvCxnSpPr>
            <a:cxnSpLocks/>
          </p:cNvCxnSpPr>
          <p:nvPr/>
        </p:nvCxnSpPr>
        <p:spPr>
          <a:xfrm flipH="1" flipV="1">
            <a:off x="3092426" y="2988092"/>
            <a:ext cx="948427" cy="33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EB9CA34D-0F7B-3C32-773D-82AABA50CC1D}"/>
              </a:ext>
            </a:extLst>
          </p:cNvPr>
          <p:cNvSpPr/>
          <p:nvPr/>
        </p:nvSpPr>
        <p:spPr>
          <a:xfrm>
            <a:off x="2910960" y="2732371"/>
            <a:ext cx="1207516" cy="133865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8ABBAA1-2C97-60F3-8E47-FC74C0005D33}"/>
              </a:ext>
            </a:extLst>
          </p:cNvPr>
          <p:cNvCxnSpPr>
            <a:cxnSpLocks/>
          </p:cNvCxnSpPr>
          <p:nvPr/>
        </p:nvCxnSpPr>
        <p:spPr>
          <a:xfrm flipV="1">
            <a:off x="3013296" y="2016357"/>
            <a:ext cx="79130" cy="936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21FECC62-46D7-11C3-E2D7-476E1E5A4EA0}"/>
              </a:ext>
            </a:extLst>
          </p:cNvPr>
          <p:cNvSpPr/>
          <p:nvPr/>
        </p:nvSpPr>
        <p:spPr>
          <a:xfrm>
            <a:off x="2841593" y="1761527"/>
            <a:ext cx="1570112" cy="145957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8A07394-388A-967B-C7F5-516F7D68C994}"/>
              </a:ext>
            </a:extLst>
          </p:cNvPr>
          <p:cNvCxnSpPr>
            <a:cxnSpLocks/>
          </p:cNvCxnSpPr>
          <p:nvPr/>
        </p:nvCxnSpPr>
        <p:spPr>
          <a:xfrm flipH="1" flipV="1">
            <a:off x="2515361" y="2687875"/>
            <a:ext cx="524025" cy="3719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F277A824-DED7-A5FE-C487-5C8EB4367BE6}"/>
              </a:ext>
            </a:extLst>
          </p:cNvPr>
          <p:cNvSpPr/>
          <p:nvPr/>
        </p:nvSpPr>
        <p:spPr>
          <a:xfrm>
            <a:off x="1519128" y="1294508"/>
            <a:ext cx="1570112" cy="145957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0137A3F-DA0A-73B1-B7C2-3B06098A0D87}"/>
              </a:ext>
            </a:extLst>
          </p:cNvPr>
          <p:cNvCxnSpPr>
            <a:cxnSpLocks/>
          </p:cNvCxnSpPr>
          <p:nvPr/>
        </p:nvCxnSpPr>
        <p:spPr>
          <a:xfrm flipV="1">
            <a:off x="2494413" y="2032467"/>
            <a:ext cx="577703" cy="6648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ABF02372-76DA-7722-D454-CDBDA26E0847}"/>
              </a:ext>
            </a:extLst>
          </p:cNvPr>
          <p:cNvSpPr/>
          <p:nvPr/>
        </p:nvSpPr>
        <p:spPr>
          <a:xfrm>
            <a:off x="2313528" y="1904060"/>
            <a:ext cx="1105262" cy="1097021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349D9B0-2A39-42A7-4ACF-465E095558C9}"/>
              </a:ext>
            </a:extLst>
          </p:cNvPr>
          <p:cNvCxnSpPr>
            <a:cxnSpLocks/>
          </p:cNvCxnSpPr>
          <p:nvPr/>
        </p:nvCxnSpPr>
        <p:spPr>
          <a:xfrm flipH="1">
            <a:off x="2770505" y="3022880"/>
            <a:ext cx="267782" cy="1212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44568EF-1808-5EFA-CBE1-2FEE39D13288}"/>
              </a:ext>
            </a:extLst>
          </p:cNvPr>
          <p:cNvSpPr/>
          <p:nvPr/>
        </p:nvSpPr>
        <p:spPr>
          <a:xfrm>
            <a:off x="2164281" y="2874921"/>
            <a:ext cx="1373356" cy="14532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4D10BD3-89C4-12B9-5008-4642F5C40650}"/>
              </a:ext>
            </a:extLst>
          </p:cNvPr>
          <p:cNvCxnSpPr>
            <a:cxnSpLocks/>
          </p:cNvCxnSpPr>
          <p:nvPr/>
        </p:nvCxnSpPr>
        <p:spPr>
          <a:xfrm flipH="1">
            <a:off x="2054889" y="3029040"/>
            <a:ext cx="1001283" cy="99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EEE62C9A-AE8C-C83D-E8D6-29CCFBAE51AB}"/>
              </a:ext>
            </a:extLst>
          </p:cNvPr>
          <p:cNvSpPr/>
          <p:nvPr/>
        </p:nvSpPr>
        <p:spPr>
          <a:xfrm>
            <a:off x="1783165" y="2878609"/>
            <a:ext cx="1570112" cy="145957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592304D-B388-16E7-4833-AF14AB89C47A}"/>
              </a:ext>
            </a:extLst>
          </p:cNvPr>
          <p:cNvSpPr/>
          <p:nvPr/>
        </p:nvSpPr>
        <p:spPr>
          <a:xfrm>
            <a:off x="1923945" y="2659572"/>
            <a:ext cx="1142711" cy="95407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5D23E85-11A2-A46F-3AA7-D6F52D185897}"/>
              </a:ext>
            </a:extLst>
          </p:cNvPr>
          <p:cNvSpPr txBox="1"/>
          <p:nvPr/>
        </p:nvSpPr>
        <p:spPr>
          <a:xfrm>
            <a:off x="5568096" y="1351669"/>
            <a:ext cx="43866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Delaunay Triangulation sub-divides the face spanned by the convex hull into triangles.</a:t>
            </a:r>
          </a:p>
          <a:p>
            <a:endParaRPr lang="en-US" dirty="0"/>
          </a:p>
          <a:p>
            <a:r>
              <a:rPr lang="en-US" dirty="0"/>
              <a:t>Specifically, this is the triangulation where the smallest triangle is has the most area (avoids “sliver triangles” [really tiny triangles])</a:t>
            </a:r>
          </a:p>
          <a:p>
            <a:endParaRPr lang="en-US" dirty="0"/>
          </a:p>
          <a:p>
            <a:r>
              <a:rPr lang="en-US" b="1" dirty="0"/>
              <a:t>How to create:</a:t>
            </a:r>
          </a:p>
          <a:p>
            <a:r>
              <a:rPr lang="en-US" dirty="0"/>
              <a:t>Three points form a triangle if the circumcircle created by the three points does NOT contain any other points</a:t>
            </a:r>
          </a:p>
          <a:p>
            <a:endParaRPr lang="en-US" dirty="0"/>
          </a:p>
          <a:p>
            <a:r>
              <a:rPr lang="en-US" dirty="0"/>
              <a:t>A circumcircle is a circle with all three points on the circumference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5566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C902-5779-5AA4-ED95-C6E43503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vex Hull Algorithm - GeeksforGeeks">
            <a:extLst>
              <a:ext uri="{FF2B5EF4-FFF2-40B4-BE49-F238E27FC236}">
                <a16:creationId xmlns:a16="http://schemas.microsoft.com/office/drawing/2014/main" id="{1AAF8DE3-1F80-AEE4-E794-2CF52FF4B4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D3DC20-45A7-FB40-6F5E-55947BCBE08E}"/>
              </a:ext>
            </a:extLst>
          </p:cNvPr>
          <p:cNvSpPr txBox="1"/>
          <p:nvPr/>
        </p:nvSpPr>
        <p:spPr>
          <a:xfrm>
            <a:off x="284315" y="35684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Delaunay Triangulation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A68D869-F663-738E-8CC0-D107E696F198}"/>
              </a:ext>
            </a:extLst>
          </p:cNvPr>
          <p:cNvSpPr/>
          <p:nvPr/>
        </p:nvSpPr>
        <p:spPr>
          <a:xfrm>
            <a:off x="450827" y="2173402"/>
            <a:ext cx="1527125" cy="162938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13496FB-8714-AC5A-60E8-FF4ADA9E523D}"/>
              </a:ext>
            </a:extLst>
          </p:cNvPr>
          <p:cNvSpPr/>
          <p:nvPr/>
        </p:nvSpPr>
        <p:spPr>
          <a:xfrm>
            <a:off x="1184479" y="3078364"/>
            <a:ext cx="1464221" cy="1345151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5F24B3-72FE-A566-3F1D-3D47401C1D71}"/>
              </a:ext>
            </a:extLst>
          </p:cNvPr>
          <p:cNvSpPr/>
          <p:nvPr/>
        </p:nvSpPr>
        <p:spPr>
          <a:xfrm>
            <a:off x="1572826" y="4113917"/>
            <a:ext cx="1351373" cy="130903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91B4801-6117-B08F-EC6B-38B435449D6F}"/>
              </a:ext>
            </a:extLst>
          </p:cNvPr>
          <p:cNvSpPr/>
          <p:nvPr/>
        </p:nvSpPr>
        <p:spPr>
          <a:xfrm>
            <a:off x="1474572" y="3078364"/>
            <a:ext cx="1495582" cy="1521749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FD6548-6A43-E1E6-117B-6CE39BCB7B7F}"/>
              </a:ext>
            </a:extLst>
          </p:cNvPr>
          <p:cNvSpPr/>
          <p:nvPr/>
        </p:nvSpPr>
        <p:spPr>
          <a:xfrm>
            <a:off x="1427959" y="1867536"/>
            <a:ext cx="1148056" cy="117701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CD30B31-37D2-9C2E-C590-3F6F4F8AD1CA}"/>
              </a:ext>
            </a:extLst>
          </p:cNvPr>
          <p:cNvSpPr/>
          <p:nvPr/>
        </p:nvSpPr>
        <p:spPr>
          <a:xfrm>
            <a:off x="2675474" y="4173312"/>
            <a:ext cx="1232477" cy="11902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6EBBBCA-CDF2-9689-ADD8-0B78C9BC6B77}"/>
              </a:ext>
            </a:extLst>
          </p:cNvPr>
          <p:cNvSpPr/>
          <p:nvPr/>
        </p:nvSpPr>
        <p:spPr>
          <a:xfrm>
            <a:off x="2763154" y="4017045"/>
            <a:ext cx="1232477" cy="11902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0D7A18-0DB0-7894-CBF7-A8F3FEEC74D9}"/>
              </a:ext>
            </a:extLst>
          </p:cNvPr>
          <p:cNvSpPr/>
          <p:nvPr/>
        </p:nvSpPr>
        <p:spPr>
          <a:xfrm>
            <a:off x="3309510" y="2988093"/>
            <a:ext cx="2439899" cy="217629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E2557EB-EB9A-DB7F-9F21-5AFB74A5B9EE}"/>
              </a:ext>
            </a:extLst>
          </p:cNvPr>
          <p:cNvSpPr/>
          <p:nvPr/>
        </p:nvSpPr>
        <p:spPr>
          <a:xfrm>
            <a:off x="2910960" y="2732371"/>
            <a:ext cx="1207516" cy="133865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43F8382-C045-4790-38D0-BDA246FA79F7}"/>
              </a:ext>
            </a:extLst>
          </p:cNvPr>
          <p:cNvSpPr/>
          <p:nvPr/>
        </p:nvSpPr>
        <p:spPr>
          <a:xfrm>
            <a:off x="2841593" y="1761527"/>
            <a:ext cx="1570112" cy="145957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48BE87A-2F6B-AA11-A73E-80AC5325CB33}"/>
              </a:ext>
            </a:extLst>
          </p:cNvPr>
          <p:cNvSpPr/>
          <p:nvPr/>
        </p:nvSpPr>
        <p:spPr>
          <a:xfrm>
            <a:off x="1519128" y="1294508"/>
            <a:ext cx="1570112" cy="145957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5A07E5D-71AF-E2F4-4437-60FA9E9DBE5E}"/>
              </a:ext>
            </a:extLst>
          </p:cNvPr>
          <p:cNvSpPr/>
          <p:nvPr/>
        </p:nvSpPr>
        <p:spPr>
          <a:xfrm>
            <a:off x="2313528" y="1904060"/>
            <a:ext cx="1105262" cy="1097021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627A1FB-1353-7656-C54F-2E8E4C6A6DFD}"/>
              </a:ext>
            </a:extLst>
          </p:cNvPr>
          <p:cNvSpPr/>
          <p:nvPr/>
        </p:nvSpPr>
        <p:spPr>
          <a:xfrm>
            <a:off x="2164281" y="2874921"/>
            <a:ext cx="1373356" cy="14532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806A615-A126-F3D2-2DDA-16767D8068B5}"/>
              </a:ext>
            </a:extLst>
          </p:cNvPr>
          <p:cNvSpPr/>
          <p:nvPr/>
        </p:nvSpPr>
        <p:spPr>
          <a:xfrm>
            <a:off x="1783165" y="2878609"/>
            <a:ext cx="1570112" cy="145957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E29F85F-95BF-5705-7CA4-78777F6BE185}"/>
              </a:ext>
            </a:extLst>
          </p:cNvPr>
          <p:cNvSpPr/>
          <p:nvPr/>
        </p:nvSpPr>
        <p:spPr>
          <a:xfrm>
            <a:off x="1923945" y="2659572"/>
            <a:ext cx="1142711" cy="95407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8B5294E-BF63-D5E2-25FC-AA0B6D503F12}"/>
              </a:ext>
            </a:extLst>
          </p:cNvPr>
          <p:cNvSpPr txBox="1"/>
          <p:nvPr/>
        </p:nvSpPr>
        <p:spPr>
          <a:xfrm>
            <a:off x="5568096" y="1351669"/>
            <a:ext cx="43866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Voronoi Diagram</a:t>
            </a:r>
          </a:p>
          <a:p>
            <a:endParaRPr lang="en-US" b="1" dirty="0"/>
          </a:p>
          <a:p>
            <a:r>
              <a:rPr lang="en-US" dirty="0"/>
              <a:t>1) Place points at center of each circumcenter</a:t>
            </a:r>
          </a:p>
          <a:p>
            <a:r>
              <a:rPr lang="en-US" dirty="0"/>
              <a:t>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4014FF-41C9-E8A9-63B5-235C581C84D8}"/>
              </a:ext>
            </a:extLst>
          </p:cNvPr>
          <p:cNvGrpSpPr/>
          <p:nvPr/>
        </p:nvGrpSpPr>
        <p:grpSpPr>
          <a:xfrm>
            <a:off x="1107664" y="1957096"/>
            <a:ext cx="3545974" cy="2954150"/>
            <a:chOff x="1107664" y="1957096"/>
            <a:chExt cx="3545974" cy="295415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CC9B0B6-C64E-06DE-DD2D-CEBBB4857D95}"/>
                </a:ext>
              </a:extLst>
            </p:cNvPr>
            <p:cNvSpPr/>
            <p:nvPr/>
          </p:nvSpPr>
          <p:spPr>
            <a:xfrm>
              <a:off x="4527612" y="3988079"/>
              <a:ext cx="126026" cy="12228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FA93F01-6E7C-0385-674A-C9C630C0B8E5}"/>
                </a:ext>
              </a:extLst>
            </p:cNvPr>
            <p:cNvSpPr/>
            <p:nvPr/>
          </p:nvSpPr>
          <p:spPr>
            <a:xfrm>
              <a:off x="2170836" y="4768432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13547C-9C8F-6EEE-F5C4-34DEBFD0CDC6}"/>
                </a:ext>
              </a:extLst>
            </p:cNvPr>
            <p:cNvSpPr/>
            <p:nvPr/>
          </p:nvSpPr>
          <p:spPr>
            <a:xfrm>
              <a:off x="1107664" y="2874921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0D3FFA6-E8C0-D5B8-9CD9-84ACFA3143BA}"/>
                </a:ext>
              </a:extLst>
            </p:cNvPr>
            <p:cNvSpPr/>
            <p:nvPr/>
          </p:nvSpPr>
          <p:spPr>
            <a:xfrm>
              <a:off x="3554595" y="2381163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063CB9-F493-5848-0A52-B8AB109F33D3}"/>
                </a:ext>
              </a:extLst>
            </p:cNvPr>
            <p:cNvSpPr/>
            <p:nvPr/>
          </p:nvSpPr>
          <p:spPr>
            <a:xfrm>
              <a:off x="2232838" y="1957096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4077C1B-9561-7154-8782-2E74CF693BEA}"/>
                </a:ext>
              </a:extLst>
            </p:cNvPr>
            <p:cNvSpPr/>
            <p:nvPr/>
          </p:nvSpPr>
          <p:spPr>
            <a:xfrm>
              <a:off x="3291712" y="4528706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418A5C4-24ED-36FA-E5C8-7F63A1A04601}"/>
                </a:ext>
              </a:extLst>
            </p:cNvPr>
            <p:cNvSpPr/>
            <p:nvPr/>
          </p:nvSpPr>
          <p:spPr>
            <a:xfrm>
              <a:off x="3190652" y="4671520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C61F97C-4D3A-8444-B06A-18E2E57C0A49}"/>
                </a:ext>
              </a:extLst>
            </p:cNvPr>
            <p:cNvSpPr/>
            <p:nvPr/>
          </p:nvSpPr>
          <p:spPr>
            <a:xfrm>
              <a:off x="1904699" y="2375020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C7E4405-B1D3-16AE-22DE-DF9A1487881D}"/>
                </a:ext>
              </a:extLst>
            </p:cNvPr>
            <p:cNvSpPr/>
            <p:nvPr/>
          </p:nvSpPr>
          <p:spPr>
            <a:xfrm>
              <a:off x="2829518" y="2336371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BECC9AF-6970-374D-5CD2-47589684B85E}"/>
                </a:ext>
              </a:extLst>
            </p:cNvPr>
            <p:cNvSpPr/>
            <p:nvPr/>
          </p:nvSpPr>
          <p:spPr>
            <a:xfrm>
              <a:off x="3502963" y="3286186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4B8F828-0B83-172B-4114-66D97726EFF2}"/>
                </a:ext>
              </a:extLst>
            </p:cNvPr>
            <p:cNvSpPr/>
            <p:nvPr/>
          </p:nvSpPr>
          <p:spPr>
            <a:xfrm>
              <a:off x="1773897" y="3679532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267229C-625E-E979-F47F-1929F7C66338}"/>
                </a:ext>
              </a:extLst>
            </p:cNvPr>
            <p:cNvSpPr/>
            <p:nvPr/>
          </p:nvSpPr>
          <p:spPr>
            <a:xfrm>
              <a:off x="2155013" y="3781969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DC381F3-2CCB-DC83-21B9-3D7FA67C2057}"/>
                </a:ext>
              </a:extLst>
            </p:cNvPr>
            <p:cNvSpPr/>
            <p:nvPr/>
          </p:nvSpPr>
          <p:spPr>
            <a:xfrm>
              <a:off x="2808077" y="3494689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17A602F-3089-07B0-00A3-BB006C3BCC36}"/>
                </a:ext>
              </a:extLst>
            </p:cNvPr>
            <p:cNvSpPr/>
            <p:nvPr/>
          </p:nvSpPr>
          <p:spPr>
            <a:xfrm>
              <a:off x="2450110" y="3429000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6541D6D-C607-4CC5-F320-F73BF930DCF4}"/>
                </a:ext>
              </a:extLst>
            </p:cNvPr>
            <p:cNvSpPr/>
            <p:nvPr/>
          </p:nvSpPr>
          <p:spPr>
            <a:xfrm>
              <a:off x="2437547" y="3017735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345DF-20B7-7A0E-2E11-7362F4B1FFA1}"/>
              </a:ext>
            </a:extLst>
          </p:cNvPr>
          <p:cNvCxnSpPr>
            <a:cxnSpLocks/>
            <a:stCxn id="30" idx="3"/>
            <a:endCxn id="28" idx="6"/>
          </p:cNvCxnSpPr>
          <p:nvPr/>
        </p:nvCxnSpPr>
        <p:spPr>
          <a:xfrm flipV="1">
            <a:off x="3211549" y="4600113"/>
            <a:ext cx="222855" cy="1933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91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70E72-9EA1-D40B-580A-E32C391D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nvex Hull Algorithm - GeeksforGeeks">
            <a:extLst>
              <a:ext uri="{FF2B5EF4-FFF2-40B4-BE49-F238E27FC236}">
                <a16:creationId xmlns:a16="http://schemas.microsoft.com/office/drawing/2014/main" id="{DE5E91DB-2AC7-8B88-39C6-5ED4ACBCF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51" b="22115"/>
          <a:stretch>
            <a:fillRect/>
          </a:stretch>
        </p:blipFill>
        <p:spPr bwMode="auto">
          <a:xfrm>
            <a:off x="222421" y="659357"/>
            <a:ext cx="4176583" cy="553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1D59B2-0370-6E42-8EC2-09A6EFFB8A3B}"/>
              </a:ext>
            </a:extLst>
          </p:cNvPr>
          <p:cNvSpPr txBox="1"/>
          <p:nvPr/>
        </p:nvSpPr>
        <p:spPr>
          <a:xfrm>
            <a:off x="284315" y="35684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Delaunay Triangulation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832AAB-2A57-DA0E-1A9F-B67E19891AD8}"/>
              </a:ext>
            </a:extLst>
          </p:cNvPr>
          <p:cNvGrpSpPr/>
          <p:nvPr/>
        </p:nvGrpSpPr>
        <p:grpSpPr>
          <a:xfrm>
            <a:off x="1107664" y="1957096"/>
            <a:ext cx="3545974" cy="2954150"/>
            <a:chOff x="1107664" y="1957096"/>
            <a:chExt cx="3545974" cy="295415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F887F8A-4A1F-E737-B19A-7A01A2D2730E}"/>
                </a:ext>
              </a:extLst>
            </p:cNvPr>
            <p:cNvSpPr/>
            <p:nvPr/>
          </p:nvSpPr>
          <p:spPr>
            <a:xfrm>
              <a:off x="4527612" y="3988079"/>
              <a:ext cx="126026" cy="12228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5E0C8C1-27F9-CC5A-DE42-455D9D7409E5}"/>
                </a:ext>
              </a:extLst>
            </p:cNvPr>
            <p:cNvSpPr/>
            <p:nvPr/>
          </p:nvSpPr>
          <p:spPr>
            <a:xfrm>
              <a:off x="2170836" y="4768432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B1CD312-784B-E844-A87A-921BE878EF71}"/>
                </a:ext>
              </a:extLst>
            </p:cNvPr>
            <p:cNvSpPr/>
            <p:nvPr/>
          </p:nvSpPr>
          <p:spPr>
            <a:xfrm>
              <a:off x="1107664" y="2874921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0BFC8C-1169-F7F4-027B-282E56E273F9}"/>
                </a:ext>
              </a:extLst>
            </p:cNvPr>
            <p:cNvSpPr/>
            <p:nvPr/>
          </p:nvSpPr>
          <p:spPr>
            <a:xfrm>
              <a:off x="3554595" y="2381163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9230634-7EEE-EB80-C6AD-8C81B6102B9B}"/>
                </a:ext>
              </a:extLst>
            </p:cNvPr>
            <p:cNvSpPr/>
            <p:nvPr/>
          </p:nvSpPr>
          <p:spPr>
            <a:xfrm>
              <a:off x="2232838" y="1957096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D9409-9AC8-B1A6-7941-299A3D7E8EC7}"/>
                </a:ext>
              </a:extLst>
            </p:cNvPr>
            <p:cNvSpPr/>
            <p:nvPr/>
          </p:nvSpPr>
          <p:spPr>
            <a:xfrm>
              <a:off x="3291712" y="4528706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F5E0602-2A3E-AFDD-8125-05408C2E2C4E}"/>
                </a:ext>
              </a:extLst>
            </p:cNvPr>
            <p:cNvSpPr/>
            <p:nvPr/>
          </p:nvSpPr>
          <p:spPr>
            <a:xfrm>
              <a:off x="3190652" y="4671520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279C098-498D-BE79-4696-C79241044BE1}"/>
                </a:ext>
              </a:extLst>
            </p:cNvPr>
            <p:cNvSpPr/>
            <p:nvPr/>
          </p:nvSpPr>
          <p:spPr>
            <a:xfrm>
              <a:off x="1904699" y="2375020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2BA652-418B-8BDD-F7B7-BE9D8F154D8C}"/>
                </a:ext>
              </a:extLst>
            </p:cNvPr>
            <p:cNvSpPr/>
            <p:nvPr/>
          </p:nvSpPr>
          <p:spPr>
            <a:xfrm>
              <a:off x="2829518" y="2336371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23BD68E-4045-CB9B-2F1E-987550BFF177}"/>
                </a:ext>
              </a:extLst>
            </p:cNvPr>
            <p:cNvSpPr/>
            <p:nvPr/>
          </p:nvSpPr>
          <p:spPr>
            <a:xfrm>
              <a:off x="3502963" y="3286186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0035E7-D653-BD51-FCC7-23DAFC069DA9}"/>
                </a:ext>
              </a:extLst>
            </p:cNvPr>
            <p:cNvSpPr/>
            <p:nvPr/>
          </p:nvSpPr>
          <p:spPr>
            <a:xfrm>
              <a:off x="1773897" y="3679532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8BBFCE-B2D7-D7DD-795F-04B12124103B}"/>
                </a:ext>
              </a:extLst>
            </p:cNvPr>
            <p:cNvSpPr/>
            <p:nvPr/>
          </p:nvSpPr>
          <p:spPr>
            <a:xfrm>
              <a:off x="2155013" y="3781969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C8DB06F-8E00-35A2-CB64-FD286EB6852C}"/>
                </a:ext>
              </a:extLst>
            </p:cNvPr>
            <p:cNvSpPr/>
            <p:nvPr/>
          </p:nvSpPr>
          <p:spPr>
            <a:xfrm>
              <a:off x="2808077" y="3494689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D9BC90-4B20-BDA7-53FD-2CA4BCF2BC82}"/>
                </a:ext>
              </a:extLst>
            </p:cNvPr>
            <p:cNvSpPr/>
            <p:nvPr/>
          </p:nvSpPr>
          <p:spPr>
            <a:xfrm>
              <a:off x="2450110" y="3429000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F17EC9E-E51B-AA84-9FFA-29497B5B5829}"/>
                </a:ext>
              </a:extLst>
            </p:cNvPr>
            <p:cNvSpPr/>
            <p:nvPr/>
          </p:nvSpPr>
          <p:spPr>
            <a:xfrm>
              <a:off x="2437547" y="3017735"/>
              <a:ext cx="142692" cy="1428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D4BABB5-EDD9-2BFD-6771-EFD62CEE96CE}"/>
              </a:ext>
            </a:extLst>
          </p:cNvPr>
          <p:cNvCxnSpPr>
            <a:cxnSpLocks/>
          </p:cNvCxnSpPr>
          <p:nvPr/>
        </p:nvCxnSpPr>
        <p:spPr>
          <a:xfrm flipH="1">
            <a:off x="3406707" y="4051536"/>
            <a:ext cx="1132561" cy="5436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34682C7-8BAE-70C7-A494-2A472CC02F48}"/>
              </a:ext>
            </a:extLst>
          </p:cNvPr>
          <p:cNvCxnSpPr>
            <a:cxnSpLocks/>
            <a:stCxn id="30" idx="3"/>
            <a:endCxn id="28" idx="6"/>
          </p:cNvCxnSpPr>
          <p:nvPr/>
        </p:nvCxnSpPr>
        <p:spPr>
          <a:xfrm flipV="1">
            <a:off x="3211549" y="4600113"/>
            <a:ext cx="222855" cy="1933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1390BD3-ADEF-EFB3-E24C-50C5E8E8184B}"/>
              </a:ext>
            </a:extLst>
          </p:cNvPr>
          <p:cNvCxnSpPr>
            <a:cxnSpLocks/>
            <a:stCxn id="23" idx="6"/>
          </p:cNvCxnSpPr>
          <p:nvPr/>
        </p:nvCxnSpPr>
        <p:spPr>
          <a:xfrm flipV="1">
            <a:off x="2313528" y="4754974"/>
            <a:ext cx="928497" cy="848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000926C-769E-36BF-38FF-F279278BEEA0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3601637" y="3376839"/>
            <a:ext cx="988988" cy="6112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AED3880-CD06-BE4E-A65E-1350F511D1AF}"/>
              </a:ext>
            </a:extLst>
          </p:cNvPr>
          <p:cNvCxnSpPr>
            <a:cxnSpLocks/>
          </p:cNvCxnSpPr>
          <p:nvPr/>
        </p:nvCxnSpPr>
        <p:spPr>
          <a:xfrm flipV="1">
            <a:off x="3580964" y="2393681"/>
            <a:ext cx="51632" cy="9050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0448B41-0045-E61C-0281-18B83C096BC4}"/>
              </a:ext>
            </a:extLst>
          </p:cNvPr>
          <p:cNvCxnSpPr>
            <a:cxnSpLocks/>
            <a:stCxn id="35" idx="7"/>
            <a:endCxn id="26" idx="2"/>
          </p:cNvCxnSpPr>
          <p:nvPr/>
        </p:nvCxnSpPr>
        <p:spPr>
          <a:xfrm>
            <a:off x="2951313" y="2357286"/>
            <a:ext cx="603282" cy="952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24C835D-8609-FC95-D440-6D34FA4F481F}"/>
              </a:ext>
            </a:extLst>
          </p:cNvPr>
          <p:cNvCxnSpPr>
            <a:cxnSpLocks/>
            <a:stCxn id="35" idx="5"/>
            <a:endCxn id="27" idx="6"/>
          </p:cNvCxnSpPr>
          <p:nvPr/>
        </p:nvCxnSpPr>
        <p:spPr>
          <a:xfrm flipH="1" flipV="1">
            <a:off x="2375530" y="2028503"/>
            <a:ext cx="575783" cy="4297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B3AD503-C315-B574-DD71-8B1041CBFEDD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1976045" y="2078995"/>
            <a:ext cx="277690" cy="3578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0EC0D2C-68C3-DBA9-85D8-4264BC9038C0}"/>
              </a:ext>
            </a:extLst>
          </p:cNvPr>
          <p:cNvCxnSpPr>
            <a:cxnSpLocks/>
            <a:stCxn id="24" idx="7"/>
          </p:cNvCxnSpPr>
          <p:nvPr/>
        </p:nvCxnSpPr>
        <p:spPr>
          <a:xfrm flipV="1">
            <a:off x="1229459" y="2505870"/>
            <a:ext cx="688449" cy="38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3E1D9F6-BB97-256F-8B68-1091026B6DFF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>
            <a:off x="1925596" y="2496919"/>
            <a:ext cx="532848" cy="5417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FC195EF-399A-C1B5-662E-5E838C70A035}"/>
              </a:ext>
            </a:extLst>
          </p:cNvPr>
          <p:cNvCxnSpPr>
            <a:cxnSpLocks/>
          </p:cNvCxnSpPr>
          <p:nvPr/>
        </p:nvCxnSpPr>
        <p:spPr>
          <a:xfrm flipH="1">
            <a:off x="2545439" y="2426571"/>
            <a:ext cx="320625" cy="6099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F74D613-A271-A5C5-F493-D7B238277F82}"/>
              </a:ext>
            </a:extLst>
          </p:cNvPr>
          <p:cNvCxnSpPr>
            <a:cxnSpLocks/>
            <a:stCxn id="47" idx="0"/>
          </p:cNvCxnSpPr>
          <p:nvPr/>
        </p:nvCxnSpPr>
        <p:spPr>
          <a:xfrm flipH="1">
            <a:off x="2228194" y="3429000"/>
            <a:ext cx="293262" cy="3969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B742FCD-5E00-870B-1AAF-6EE57AC9ED6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185004" y="2961356"/>
            <a:ext cx="609790" cy="7390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843A2EC-CD38-9006-031B-30886FCC3868}"/>
              </a:ext>
            </a:extLst>
          </p:cNvPr>
          <p:cNvCxnSpPr>
            <a:cxnSpLocks/>
            <a:stCxn id="42" idx="3"/>
            <a:endCxn id="23" idx="1"/>
          </p:cNvCxnSpPr>
          <p:nvPr/>
        </p:nvCxnSpPr>
        <p:spPr>
          <a:xfrm>
            <a:off x="2175910" y="3903868"/>
            <a:ext cx="15823" cy="8854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AF4FA90-CCA1-3B42-C13F-0E6DE235D4F8}"/>
              </a:ext>
            </a:extLst>
          </p:cNvPr>
          <p:cNvCxnSpPr>
            <a:cxnSpLocks/>
          </p:cNvCxnSpPr>
          <p:nvPr/>
        </p:nvCxnSpPr>
        <p:spPr>
          <a:xfrm>
            <a:off x="1770890" y="3766858"/>
            <a:ext cx="402013" cy="51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76EAD4F-CDC6-B2B1-8C93-651CD00C34A2}"/>
              </a:ext>
            </a:extLst>
          </p:cNvPr>
          <p:cNvCxnSpPr>
            <a:cxnSpLocks/>
            <a:stCxn id="45" idx="5"/>
            <a:endCxn id="30" idx="1"/>
          </p:cNvCxnSpPr>
          <p:nvPr/>
        </p:nvCxnSpPr>
        <p:spPr>
          <a:xfrm>
            <a:off x="2929872" y="3616588"/>
            <a:ext cx="281677" cy="10758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C5F8736-27A1-68A4-D201-399E8EC22850}"/>
              </a:ext>
            </a:extLst>
          </p:cNvPr>
          <p:cNvCxnSpPr>
            <a:cxnSpLocks/>
            <a:stCxn id="47" idx="1"/>
            <a:endCxn id="50" idx="4"/>
          </p:cNvCxnSpPr>
          <p:nvPr/>
        </p:nvCxnSpPr>
        <p:spPr>
          <a:xfrm flipV="1">
            <a:off x="2471007" y="3160549"/>
            <a:ext cx="37886" cy="2893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A22043-DD7F-CBCD-60C4-DD6AB8986A97}"/>
              </a:ext>
            </a:extLst>
          </p:cNvPr>
          <p:cNvCxnSpPr>
            <a:cxnSpLocks/>
            <a:stCxn id="47" idx="5"/>
            <a:endCxn id="45" idx="6"/>
          </p:cNvCxnSpPr>
          <p:nvPr/>
        </p:nvCxnSpPr>
        <p:spPr>
          <a:xfrm>
            <a:off x="2571905" y="3550899"/>
            <a:ext cx="378864" cy="151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64D186-BDCF-6F80-14EF-496487841CE2}"/>
              </a:ext>
            </a:extLst>
          </p:cNvPr>
          <p:cNvSpPr txBox="1"/>
          <p:nvPr/>
        </p:nvSpPr>
        <p:spPr>
          <a:xfrm>
            <a:off x="5568096" y="1351669"/>
            <a:ext cx="43866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Voronoi Diagram</a:t>
            </a:r>
          </a:p>
          <a:p>
            <a:endParaRPr lang="en-US" b="1" dirty="0"/>
          </a:p>
          <a:p>
            <a:pPr marL="342900" indent="-342900">
              <a:buAutoNum type="arabicParenR"/>
            </a:pPr>
            <a:r>
              <a:rPr lang="en-US" dirty="0"/>
              <a:t>Place points at center of each circumcenter</a:t>
            </a:r>
          </a:p>
          <a:p>
            <a:pPr marL="342900" indent="-342900">
              <a:buAutoNum type="arabicParenR"/>
            </a:pPr>
            <a:r>
              <a:rPr lang="en-US" dirty="0"/>
              <a:t>Connect points that came from circumcenters formed by two triangles that share an edge 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  <a:p>
            <a:r>
              <a:rPr lang="en-US" dirty="0"/>
              <a:t>Voronoi diagram divides a plane into regions defined by their closest “site” (the original black dots in this case).  </a:t>
            </a:r>
          </a:p>
          <a:p>
            <a:endParaRPr lang="en-US" dirty="0"/>
          </a:p>
          <a:p>
            <a:r>
              <a:rPr lang="en-US" dirty="0"/>
              <a:t>Examples:  Closest hospital</a:t>
            </a:r>
          </a:p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E2A456-E595-58ED-2745-91FC8253A576}"/>
              </a:ext>
            </a:extLst>
          </p:cNvPr>
          <p:cNvCxnSpPr>
            <a:cxnSpLocks/>
            <a:stCxn id="45" idx="5"/>
            <a:endCxn id="37" idx="7"/>
          </p:cNvCxnSpPr>
          <p:nvPr/>
        </p:nvCxnSpPr>
        <p:spPr>
          <a:xfrm flipV="1">
            <a:off x="2929872" y="3307101"/>
            <a:ext cx="694886" cy="3094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0A843C-DD12-4564-778B-CAD5E00D6B6F}"/>
              </a:ext>
            </a:extLst>
          </p:cNvPr>
          <p:cNvCxnSpPr>
            <a:cxnSpLocks/>
          </p:cNvCxnSpPr>
          <p:nvPr/>
        </p:nvCxnSpPr>
        <p:spPr>
          <a:xfrm>
            <a:off x="2794680" y="5073615"/>
            <a:ext cx="10488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28E416-1362-89F4-2A26-E905CE56A069}"/>
              </a:ext>
            </a:extLst>
          </p:cNvPr>
          <p:cNvCxnSpPr>
            <a:cxnSpLocks/>
          </p:cNvCxnSpPr>
          <p:nvPr/>
        </p:nvCxnSpPr>
        <p:spPr>
          <a:xfrm flipH="1">
            <a:off x="3843535" y="3004388"/>
            <a:ext cx="235926" cy="2091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06460FD-B03E-710A-3795-EF8DE2712C9F}"/>
              </a:ext>
            </a:extLst>
          </p:cNvPr>
          <p:cNvCxnSpPr>
            <a:cxnSpLocks/>
          </p:cNvCxnSpPr>
          <p:nvPr/>
        </p:nvCxnSpPr>
        <p:spPr>
          <a:xfrm>
            <a:off x="3062647" y="1957096"/>
            <a:ext cx="1016814" cy="10606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4B5CF6-65A8-ACA0-003D-B872578A865D}"/>
              </a:ext>
            </a:extLst>
          </p:cNvPr>
          <p:cNvCxnSpPr>
            <a:cxnSpLocks/>
          </p:cNvCxnSpPr>
          <p:nvPr/>
        </p:nvCxnSpPr>
        <p:spPr>
          <a:xfrm flipV="1">
            <a:off x="1120313" y="2257924"/>
            <a:ext cx="397270" cy="14820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73A6058-9BCB-859C-DF18-3CC07958B918}"/>
              </a:ext>
            </a:extLst>
          </p:cNvPr>
          <p:cNvCxnSpPr>
            <a:cxnSpLocks/>
          </p:cNvCxnSpPr>
          <p:nvPr/>
        </p:nvCxnSpPr>
        <p:spPr>
          <a:xfrm>
            <a:off x="1137965" y="3739926"/>
            <a:ext cx="603128" cy="7092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94E8E4B-EA57-FBE0-58EB-10E870EC6443}"/>
              </a:ext>
            </a:extLst>
          </p:cNvPr>
          <p:cNvCxnSpPr>
            <a:cxnSpLocks/>
          </p:cNvCxnSpPr>
          <p:nvPr/>
        </p:nvCxnSpPr>
        <p:spPr>
          <a:xfrm flipH="1" flipV="1">
            <a:off x="1742774" y="4449215"/>
            <a:ext cx="1006063" cy="6220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6B7848-A460-1AAC-901A-1763336D28D3}"/>
              </a:ext>
            </a:extLst>
          </p:cNvPr>
          <p:cNvCxnSpPr>
            <a:cxnSpLocks/>
          </p:cNvCxnSpPr>
          <p:nvPr/>
        </p:nvCxnSpPr>
        <p:spPr>
          <a:xfrm flipV="1">
            <a:off x="1489899" y="1957096"/>
            <a:ext cx="1560734" cy="3281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E4E26C6-8B64-BB80-515E-BE5B7D51D391}"/>
              </a:ext>
            </a:extLst>
          </p:cNvPr>
          <p:cNvCxnSpPr>
            <a:cxnSpLocks/>
            <a:endCxn id="39" idx="0"/>
          </p:cNvCxnSpPr>
          <p:nvPr/>
        </p:nvCxnSpPr>
        <p:spPr>
          <a:xfrm flipV="1">
            <a:off x="1462259" y="3679532"/>
            <a:ext cx="382984" cy="4150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59E68DE-775C-D925-612D-131D27DDA4EB}"/>
              </a:ext>
            </a:extLst>
          </p:cNvPr>
          <p:cNvCxnSpPr>
            <a:cxnSpLocks/>
          </p:cNvCxnSpPr>
          <p:nvPr/>
        </p:nvCxnSpPr>
        <p:spPr>
          <a:xfrm flipH="1" flipV="1">
            <a:off x="3263334" y="4735965"/>
            <a:ext cx="55773" cy="3352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762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2" name="Picture 10" descr="Face Mesh 468 point 3D face landmarks in video even on mobile devices and  web application MediaPipe - YouTube">
            <a:extLst>
              <a:ext uri="{FF2B5EF4-FFF2-40B4-BE49-F238E27FC236}">
                <a16:creationId xmlns:a16="http://schemas.microsoft.com/office/drawing/2014/main" id="{54282026-5BBF-8239-4EDC-775A7797F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44" t="6044" b="16344"/>
          <a:stretch>
            <a:fillRect/>
          </a:stretch>
        </p:blipFill>
        <p:spPr bwMode="auto">
          <a:xfrm>
            <a:off x="368488" y="425662"/>
            <a:ext cx="5695194" cy="620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209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90B05-9BF9-3936-6D35-3616BF19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2" name="Picture 10" descr="Face Mesh 468 point 3D face landmarks in video even on mobile devices and  web application MediaPipe - YouTube">
            <a:extLst>
              <a:ext uri="{FF2B5EF4-FFF2-40B4-BE49-F238E27FC236}">
                <a16:creationId xmlns:a16="http://schemas.microsoft.com/office/drawing/2014/main" id="{5E877105-C97E-7F2C-00C7-935D77AA42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44" t="6044" b="16344"/>
          <a:stretch>
            <a:fillRect/>
          </a:stretch>
        </p:blipFill>
        <p:spPr bwMode="auto">
          <a:xfrm>
            <a:off x="368488" y="425662"/>
            <a:ext cx="5695194" cy="620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943B15-DACE-2A60-F1B5-DD978DCA1CBF}"/>
              </a:ext>
            </a:extLst>
          </p:cNvPr>
          <p:cNvCxnSpPr/>
          <p:nvPr/>
        </p:nvCxnSpPr>
        <p:spPr>
          <a:xfrm>
            <a:off x="3370997" y="736979"/>
            <a:ext cx="887104" cy="2593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F35BC7-F575-53A7-CA2B-E0029A261224}"/>
              </a:ext>
            </a:extLst>
          </p:cNvPr>
          <p:cNvCxnSpPr>
            <a:cxnSpLocks/>
          </p:cNvCxnSpPr>
          <p:nvPr/>
        </p:nvCxnSpPr>
        <p:spPr>
          <a:xfrm>
            <a:off x="4258101" y="996287"/>
            <a:ext cx="668741" cy="414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6DE6E0-D814-934B-4B99-64CF0D94F57C}"/>
              </a:ext>
            </a:extLst>
          </p:cNvPr>
          <p:cNvCxnSpPr>
            <a:cxnSpLocks/>
          </p:cNvCxnSpPr>
          <p:nvPr/>
        </p:nvCxnSpPr>
        <p:spPr>
          <a:xfrm>
            <a:off x="4926842" y="1411253"/>
            <a:ext cx="313898" cy="4669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00117D-B38A-D5ED-F176-11B7671D5105}"/>
              </a:ext>
            </a:extLst>
          </p:cNvPr>
          <p:cNvCxnSpPr>
            <a:cxnSpLocks/>
          </p:cNvCxnSpPr>
          <p:nvPr/>
        </p:nvCxnSpPr>
        <p:spPr>
          <a:xfrm>
            <a:off x="5240740" y="1878229"/>
            <a:ext cx="136478" cy="5783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F97D0A-F324-6286-C766-FD7D74913EE6}"/>
              </a:ext>
            </a:extLst>
          </p:cNvPr>
          <p:cNvCxnSpPr>
            <a:cxnSpLocks/>
          </p:cNvCxnSpPr>
          <p:nvPr/>
        </p:nvCxnSpPr>
        <p:spPr>
          <a:xfrm flipH="1">
            <a:off x="4749421" y="2456597"/>
            <a:ext cx="559558" cy="22382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049DB2-F481-E722-FFF3-D77CAFBF9C4D}"/>
              </a:ext>
            </a:extLst>
          </p:cNvPr>
          <p:cNvCxnSpPr>
            <a:cxnSpLocks/>
          </p:cNvCxnSpPr>
          <p:nvPr/>
        </p:nvCxnSpPr>
        <p:spPr>
          <a:xfrm flipH="1">
            <a:off x="4121624" y="4653887"/>
            <a:ext cx="620973" cy="6960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E14D24-12F7-142A-589C-60FD7EA78897}"/>
              </a:ext>
            </a:extLst>
          </p:cNvPr>
          <p:cNvCxnSpPr>
            <a:cxnSpLocks/>
          </p:cNvCxnSpPr>
          <p:nvPr/>
        </p:nvCxnSpPr>
        <p:spPr>
          <a:xfrm flipH="1">
            <a:off x="3216085" y="5349922"/>
            <a:ext cx="898715" cy="5868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3C6E7D-E499-4CE2-0522-C8EF8775A342}"/>
              </a:ext>
            </a:extLst>
          </p:cNvPr>
          <p:cNvCxnSpPr>
            <a:cxnSpLocks/>
          </p:cNvCxnSpPr>
          <p:nvPr/>
        </p:nvCxnSpPr>
        <p:spPr>
          <a:xfrm flipH="1">
            <a:off x="2593075" y="5970895"/>
            <a:ext cx="5479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8EF6C6-C44D-7920-1196-606AE314A3A4}"/>
              </a:ext>
            </a:extLst>
          </p:cNvPr>
          <p:cNvCxnSpPr>
            <a:cxnSpLocks/>
          </p:cNvCxnSpPr>
          <p:nvPr/>
        </p:nvCxnSpPr>
        <p:spPr>
          <a:xfrm flipH="1" flipV="1">
            <a:off x="1992573" y="5527343"/>
            <a:ext cx="600502" cy="4253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391C44-3082-079B-C30F-BC69898492D0}"/>
              </a:ext>
            </a:extLst>
          </p:cNvPr>
          <p:cNvCxnSpPr>
            <a:cxnSpLocks/>
          </p:cNvCxnSpPr>
          <p:nvPr/>
        </p:nvCxnSpPr>
        <p:spPr>
          <a:xfrm flipH="1" flipV="1">
            <a:off x="1492036" y="4694830"/>
            <a:ext cx="500537" cy="8143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AEF6A2-B2B9-5D81-46C5-BCDCF3492650}"/>
              </a:ext>
            </a:extLst>
          </p:cNvPr>
          <p:cNvCxnSpPr>
            <a:cxnSpLocks/>
          </p:cNvCxnSpPr>
          <p:nvPr/>
        </p:nvCxnSpPr>
        <p:spPr>
          <a:xfrm flipH="1" flipV="1">
            <a:off x="1160060" y="3739487"/>
            <a:ext cx="331976" cy="9075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EABEFA-D3CA-EF02-A6F1-86A80D0F0E58}"/>
              </a:ext>
            </a:extLst>
          </p:cNvPr>
          <p:cNvCxnSpPr>
            <a:cxnSpLocks/>
          </p:cNvCxnSpPr>
          <p:nvPr/>
        </p:nvCxnSpPr>
        <p:spPr>
          <a:xfrm flipH="1" flipV="1">
            <a:off x="887104" y="2320119"/>
            <a:ext cx="272956" cy="14193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6740060-DA09-6E4B-29B2-F5C5E820F551}"/>
              </a:ext>
            </a:extLst>
          </p:cNvPr>
          <p:cNvCxnSpPr>
            <a:cxnSpLocks/>
          </p:cNvCxnSpPr>
          <p:nvPr/>
        </p:nvCxnSpPr>
        <p:spPr>
          <a:xfrm flipH="1">
            <a:off x="887104" y="1203770"/>
            <a:ext cx="136478" cy="11163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5AFF8F-A9DB-2177-DFE6-66FBA75AB7C5}"/>
              </a:ext>
            </a:extLst>
          </p:cNvPr>
          <p:cNvCxnSpPr>
            <a:cxnSpLocks/>
          </p:cNvCxnSpPr>
          <p:nvPr/>
        </p:nvCxnSpPr>
        <p:spPr>
          <a:xfrm flipH="1">
            <a:off x="1009934" y="900751"/>
            <a:ext cx="150126" cy="338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2E57AE-E340-C794-742A-9F07FB36D330}"/>
              </a:ext>
            </a:extLst>
          </p:cNvPr>
          <p:cNvCxnSpPr>
            <a:cxnSpLocks/>
          </p:cNvCxnSpPr>
          <p:nvPr/>
        </p:nvCxnSpPr>
        <p:spPr>
          <a:xfrm flipH="1">
            <a:off x="1207827" y="736979"/>
            <a:ext cx="534477" cy="1637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D4DD89-978C-FADD-9FA3-C71CCC93F8AE}"/>
              </a:ext>
            </a:extLst>
          </p:cNvPr>
          <p:cNvCxnSpPr>
            <a:cxnSpLocks/>
          </p:cNvCxnSpPr>
          <p:nvPr/>
        </p:nvCxnSpPr>
        <p:spPr>
          <a:xfrm flipH="1">
            <a:off x="1742304" y="736979"/>
            <a:ext cx="16286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7690E62-F896-FB42-3D8C-6D0BA1A635FB}"/>
              </a:ext>
            </a:extLst>
          </p:cNvPr>
          <p:cNvSpPr txBox="1"/>
          <p:nvPr/>
        </p:nvSpPr>
        <p:spPr>
          <a:xfrm>
            <a:off x="6186512" y="574245"/>
            <a:ext cx="3798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Step 1) Convex Hull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D031C6-EC83-0B8F-A68E-EF10928FCF5D}"/>
              </a:ext>
            </a:extLst>
          </p:cNvPr>
          <p:cNvSpPr txBox="1"/>
          <p:nvPr/>
        </p:nvSpPr>
        <p:spPr>
          <a:xfrm>
            <a:off x="6471078" y="1444333"/>
            <a:ext cx="6100548" cy="400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2400" b="0" dirty="0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hull </a:t>
            </a:r>
            <a:r>
              <a:rPr lang="en-US" sz="2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cv2.convexHull(points)</a:t>
            </a:r>
          </a:p>
        </p:txBody>
      </p:sp>
    </p:spTree>
    <p:extLst>
      <p:ext uri="{BB962C8B-B14F-4D97-AF65-F5344CB8AC3E}">
        <p14:creationId xmlns:p14="http://schemas.microsoft.com/office/powerpoint/2010/main" val="689268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1379A-DE25-404A-C454-92FB9A1DE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2" name="Picture 10" descr="Face Mesh 468 point 3D face landmarks in video even on mobile devices and  web application MediaPipe - YouTube">
            <a:extLst>
              <a:ext uri="{FF2B5EF4-FFF2-40B4-BE49-F238E27FC236}">
                <a16:creationId xmlns:a16="http://schemas.microsoft.com/office/drawing/2014/main" id="{1A14D7A0-33E5-B39B-4442-0086A0AA1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44" t="6044" b="16344"/>
          <a:stretch>
            <a:fillRect/>
          </a:stretch>
        </p:blipFill>
        <p:spPr bwMode="auto">
          <a:xfrm>
            <a:off x="368488" y="425662"/>
            <a:ext cx="5695194" cy="620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3B6E622-D8CE-C6B8-2C59-B36103C9FF7F}"/>
              </a:ext>
            </a:extLst>
          </p:cNvPr>
          <p:cNvCxnSpPr/>
          <p:nvPr/>
        </p:nvCxnSpPr>
        <p:spPr>
          <a:xfrm>
            <a:off x="3370997" y="736979"/>
            <a:ext cx="887104" cy="2593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B0CE56-EF8B-A3AD-B27D-061FDC53344F}"/>
              </a:ext>
            </a:extLst>
          </p:cNvPr>
          <p:cNvCxnSpPr>
            <a:cxnSpLocks/>
          </p:cNvCxnSpPr>
          <p:nvPr/>
        </p:nvCxnSpPr>
        <p:spPr>
          <a:xfrm>
            <a:off x="4258101" y="996287"/>
            <a:ext cx="668741" cy="414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36B27-23E9-5B4E-4D0E-B3D963707E64}"/>
              </a:ext>
            </a:extLst>
          </p:cNvPr>
          <p:cNvCxnSpPr>
            <a:cxnSpLocks/>
          </p:cNvCxnSpPr>
          <p:nvPr/>
        </p:nvCxnSpPr>
        <p:spPr>
          <a:xfrm>
            <a:off x="4926842" y="1411253"/>
            <a:ext cx="313898" cy="4669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CBC32C-2616-EAEC-F3E8-9C5E972CA0C1}"/>
              </a:ext>
            </a:extLst>
          </p:cNvPr>
          <p:cNvCxnSpPr>
            <a:cxnSpLocks/>
          </p:cNvCxnSpPr>
          <p:nvPr/>
        </p:nvCxnSpPr>
        <p:spPr>
          <a:xfrm>
            <a:off x="5240740" y="1878229"/>
            <a:ext cx="136478" cy="5783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D9D90-D02F-5DEA-D973-6BF6EF2C45DA}"/>
              </a:ext>
            </a:extLst>
          </p:cNvPr>
          <p:cNvCxnSpPr>
            <a:cxnSpLocks/>
          </p:cNvCxnSpPr>
          <p:nvPr/>
        </p:nvCxnSpPr>
        <p:spPr>
          <a:xfrm flipH="1">
            <a:off x="4749421" y="2456597"/>
            <a:ext cx="559558" cy="22382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095E60-C74D-CADD-E0AB-B2EF0596D322}"/>
              </a:ext>
            </a:extLst>
          </p:cNvPr>
          <p:cNvCxnSpPr>
            <a:cxnSpLocks/>
          </p:cNvCxnSpPr>
          <p:nvPr/>
        </p:nvCxnSpPr>
        <p:spPr>
          <a:xfrm flipH="1">
            <a:off x="4121624" y="4653887"/>
            <a:ext cx="620973" cy="6960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3F4A7B-B19E-AFDF-7F42-118A42BD99F9}"/>
              </a:ext>
            </a:extLst>
          </p:cNvPr>
          <p:cNvCxnSpPr>
            <a:cxnSpLocks/>
          </p:cNvCxnSpPr>
          <p:nvPr/>
        </p:nvCxnSpPr>
        <p:spPr>
          <a:xfrm flipH="1">
            <a:off x="3216085" y="5349922"/>
            <a:ext cx="898715" cy="5868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226C65-EE33-D953-1ED6-F6777EDF23D6}"/>
              </a:ext>
            </a:extLst>
          </p:cNvPr>
          <p:cNvCxnSpPr>
            <a:cxnSpLocks/>
          </p:cNvCxnSpPr>
          <p:nvPr/>
        </p:nvCxnSpPr>
        <p:spPr>
          <a:xfrm flipH="1">
            <a:off x="2593075" y="5970895"/>
            <a:ext cx="5479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629717-42E0-EE69-7645-834BE27B6C88}"/>
              </a:ext>
            </a:extLst>
          </p:cNvPr>
          <p:cNvCxnSpPr>
            <a:cxnSpLocks/>
          </p:cNvCxnSpPr>
          <p:nvPr/>
        </p:nvCxnSpPr>
        <p:spPr>
          <a:xfrm flipH="1" flipV="1">
            <a:off x="1992573" y="5527343"/>
            <a:ext cx="600502" cy="4253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26C045-BC1F-EF01-C7EB-4603A3AC12E8}"/>
              </a:ext>
            </a:extLst>
          </p:cNvPr>
          <p:cNvCxnSpPr>
            <a:cxnSpLocks/>
          </p:cNvCxnSpPr>
          <p:nvPr/>
        </p:nvCxnSpPr>
        <p:spPr>
          <a:xfrm flipH="1" flipV="1">
            <a:off x="1492036" y="4694830"/>
            <a:ext cx="500537" cy="8143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FA475F-D629-7B74-6DCF-C390F0EFB472}"/>
              </a:ext>
            </a:extLst>
          </p:cNvPr>
          <p:cNvCxnSpPr>
            <a:cxnSpLocks/>
          </p:cNvCxnSpPr>
          <p:nvPr/>
        </p:nvCxnSpPr>
        <p:spPr>
          <a:xfrm flipH="1" flipV="1">
            <a:off x="1160060" y="3739487"/>
            <a:ext cx="331976" cy="9075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482682-D4C1-BA89-FB85-F0EEB0D8F971}"/>
              </a:ext>
            </a:extLst>
          </p:cNvPr>
          <p:cNvCxnSpPr>
            <a:cxnSpLocks/>
          </p:cNvCxnSpPr>
          <p:nvPr/>
        </p:nvCxnSpPr>
        <p:spPr>
          <a:xfrm flipH="1" flipV="1">
            <a:off x="887104" y="2320119"/>
            <a:ext cx="272956" cy="14193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7BCD9A-80B5-5557-7CC1-4A2411F1E6EC}"/>
              </a:ext>
            </a:extLst>
          </p:cNvPr>
          <p:cNvCxnSpPr>
            <a:cxnSpLocks/>
          </p:cNvCxnSpPr>
          <p:nvPr/>
        </p:nvCxnSpPr>
        <p:spPr>
          <a:xfrm flipH="1">
            <a:off x="887104" y="1203770"/>
            <a:ext cx="136478" cy="11163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C2266A-BAA7-AF8C-B510-706EADE71E35}"/>
              </a:ext>
            </a:extLst>
          </p:cNvPr>
          <p:cNvCxnSpPr>
            <a:cxnSpLocks/>
          </p:cNvCxnSpPr>
          <p:nvPr/>
        </p:nvCxnSpPr>
        <p:spPr>
          <a:xfrm flipH="1">
            <a:off x="1009934" y="900751"/>
            <a:ext cx="150126" cy="338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BDBE370-3F3D-2155-64ED-38CAB2532BAB}"/>
              </a:ext>
            </a:extLst>
          </p:cNvPr>
          <p:cNvCxnSpPr>
            <a:cxnSpLocks/>
          </p:cNvCxnSpPr>
          <p:nvPr/>
        </p:nvCxnSpPr>
        <p:spPr>
          <a:xfrm flipH="1">
            <a:off x="1207827" y="736979"/>
            <a:ext cx="534477" cy="1637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80C43E-7A67-9AB9-DCC6-B2EF7D2F57BB}"/>
              </a:ext>
            </a:extLst>
          </p:cNvPr>
          <p:cNvCxnSpPr>
            <a:cxnSpLocks/>
          </p:cNvCxnSpPr>
          <p:nvPr/>
        </p:nvCxnSpPr>
        <p:spPr>
          <a:xfrm flipH="1">
            <a:off x="1742304" y="736979"/>
            <a:ext cx="162869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A6A7FF7-F1CF-42CB-6ABA-48C7C37BAB68}"/>
              </a:ext>
            </a:extLst>
          </p:cNvPr>
          <p:cNvSpPr txBox="1"/>
          <p:nvPr/>
        </p:nvSpPr>
        <p:spPr>
          <a:xfrm>
            <a:off x="6186512" y="574245"/>
            <a:ext cx="37980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Step 1) Convex Hull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FF659F-3E48-D9C0-38D4-B3C8A999700B}"/>
              </a:ext>
            </a:extLst>
          </p:cNvPr>
          <p:cNvSpPr txBox="1"/>
          <p:nvPr/>
        </p:nvSpPr>
        <p:spPr>
          <a:xfrm>
            <a:off x="6241269" y="1243926"/>
            <a:ext cx="6100548" cy="400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2400" b="0" dirty="0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hull </a:t>
            </a:r>
            <a:r>
              <a:rPr lang="en-US" sz="2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92929"/>
                </a:solidFill>
                <a:effectLst/>
                <a:latin typeface="Menlo" panose="020B0609030804020204" pitchFamily="49" charset="0"/>
              </a:rPr>
              <a:t> cv2.convexHull(p)</a:t>
            </a:r>
          </a:p>
        </p:txBody>
      </p:sp>
      <p:pic>
        <p:nvPicPr>
          <p:cNvPr id="15362" name="Picture 2" descr="MediaPipe Face Mesh as FACS tracker ...">
            <a:extLst>
              <a:ext uri="{FF2B5EF4-FFF2-40B4-BE49-F238E27FC236}">
                <a16:creationId xmlns:a16="http://schemas.microsoft.com/office/drawing/2014/main" id="{40AC5402-D251-4514-A7F5-4D2CA1189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75" y="83975"/>
            <a:ext cx="5199632" cy="657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5689A3-2623-789B-36B7-98485D492C35}"/>
              </a:ext>
            </a:extLst>
          </p:cNvPr>
          <p:cNvSpPr txBox="1"/>
          <p:nvPr/>
        </p:nvSpPr>
        <p:spPr>
          <a:xfrm>
            <a:off x="6128320" y="2262947"/>
            <a:ext cx="5220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Step 2) Compute triangles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710DE-55BC-0985-79C3-2CF9E7654300}"/>
              </a:ext>
            </a:extLst>
          </p:cNvPr>
          <p:cNvSpPr txBox="1"/>
          <p:nvPr/>
        </p:nvSpPr>
        <p:spPr>
          <a:xfrm>
            <a:off x="6182436" y="3156937"/>
            <a:ext cx="6284794" cy="3126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US" sz="2000" b="0" dirty="0" err="1">
                <a:solidFill>
                  <a:srgbClr val="292929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subdiv</a:t>
            </a:r>
            <a:r>
              <a:rPr lang="en-US" sz="2000" b="0" dirty="0">
                <a:solidFill>
                  <a:srgbClr val="292929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92929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cv2.Subdiv2D(hull)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Insert points into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subdiv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p in points: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subdiv.insert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((int(p[0]), int(p[1])))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Get Delaunay triangulation</a:t>
            </a:r>
          </a:p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triangleList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subdiv.getTriangleList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>
              <a:lnSpc>
                <a:spcPts val="2250"/>
              </a:lnSpc>
              <a:buNone/>
            </a:pPr>
            <a:endParaRPr lang="en-US" sz="1600" b="0" dirty="0">
              <a:solidFill>
                <a:srgbClr val="292929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56A90-6F47-D425-E4DE-5E515B7CF6F7}"/>
              </a:ext>
            </a:extLst>
          </p:cNvPr>
          <p:cNvSpPr txBox="1"/>
          <p:nvPr/>
        </p:nvSpPr>
        <p:spPr>
          <a:xfrm>
            <a:off x="6096000" y="6141088"/>
            <a:ext cx="6237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(facets, centers) = </a:t>
            </a:r>
            <a:r>
              <a:rPr lang="en-US" b="0" i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subdiv.getVoronoiFacetList</a:t>
            </a:r>
            <a:r>
              <a:rPr lang="en-US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([])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45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DC01F75C-A3E9-11BE-7E98-64AD027F5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509" y="974535"/>
            <a:ext cx="4908929" cy="490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ediaPipe Face Mesh as FACS tracker ...">
            <a:extLst>
              <a:ext uri="{FF2B5EF4-FFF2-40B4-BE49-F238E27FC236}">
                <a16:creationId xmlns:a16="http://schemas.microsoft.com/office/drawing/2014/main" id="{98B4CC69-520D-FDD0-90D0-D1F7A782F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75" y="83975"/>
            <a:ext cx="5199632" cy="657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F897562-B89E-A326-655A-F6AEEE0CCA8E}"/>
              </a:ext>
            </a:extLst>
          </p:cNvPr>
          <p:cNvSpPr/>
          <p:nvPr/>
        </p:nvSpPr>
        <p:spPr>
          <a:xfrm>
            <a:off x="2702257" y="974535"/>
            <a:ext cx="272955" cy="21282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CD706F-6B66-A170-483B-0495BAAA5998}"/>
              </a:ext>
            </a:extLst>
          </p:cNvPr>
          <p:cNvSpPr/>
          <p:nvPr/>
        </p:nvSpPr>
        <p:spPr>
          <a:xfrm>
            <a:off x="2702257" y="1440833"/>
            <a:ext cx="272955" cy="21282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E2E94D-4D01-DFC4-4931-38958A639ED9}"/>
              </a:ext>
            </a:extLst>
          </p:cNvPr>
          <p:cNvSpPr/>
          <p:nvPr/>
        </p:nvSpPr>
        <p:spPr>
          <a:xfrm flipV="1">
            <a:off x="3352657" y="947239"/>
            <a:ext cx="272955" cy="1524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38F1B6-DA1B-DB6E-2C87-78FF99F13661}"/>
              </a:ext>
            </a:extLst>
          </p:cNvPr>
          <p:cNvSpPr/>
          <p:nvPr/>
        </p:nvSpPr>
        <p:spPr>
          <a:xfrm>
            <a:off x="9350992" y="974535"/>
            <a:ext cx="272955" cy="21282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929E34-C960-AB85-71A7-553089922AFB}"/>
              </a:ext>
            </a:extLst>
          </p:cNvPr>
          <p:cNvSpPr/>
          <p:nvPr/>
        </p:nvSpPr>
        <p:spPr>
          <a:xfrm>
            <a:off x="9350992" y="1440833"/>
            <a:ext cx="272955" cy="21282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CB4D9D-6F9D-0EFE-5E6C-BF395C6FDE3E}"/>
              </a:ext>
            </a:extLst>
          </p:cNvPr>
          <p:cNvSpPr/>
          <p:nvPr/>
        </p:nvSpPr>
        <p:spPr>
          <a:xfrm flipV="1">
            <a:off x="10001392" y="947239"/>
            <a:ext cx="272955" cy="1524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-Turn Arrow 12">
            <a:extLst>
              <a:ext uri="{FF2B5EF4-FFF2-40B4-BE49-F238E27FC236}">
                <a16:creationId xmlns:a16="http://schemas.microsoft.com/office/drawing/2014/main" id="{86ABF52F-4264-F0EC-217F-8E4B5D4D8B23}"/>
              </a:ext>
            </a:extLst>
          </p:cNvPr>
          <p:cNvSpPr/>
          <p:nvPr/>
        </p:nvSpPr>
        <p:spPr>
          <a:xfrm flipH="1">
            <a:off x="2879678" y="203062"/>
            <a:ext cx="6744268" cy="644734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00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882</Words>
  <Application>Microsoft Macintosh PowerPoint</Application>
  <PresentationFormat>Widescreen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Huppert, Theodore J</dc:creator>
  <cp:lastModifiedBy>Huppert, Theodore J</cp:lastModifiedBy>
  <cp:revision>3</cp:revision>
  <dcterms:created xsi:type="dcterms:W3CDTF">2025-11-05T17:55:52Z</dcterms:created>
  <dcterms:modified xsi:type="dcterms:W3CDTF">2025-11-05T19:41:08Z</dcterms:modified>
</cp:coreProperties>
</file>