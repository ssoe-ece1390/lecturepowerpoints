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2" r:id="rId2"/>
    <p:sldId id="356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6"/>
    <p:restoredTop sz="94686"/>
  </p:normalViewPr>
  <p:slideViewPr>
    <p:cSldViewPr snapToGrid="0">
      <p:cViewPr varScale="1">
        <p:scale>
          <a:sx n="99" d="100"/>
          <a:sy n="99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182BA-D6B2-8C4C-A437-30BC8B3E8EFF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5C116-8FE2-EF4A-B3C0-8D0585635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6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5C116-8FE2-EF4A-B3C0-8D05856357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4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6A3B-E84F-F9FA-B8A0-8DE65DDC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DC21-84F7-1A51-D7E4-E5A0C8A0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8B921-168A-4294-543A-D9B2AAC56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27ACC-8AE0-B624-41CA-D87FE5BA0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5C116-8FE2-EF4A-B3C0-8D05856357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6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5C116-8FE2-EF4A-B3C0-8D05856357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35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A1DD2F-829D-1A0C-E099-9D2666DE7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62740"/>
              </p:ext>
            </p:extLst>
          </p:nvPr>
        </p:nvGraphicFramePr>
        <p:xfrm>
          <a:off x="441434" y="1608908"/>
          <a:ext cx="11062421" cy="4537888"/>
        </p:xfrm>
        <a:graphic>
          <a:graphicData uri="http://schemas.openxmlformats.org/drawingml/2006/table">
            <a:tbl>
              <a:tblPr/>
              <a:tblGrid>
                <a:gridCol w="715660">
                  <a:extLst>
                    <a:ext uri="{9D8B030D-6E8A-4147-A177-3AD203B41FA5}">
                      <a16:colId xmlns:a16="http://schemas.microsoft.com/office/drawing/2014/main" val="2794491609"/>
                    </a:ext>
                  </a:extLst>
                </a:gridCol>
                <a:gridCol w="1570340">
                  <a:extLst>
                    <a:ext uri="{9D8B030D-6E8A-4147-A177-3AD203B41FA5}">
                      <a16:colId xmlns:a16="http://schemas.microsoft.com/office/drawing/2014/main" val="1747983715"/>
                    </a:ext>
                  </a:extLst>
                </a:gridCol>
                <a:gridCol w="3436883">
                  <a:extLst>
                    <a:ext uri="{9D8B030D-6E8A-4147-A177-3AD203B41FA5}">
                      <a16:colId xmlns:a16="http://schemas.microsoft.com/office/drawing/2014/main" val="1415124489"/>
                    </a:ext>
                  </a:extLst>
                </a:gridCol>
                <a:gridCol w="3026980">
                  <a:extLst>
                    <a:ext uri="{9D8B030D-6E8A-4147-A177-3AD203B41FA5}">
                      <a16:colId xmlns:a16="http://schemas.microsoft.com/office/drawing/2014/main" val="917873486"/>
                    </a:ext>
                  </a:extLst>
                </a:gridCol>
                <a:gridCol w="2312558">
                  <a:extLst>
                    <a:ext uri="{9D8B030D-6E8A-4147-A177-3AD203B41FA5}">
                      <a16:colId xmlns:a16="http://schemas.microsoft.com/office/drawing/2014/main" val="2083092539"/>
                    </a:ext>
                  </a:extLst>
                </a:gridCol>
              </a:tblGrid>
              <a:tr h="151505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Week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Date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Topic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 class work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Due date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0163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8/26/2024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Introduction to course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Intro to OpenCV 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58272"/>
                  </a:ext>
                </a:extLst>
              </a:tr>
              <a:tr h="10183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8/28/2024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Image operations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Planning projects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79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Labor Day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19350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Analysis and Color spaces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Initial project proposal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937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9/9/2024. 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Transforms (DFT, </a:t>
                      </a:r>
                      <a:r>
                        <a:rPr lang="en-US" sz="1800" dirty="0" err="1">
                          <a:effectLst/>
                        </a:rPr>
                        <a:t>Haar</a:t>
                      </a:r>
                      <a:r>
                        <a:rPr lang="en-US" sz="1800" dirty="0">
                          <a:effectLst/>
                        </a:rPr>
                        <a:t>, Walsh)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(HW1)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9/16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9106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9/11/2024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Spatial &amp; Frequency Filtering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16580"/>
                  </a:ext>
                </a:extLst>
              </a:tr>
              <a:tr h="28065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9/16/2024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Image Restoration/Inverse filters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(HW2)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Due 9/23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1299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9/18/2024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Edge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White paper on project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4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5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GMM Segmentation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(HW3)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Due 9/30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018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9/25/2024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Morphometric Segmentation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(HW4)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170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9/30/2024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Image Feature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281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Registration &amp; Homography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 (HW5)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10/9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5389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7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10/7/2024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Computational Photography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(HW6)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783435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10/9/2024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Inpainting (Missing data)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Mid project assessment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ratings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50992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8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10/14/2024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FALL Break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3387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16F40BB-A52A-CAE7-E132-D6080FB0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6"/>
            <a:ext cx="10515600" cy="1325563"/>
          </a:xfrm>
        </p:spPr>
        <p:txBody>
          <a:bodyPr/>
          <a:lstStyle/>
          <a:p>
            <a:r>
              <a:rPr lang="en-US" b="1" dirty="0"/>
              <a:t>Syllabus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B708B-3D29-BA32-BFF5-812512843AD0}"/>
              </a:ext>
            </a:extLst>
          </p:cNvPr>
          <p:cNvSpPr txBox="1"/>
          <p:nvPr/>
        </p:nvSpPr>
        <p:spPr>
          <a:xfrm>
            <a:off x="8703733" y="138875"/>
            <a:ext cx="3708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effectLst/>
              </a:rPr>
              <a:t>* Lecture will be remote</a:t>
            </a:r>
          </a:p>
          <a:p>
            <a:r>
              <a:rPr lang="en-US" dirty="0">
                <a:solidFill>
                  <a:srgbClr val="C00000"/>
                </a:solidFill>
              </a:rPr>
              <a:t>** Lecture will be pre-recorded</a:t>
            </a:r>
          </a:p>
        </p:txBody>
      </p:sp>
    </p:spTree>
    <p:extLst>
      <p:ext uri="{BB962C8B-B14F-4D97-AF65-F5344CB8AC3E}">
        <p14:creationId xmlns:p14="http://schemas.microsoft.com/office/powerpoint/2010/main" val="120616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C3EE-5347-9B48-CAE0-22834438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4687B1-E27C-C4A3-B85E-FBB702B7C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96247"/>
              </p:ext>
            </p:extLst>
          </p:nvPr>
        </p:nvGraphicFramePr>
        <p:xfrm>
          <a:off x="441434" y="1608908"/>
          <a:ext cx="11062421" cy="4537888"/>
        </p:xfrm>
        <a:graphic>
          <a:graphicData uri="http://schemas.openxmlformats.org/drawingml/2006/table">
            <a:tbl>
              <a:tblPr/>
              <a:tblGrid>
                <a:gridCol w="715660">
                  <a:extLst>
                    <a:ext uri="{9D8B030D-6E8A-4147-A177-3AD203B41FA5}">
                      <a16:colId xmlns:a16="http://schemas.microsoft.com/office/drawing/2014/main" val="2794491609"/>
                    </a:ext>
                  </a:extLst>
                </a:gridCol>
                <a:gridCol w="1570340">
                  <a:extLst>
                    <a:ext uri="{9D8B030D-6E8A-4147-A177-3AD203B41FA5}">
                      <a16:colId xmlns:a16="http://schemas.microsoft.com/office/drawing/2014/main" val="1747983715"/>
                    </a:ext>
                  </a:extLst>
                </a:gridCol>
                <a:gridCol w="3436883">
                  <a:extLst>
                    <a:ext uri="{9D8B030D-6E8A-4147-A177-3AD203B41FA5}">
                      <a16:colId xmlns:a16="http://schemas.microsoft.com/office/drawing/2014/main" val="1415124489"/>
                    </a:ext>
                  </a:extLst>
                </a:gridCol>
                <a:gridCol w="3026980">
                  <a:extLst>
                    <a:ext uri="{9D8B030D-6E8A-4147-A177-3AD203B41FA5}">
                      <a16:colId xmlns:a16="http://schemas.microsoft.com/office/drawing/2014/main" val="917873486"/>
                    </a:ext>
                  </a:extLst>
                </a:gridCol>
                <a:gridCol w="2312558">
                  <a:extLst>
                    <a:ext uri="{9D8B030D-6E8A-4147-A177-3AD203B41FA5}">
                      <a16:colId xmlns:a16="http://schemas.microsoft.com/office/drawing/2014/main" val="2083092539"/>
                    </a:ext>
                  </a:extLst>
                </a:gridCol>
              </a:tblGrid>
              <a:tr h="151505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Week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Date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Topic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 class work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Due date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0163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8/26/2024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Introduction to course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Intro to OpenCV 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58272"/>
                  </a:ext>
                </a:extLst>
              </a:tr>
              <a:tr h="10183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8/28/2024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Image operations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Planning projects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79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Labor Day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19350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Analysis and Color spaces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Initial project proposal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937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9/9/2024. 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Transforms (DFT, </a:t>
                      </a:r>
                      <a:r>
                        <a:rPr lang="en-US" sz="1800" dirty="0" err="1">
                          <a:effectLst/>
                        </a:rPr>
                        <a:t>Haar</a:t>
                      </a:r>
                      <a:r>
                        <a:rPr lang="en-US" sz="1800" dirty="0">
                          <a:effectLst/>
                        </a:rPr>
                        <a:t>, Walsh)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Initial project proposal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HW 1 Due 9/16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9106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9/11/2024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Spatial &amp; Frequency Filtering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(HW1)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16580"/>
                  </a:ext>
                </a:extLst>
              </a:tr>
              <a:tr h="280658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9/16/2024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**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(HW2)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HW 2 Due 9/23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1299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9/18/2024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Image Restoration/Inverse filters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White paper on project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4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5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Edge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(HW3)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Due 9/30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018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9/25/2024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GMM Segmentation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(HW4)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170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9/30/2024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Morphometric Segmentation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 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281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Image Feature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 (HW5)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10/9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5389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7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10/7/2024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Registration &amp; </a:t>
                      </a:r>
                      <a:r>
                        <a:rPr lang="en-US" sz="1800" dirty="0" err="1">
                          <a:effectLst/>
                        </a:rPr>
                        <a:t>Homography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(HW6)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783435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10/9/2024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Computational Photography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Mid project assessment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ratings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50992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8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10/14/2024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FALL Break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3387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B993CD8-C979-8658-6F14-F93089AC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6"/>
            <a:ext cx="10515600" cy="1325563"/>
          </a:xfrm>
        </p:spPr>
        <p:txBody>
          <a:bodyPr/>
          <a:lstStyle/>
          <a:p>
            <a:r>
              <a:rPr lang="en-US" b="1" dirty="0"/>
              <a:t>Syllabus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011A4-2AF2-4DD2-BF08-511F97E015C9}"/>
              </a:ext>
            </a:extLst>
          </p:cNvPr>
          <p:cNvSpPr txBox="1"/>
          <p:nvPr/>
        </p:nvSpPr>
        <p:spPr>
          <a:xfrm>
            <a:off x="8703733" y="138875"/>
            <a:ext cx="3708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effectLst/>
              </a:rPr>
              <a:t>* Lecture will be remote</a:t>
            </a:r>
          </a:p>
          <a:p>
            <a:r>
              <a:rPr lang="en-US" dirty="0">
                <a:solidFill>
                  <a:srgbClr val="C00000"/>
                </a:solidFill>
              </a:rPr>
              <a:t>** Lecture will be pre-recorded</a:t>
            </a:r>
          </a:p>
        </p:txBody>
      </p:sp>
    </p:spTree>
    <p:extLst>
      <p:ext uri="{BB962C8B-B14F-4D97-AF65-F5344CB8AC3E}">
        <p14:creationId xmlns:p14="http://schemas.microsoft.com/office/powerpoint/2010/main" val="36967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A1DD2F-829D-1A0C-E099-9D2666DE7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345538"/>
              </p:ext>
            </p:extLst>
          </p:nvPr>
        </p:nvGraphicFramePr>
        <p:xfrm>
          <a:off x="441434" y="1608908"/>
          <a:ext cx="11062421" cy="5105124"/>
        </p:xfrm>
        <a:graphic>
          <a:graphicData uri="http://schemas.openxmlformats.org/drawingml/2006/table">
            <a:tbl>
              <a:tblPr/>
              <a:tblGrid>
                <a:gridCol w="715660">
                  <a:extLst>
                    <a:ext uri="{9D8B030D-6E8A-4147-A177-3AD203B41FA5}">
                      <a16:colId xmlns:a16="http://schemas.microsoft.com/office/drawing/2014/main" val="2794491609"/>
                    </a:ext>
                  </a:extLst>
                </a:gridCol>
                <a:gridCol w="1570340">
                  <a:extLst>
                    <a:ext uri="{9D8B030D-6E8A-4147-A177-3AD203B41FA5}">
                      <a16:colId xmlns:a16="http://schemas.microsoft.com/office/drawing/2014/main" val="1747983715"/>
                    </a:ext>
                  </a:extLst>
                </a:gridCol>
                <a:gridCol w="3436883">
                  <a:extLst>
                    <a:ext uri="{9D8B030D-6E8A-4147-A177-3AD203B41FA5}">
                      <a16:colId xmlns:a16="http://schemas.microsoft.com/office/drawing/2014/main" val="1415124489"/>
                    </a:ext>
                  </a:extLst>
                </a:gridCol>
                <a:gridCol w="3026980">
                  <a:extLst>
                    <a:ext uri="{9D8B030D-6E8A-4147-A177-3AD203B41FA5}">
                      <a16:colId xmlns:a16="http://schemas.microsoft.com/office/drawing/2014/main" val="917873486"/>
                    </a:ext>
                  </a:extLst>
                </a:gridCol>
                <a:gridCol w="2312558">
                  <a:extLst>
                    <a:ext uri="{9D8B030D-6E8A-4147-A177-3AD203B41FA5}">
                      <a16:colId xmlns:a16="http://schemas.microsoft.com/office/drawing/2014/main" val="2083092539"/>
                    </a:ext>
                  </a:extLst>
                </a:gridCol>
              </a:tblGrid>
              <a:tr h="151505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Week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Date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Topic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 class work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Due date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0163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8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10/14/2024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FALL Break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5827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10/16/2024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Camera Calibration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(HW7)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10/23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39463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10/21/2024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Image Compression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360844"/>
                  </a:ext>
                </a:extLst>
              </a:tr>
              <a:tr h="10183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Depth &amp; 3D Reconstruction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(HW8)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10/30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79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Haar Cascade Classifiers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(HW9)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19350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10/30/2024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Project updates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937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11/4/2024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Harris Corners and Blobs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9106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HOG and Custom Detectors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(HW10)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11/13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16580"/>
                  </a:ext>
                </a:extLst>
              </a:tr>
              <a:tr h="280658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11/11/2024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Object Tracking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1299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11/13/2024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OCR Text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(HW11)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11/20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4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11/18/2024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OpenCV DNN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(HW12)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12/4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018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Super Resolution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170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11/25/2024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Thanksgiving recess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281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11/27/2024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Thanksgiving recess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5389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15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SLAM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783435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MediaPipe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project commit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50992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12/9/2024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Projects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Project presentations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group ratings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3387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16F40BB-A52A-CAE7-E132-D6080FB0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6"/>
            <a:ext cx="10515600" cy="1325563"/>
          </a:xfrm>
        </p:spPr>
        <p:txBody>
          <a:bodyPr/>
          <a:lstStyle/>
          <a:p>
            <a:r>
              <a:rPr lang="en-US" b="1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60106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0153-823E-EEAC-BC2A-4D28E16C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HW0. Intro to OpenCV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89CC-BAD3-9EF5-7163-17EE7CE81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Examine and run the following code examples:</a:t>
            </a:r>
          </a:p>
          <a:p>
            <a:pPr lvl="1"/>
            <a:r>
              <a:rPr lang="en-US" dirty="0"/>
              <a:t> 01_Loading_Images.ipynb</a:t>
            </a:r>
          </a:p>
          <a:p>
            <a:pPr lvl="1"/>
            <a:r>
              <a:rPr lang="en-US" dirty="0"/>
              <a:t> 02_Basic_Manipulations.ipynb</a:t>
            </a:r>
          </a:p>
          <a:p>
            <a:pPr lvl="1"/>
            <a:r>
              <a:rPr lang="en-US" dirty="0"/>
              <a:t> 03_Annotating_Images.ipynb</a:t>
            </a:r>
          </a:p>
          <a:p>
            <a:pPr lvl="1"/>
            <a:r>
              <a:rPr lang="en-US" dirty="0"/>
              <a:t> 04_Image_Enhancement.ipynb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new notebook, do the following on your own:</a:t>
            </a:r>
          </a:p>
          <a:p>
            <a:pPr lvl="1"/>
            <a:r>
              <a:rPr lang="en-US" dirty="0"/>
              <a:t>Launch </a:t>
            </a:r>
            <a:r>
              <a:rPr lang="en-US" dirty="0" err="1"/>
              <a:t>Jupyter</a:t>
            </a:r>
            <a:r>
              <a:rPr lang="en-US" dirty="0"/>
              <a:t> notebook via VS Code</a:t>
            </a:r>
          </a:p>
          <a:p>
            <a:pPr lvl="1"/>
            <a:r>
              <a:rPr lang="en-US" dirty="0"/>
              <a:t>Load an (Grayscale) image  (‘../Data/</a:t>
            </a:r>
            <a:r>
              <a:rPr lang="en-US" dirty="0" err="1"/>
              <a:t>Lena.jpeg</a:t>
            </a:r>
            <a:r>
              <a:rPr lang="en-US" dirty="0"/>
              <a:t>’)</a:t>
            </a:r>
          </a:p>
          <a:p>
            <a:pPr lvl="1"/>
            <a:r>
              <a:rPr lang="en-US" dirty="0"/>
              <a:t>View image</a:t>
            </a:r>
          </a:p>
          <a:p>
            <a:pPr lvl="1"/>
            <a:r>
              <a:rPr lang="en-US" dirty="0"/>
              <a:t>Crop image</a:t>
            </a:r>
          </a:p>
          <a:p>
            <a:pPr lvl="1"/>
            <a:r>
              <a:rPr lang="en-US" dirty="0"/>
              <a:t>Edit brightness of image</a:t>
            </a:r>
          </a:p>
          <a:p>
            <a:pPr lvl="1"/>
            <a:r>
              <a:rPr lang="en-US" dirty="0"/>
              <a:t>Rotate image</a:t>
            </a:r>
          </a:p>
          <a:p>
            <a:pPr lvl="1"/>
            <a:r>
              <a:rPr lang="en-US" dirty="0"/>
              <a:t>Save modified image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53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HW1. Transforms/Filters/Color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9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HW2. Filters/Image restoration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03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HW3. Edge detection and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449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HW4. </a:t>
            </a:r>
            <a:r>
              <a:rPr lang="en-US" dirty="0" err="1"/>
              <a:t>Morphalogical</a:t>
            </a:r>
            <a:r>
              <a:rPr lang="en-US" dirty="0"/>
              <a:t>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7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HW5. Image registration/</a:t>
            </a:r>
            <a:r>
              <a:rPr lang="en-US" dirty="0" err="1"/>
              <a:t>homography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15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HW6. HDR and Panoramas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0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HW7. Camera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7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HW8. Depth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32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HW9.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51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HW10. Custom detectors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16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HW11. OCR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07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0F1E-3E0A-C75A-B4EB-22E7096A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HW12. OpenCV DNN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029D-2EB4-B7AE-F12C-E6C72451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96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</TotalTime>
  <Words>666</Words>
  <Application>Microsoft Macintosh PowerPoint</Application>
  <PresentationFormat>Widescreen</PresentationFormat>
  <Paragraphs>259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Syllabus</vt:lpstr>
      <vt:lpstr>Syllabus</vt:lpstr>
      <vt:lpstr>Syllabus</vt:lpstr>
      <vt:lpstr>HW0. Intro to OpenCV  </vt:lpstr>
      <vt:lpstr>HW1. Transforms/Filters/Color spaces</vt:lpstr>
      <vt:lpstr>HW2. Filters/Image restoration</vt:lpstr>
      <vt:lpstr>HW3. Edge detection and segmentation</vt:lpstr>
      <vt:lpstr>HW4. Morphalogical segmentation</vt:lpstr>
      <vt:lpstr>HW5. Image registration/homography</vt:lpstr>
      <vt:lpstr>HW6. HDR and Panoramas</vt:lpstr>
      <vt:lpstr>HW7. Camera Calibration</vt:lpstr>
      <vt:lpstr>HW8. Depth estimation</vt:lpstr>
      <vt:lpstr>HW9. Classifiers</vt:lpstr>
      <vt:lpstr>HW10. Custom detectors</vt:lpstr>
      <vt:lpstr>HW11. OCR</vt:lpstr>
      <vt:lpstr>HW12. OpenCV DNN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21</cp:revision>
  <dcterms:created xsi:type="dcterms:W3CDTF">2024-07-14T13:25:54Z</dcterms:created>
  <dcterms:modified xsi:type="dcterms:W3CDTF">2024-09-11T08:29:58Z</dcterms:modified>
</cp:coreProperties>
</file>