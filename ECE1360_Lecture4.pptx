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8" r:id="rId2"/>
    <p:sldId id="257" r:id="rId3"/>
    <p:sldId id="324" r:id="rId4"/>
    <p:sldId id="325" r:id="rId5"/>
    <p:sldId id="350" r:id="rId6"/>
    <p:sldId id="351" r:id="rId7"/>
    <p:sldId id="329" r:id="rId8"/>
    <p:sldId id="321" r:id="rId9"/>
    <p:sldId id="379" r:id="rId10"/>
    <p:sldId id="380" r:id="rId11"/>
    <p:sldId id="381" r:id="rId12"/>
    <p:sldId id="382" r:id="rId13"/>
    <p:sldId id="383" r:id="rId14"/>
    <p:sldId id="384" r:id="rId15"/>
    <p:sldId id="327" r:id="rId16"/>
    <p:sldId id="334" r:id="rId17"/>
    <p:sldId id="338" r:id="rId18"/>
    <p:sldId id="330" r:id="rId19"/>
    <p:sldId id="341" r:id="rId20"/>
    <p:sldId id="328" r:id="rId21"/>
    <p:sldId id="336" r:id="rId22"/>
    <p:sldId id="339" r:id="rId23"/>
    <p:sldId id="337" r:id="rId24"/>
    <p:sldId id="332" r:id="rId25"/>
    <p:sldId id="34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30"/>
    <p:restoredTop sz="94686"/>
  </p:normalViewPr>
  <p:slideViewPr>
    <p:cSldViewPr snapToGrid="0">
      <p:cViewPr varScale="1">
        <p:scale>
          <a:sx n="101" d="100"/>
          <a:sy n="101" d="100"/>
        </p:scale>
        <p:origin x="4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E4B679-86B6-D54F-AC15-7572084ADE80}" type="datetimeFigureOut">
              <a:rPr lang="en-US" smtClean="0"/>
              <a:t>7/14/24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A143D1-6365-0644-90E7-19A19C5B5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473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A519C-CD44-C944-85FE-052B7602187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841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A519C-CD44-C944-85FE-052B7602187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361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A519C-CD44-C944-85FE-052B7602187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2982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A519C-CD44-C944-85FE-052B7602187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45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FC13D-C485-B9D3-99EA-D80E4E9A91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ED7B23-2526-2A0B-6932-F92267ADD5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94BDB-E7E5-9910-C3EE-41DBC544A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03192-56E2-5809-7472-0D7F875DE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B67CD-EF3F-F857-D34F-777CACF3B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148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97195-1EBD-7BCB-3B5A-91AACBD3F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F9648-3F9A-316C-87DB-7EE7798CA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FCF31-6117-AB6E-42EC-0CB56F2D8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4C68E-F23A-A75B-5E8F-82B7E0135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7C07-39A5-0102-8B7C-D54FFEEAB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250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0FBF1-3B26-85B7-5B23-196D6D7AC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F26AA-12EA-8ABD-6EFD-D08F49B2D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98597-67E3-8944-18DE-66DCE81A5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04062-2D0B-BCFF-2512-CEB2B699E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F9974-00DC-799D-5A39-8C4455F5E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666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BE502-6CAF-3BF5-BD6B-065D6AAC9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FD2C5-EA3F-B247-6115-694CB50A27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8C6E22-BDC4-EA3F-0157-4E70E0CA8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755765-826E-C08A-B1AE-7D0450E76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0ED42-71C9-96FD-9AC7-BBBB1E805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298970-A713-3810-1656-9A4974056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197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AEFE3-7F3D-1B88-EFDA-38CEB2490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9FB26-F14D-71C1-7811-FFF97C320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BA1E4B-1C15-4FB7-4E18-041EB41BCE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7C11D1-5A46-1743-FF30-5B7AA77149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39A520-D677-A0EC-79D6-F04D6C4847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23BA99-897A-0500-AE48-09E7B8C2C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E3C3F4-F2F2-C2AF-D951-2143C2AC1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081BF2-C18C-5BCE-8867-97369A7EA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861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803A-82FE-540F-04AD-04E5BC92E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2AE2E6-A597-C016-7335-DDE3857C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6C399-5561-EB63-F9FA-82FD2E4F8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B7DC75-D761-8046-6EA3-3C54C6602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946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0F3204-AE45-9D32-CF50-26F1909D7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BD95A8-B2D5-EADB-1C47-FFB19260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30A1BD-7287-A602-D01E-2E738D412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986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6E0CD-2F46-6818-C3F0-CCADAB2C1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ADD57-4C79-D6D0-FB66-51CEFBADB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B58AD-4B41-DA2A-70C5-3099BAA4B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3F0C8-41B5-BA77-0536-8BA68ED08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776A6-8636-3E77-9BE8-DADC09DBE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36611F-C2E8-BD14-00A5-38A56CB29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70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0ACF2-120D-5B4B-92E9-D6DDDB6E0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34234-27D3-8B30-B909-03E904DB24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FF481E-39C7-E276-5FEC-6132C3F16B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7F9A7-9755-B9B9-95CC-5F76F16D5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77145-B00A-818B-C157-539D33965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9EE6A-0692-79C1-4E2E-81960BE4E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55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67BE6-9453-29ED-002A-FEE3A328C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068097-9D96-7737-81FC-C8D04570D2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4BA2E-E4E4-9C71-BA90-B81529C5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99529-4F7C-0023-1CBA-378E4F29F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C889C-7082-9C58-C006-A02D0F0EC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32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DCA38A-5858-C061-82D2-23AB59B0EA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1AB83F-1485-4E39-161D-4AD3FF8833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7C601-0843-EE91-EFA1-39AC6035B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99449-2C62-2B36-2F54-8C14C84FA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EBC43-AC1F-1AFF-9D37-9D0514CA7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314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DBBABD-0DF4-6ADE-361D-4FAE2F6C4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65B5A-9A96-CA1E-DE77-1E1269C1B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B0F49-17FE-CF85-22D1-CF2C477339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5ABE4-2438-57F3-F77E-B272A49E8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F92FD-D28C-396F-E86B-DDBB7E4D47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697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../media/image3.emf"/><Relationship Id="rId12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emf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../media/image5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NULL"/><Relationship Id="rId7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NULL"/><Relationship Id="rId7" Type="http://schemas.openxmlformats.org/officeDocument/2006/relationships/image" Target="../media/image7.jpeg"/><Relationship Id="rId12" Type="http://schemas.openxmlformats.org/officeDocument/2006/relationships/image" Target="NUL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image" Target="NULL"/><Relationship Id="rId7" Type="http://schemas.openxmlformats.org/officeDocument/2006/relationships/image" Target="../media/image19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emf"/><Relationship Id="rId9" Type="http://schemas.openxmlformats.org/officeDocument/2006/relationships/image" Target="../media/image21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NULL"/><Relationship Id="rId7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7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22.png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NULL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NUL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NULL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NUL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C80CB-850D-B57D-2885-24D9CC9509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Lecture 4</a:t>
            </a:r>
            <a:br>
              <a:rPr lang="en-US" dirty="0"/>
            </a:br>
            <a:r>
              <a:rPr lang="en-US" dirty="0"/>
              <a:t>Filters- Denoising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3925AB-516E-BA4C-6AB2-FAA041E78B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655762"/>
          </a:xfrm>
        </p:spPr>
        <p:txBody>
          <a:bodyPr>
            <a:normAutofit/>
          </a:bodyPr>
          <a:lstStyle/>
          <a:p>
            <a:r>
              <a:rPr lang="en-US" sz="3200" dirty="0"/>
              <a:t>ECE 1360/2360</a:t>
            </a:r>
            <a:br>
              <a:rPr lang="en-US" sz="3200" dirty="0"/>
            </a:br>
            <a:r>
              <a:rPr lang="en-US" sz="3200" dirty="0"/>
              <a:t>Image Processing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B0A0098-675E-E0C4-8109-2166A249C06F}"/>
              </a:ext>
            </a:extLst>
          </p:cNvPr>
          <p:cNvSpPr txBox="1">
            <a:spLocks/>
          </p:cNvSpPr>
          <p:nvPr/>
        </p:nvSpPr>
        <p:spPr>
          <a:xfrm>
            <a:off x="660981" y="3745469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/>
              <a:t>Learning Objectives: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Filtering in 2D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Smoothing filters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Statistical filters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76350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17D47-3B9F-685A-1F4B-04C2BC759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87E41-3048-0695-87D2-81AA6543B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0" marR="0" lvl="2" indent="-228600">
              <a:spcBef>
                <a:spcPts val="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Gaussian</a:t>
            </a:r>
          </a:p>
          <a:p>
            <a:pPr marL="1143000" marR="0" lvl="2" indent="-228600">
              <a:spcBef>
                <a:spcPts val="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Bilinear filter</a:t>
            </a:r>
          </a:p>
          <a:p>
            <a:pPr marL="1143000" marR="0" lvl="2" indent="-228600">
              <a:spcBef>
                <a:spcPts val="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Median filter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227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CE941-1965-84AE-545F-756089EC0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Multidimensional filters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D03F3-578E-DB21-32D4-25B936266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Strategies</a:t>
            </a:r>
          </a:p>
          <a:p>
            <a:pPr lvl="1"/>
            <a:r>
              <a:rPr lang="en-US" dirty="0"/>
              <a:t>Spatial (fixed relationship) filters</a:t>
            </a:r>
          </a:p>
          <a:p>
            <a:pPr lvl="1"/>
            <a:r>
              <a:rPr lang="en-US" dirty="0"/>
              <a:t>Common-Mode filters</a:t>
            </a:r>
          </a:p>
          <a:p>
            <a:pPr lvl="2"/>
            <a:r>
              <a:rPr lang="en-US" dirty="0"/>
              <a:t>Remove (or keep) signals that are common between multiple measurement vectors</a:t>
            </a:r>
          </a:p>
          <a:p>
            <a:pPr lvl="2"/>
            <a:r>
              <a:rPr lang="en-US" dirty="0"/>
              <a:t>E.g. PCA, ICA, CCA methods</a:t>
            </a:r>
          </a:p>
          <a:p>
            <a:pPr lvl="1"/>
            <a:r>
              <a:rPr lang="en-US" dirty="0"/>
              <a:t>External reference</a:t>
            </a:r>
          </a:p>
          <a:p>
            <a:pPr lvl="2"/>
            <a:r>
              <a:rPr lang="en-US" dirty="0"/>
              <a:t>Template of what noise looks like from external measure (e.g. temperature probe)</a:t>
            </a:r>
          </a:p>
          <a:p>
            <a:pPr lvl="2"/>
            <a:r>
              <a:rPr lang="en-US" dirty="0"/>
              <a:t>Filter transfer</a:t>
            </a:r>
          </a:p>
          <a:p>
            <a:pPr lvl="2"/>
            <a:r>
              <a:rPr lang="en-US" dirty="0"/>
              <a:t>Regression approaches</a:t>
            </a:r>
          </a:p>
          <a:p>
            <a:pPr lvl="2"/>
            <a:r>
              <a:rPr lang="en-US" dirty="0"/>
              <a:t>ARIMAX </a:t>
            </a:r>
          </a:p>
          <a:p>
            <a:pPr lvl="1"/>
            <a:r>
              <a:rPr lang="en-US" dirty="0"/>
              <a:t>State-space filters (next lecture) </a:t>
            </a:r>
          </a:p>
        </p:txBody>
      </p:sp>
    </p:spTree>
    <p:extLst>
      <p:ext uri="{BB962C8B-B14F-4D97-AF65-F5344CB8AC3E}">
        <p14:creationId xmlns:p14="http://schemas.microsoft.com/office/powerpoint/2010/main" val="922773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5ACC1-2443-46FA-1F94-9BD596351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Filters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9BE20-E7FC-5AE7-FDEF-E95FD55EB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Signals have a “fixed” relationship to each other</a:t>
            </a:r>
          </a:p>
          <a:p>
            <a:pPr lvl="1"/>
            <a:r>
              <a:rPr lang="en-US" dirty="0"/>
              <a:t>E.g. channel 1 and 2 are neighbors in space</a:t>
            </a:r>
          </a:p>
          <a:p>
            <a:pPr lvl="1"/>
            <a:r>
              <a:rPr lang="en-US" dirty="0"/>
              <a:t>Can be homogenous sampling (like CCD camera) or sparse sampling (e.g. microphones placed around the room)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805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778B3-3A57-6097-6711-4F75E3F49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318" y="249215"/>
            <a:ext cx="3119496" cy="1325563"/>
          </a:xfrm>
        </p:spPr>
        <p:txBody>
          <a:bodyPr/>
          <a:lstStyle/>
          <a:p>
            <a:r>
              <a:rPr lang="en-US" dirty="0"/>
              <a:t>FIR 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EBB2501-CC0B-6CA2-5EC0-E62038059A30}"/>
                  </a:ext>
                </a:extLst>
              </p:cNvPr>
              <p:cNvSpPr txBox="1"/>
              <p:nvPr/>
            </p:nvSpPr>
            <p:spPr>
              <a:xfrm>
                <a:off x="2830368" y="1805935"/>
                <a:ext cx="5890715" cy="12119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𝑗𝑤</m:t>
                              </m:r>
                            </m:sup>
                          </m:sSup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𝑗𝑤</m:t>
                              </m:r>
                            </m:sup>
                          </m:sSup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𝑗𝑘𝑤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EBB2501-CC0B-6CA2-5EC0-E62038059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0368" y="1805935"/>
                <a:ext cx="5890715" cy="1211935"/>
              </a:xfrm>
              <a:prstGeom prst="rect">
                <a:avLst/>
              </a:prstGeom>
              <a:blipFill>
                <a:blip r:embed="rId2"/>
                <a:stretch>
                  <a:fillRect l="-1290" t="-112500" r="-860" b="-17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1F3910-F4B5-86D9-C658-455E6F7CA920}"/>
                  </a:ext>
                </a:extLst>
              </p:cNvPr>
              <p:cNvSpPr txBox="1"/>
              <p:nvPr/>
            </p:nvSpPr>
            <p:spPr>
              <a:xfrm>
                <a:off x="-244225" y="4876878"/>
                <a:ext cx="6638214" cy="12603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]}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  <m:nary>
                            <m:naryPr>
                              <m:limLoc m:val="undOvr"/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b>
                            <m:sup>
                              <m:r>
                                <a:rPr lang="en-US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p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𝑑𝑤</m:t>
                              </m:r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28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𝑗𝑤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  <m:d>
                                        <m:d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𝑗𝑤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1F3910-F4B5-86D9-C658-455E6F7CA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4225" y="4876878"/>
                <a:ext cx="6638214" cy="1260345"/>
              </a:xfrm>
              <a:prstGeom prst="rect">
                <a:avLst/>
              </a:prstGeom>
              <a:blipFill>
                <a:blip r:embed="rId3"/>
                <a:stretch>
                  <a:fillRect t="-130000" b="-19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FD8600E-DB3E-22EF-10E9-5D976C569524}"/>
              </a:ext>
            </a:extLst>
          </p:cNvPr>
          <p:cNvSpPr txBox="1"/>
          <p:nvPr/>
        </p:nvSpPr>
        <p:spPr>
          <a:xfrm>
            <a:off x="1872127" y="3433786"/>
            <a:ext cx="19164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Ideal filter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6E88FF-9B6A-CA77-53C1-74DF488E8D25}"/>
              </a:ext>
            </a:extLst>
          </p:cNvPr>
          <p:cNvSpPr txBox="1"/>
          <p:nvPr/>
        </p:nvSpPr>
        <p:spPr>
          <a:xfrm>
            <a:off x="6621579" y="3444680"/>
            <a:ext cx="27478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Realized filter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00C07AC-C457-97D3-EBA1-3EA0DB3B7286}"/>
              </a:ext>
            </a:extLst>
          </p:cNvPr>
          <p:cNvCxnSpPr/>
          <p:nvPr/>
        </p:nvCxnSpPr>
        <p:spPr>
          <a:xfrm flipV="1">
            <a:off x="2830368" y="2743200"/>
            <a:ext cx="489029" cy="50582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10BF0AF-2AD7-0DDA-7CFD-A2BBFDD399EC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7317288" y="2847557"/>
            <a:ext cx="678236" cy="59712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8567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778B3-3A57-6097-6711-4F75E3F49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318" y="249215"/>
            <a:ext cx="3119496" cy="1325563"/>
          </a:xfrm>
        </p:spPr>
        <p:txBody>
          <a:bodyPr/>
          <a:lstStyle/>
          <a:p>
            <a:r>
              <a:rPr lang="en-US" dirty="0"/>
              <a:t>FIR 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EBB2501-CC0B-6CA2-5EC0-E62038059A30}"/>
                  </a:ext>
                </a:extLst>
              </p:cNvPr>
              <p:cNvSpPr txBox="1"/>
              <p:nvPr/>
            </p:nvSpPr>
            <p:spPr>
              <a:xfrm>
                <a:off x="2830368" y="1805935"/>
                <a:ext cx="5890715" cy="12119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𝑗𝑤</m:t>
                              </m:r>
                            </m:sup>
                          </m:sSup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𝑗𝑤</m:t>
                              </m:r>
                            </m:sup>
                          </m:sSup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𝑗𝑘𝑤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EBB2501-CC0B-6CA2-5EC0-E62038059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0368" y="1805935"/>
                <a:ext cx="5890715" cy="1211935"/>
              </a:xfrm>
              <a:prstGeom prst="rect">
                <a:avLst/>
              </a:prstGeom>
              <a:blipFill>
                <a:blip r:embed="rId2"/>
                <a:stretch>
                  <a:fillRect l="-1290" t="-112500" r="-860" b="-17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1F3910-F4B5-86D9-C658-455E6F7CA920}"/>
                  </a:ext>
                </a:extLst>
              </p:cNvPr>
              <p:cNvSpPr txBox="1"/>
              <p:nvPr/>
            </p:nvSpPr>
            <p:spPr>
              <a:xfrm>
                <a:off x="-244225" y="4876878"/>
                <a:ext cx="6638214" cy="12603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]}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  <m:nary>
                            <m:naryPr>
                              <m:limLoc m:val="undOvr"/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b>
                            <m:sup>
                              <m:r>
                                <a:rPr lang="en-US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p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𝑑𝑤</m:t>
                              </m:r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28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𝑗𝑤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  <m:d>
                                        <m:d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𝑗𝑤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1F3910-F4B5-86D9-C658-455E6F7CA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4225" y="4876878"/>
                <a:ext cx="6638214" cy="1260345"/>
              </a:xfrm>
              <a:prstGeom prst="rect">
                <a:avLst/>
              </a:prstGeom>
              <a:blipFill>
                <a:blip r:embed="rId3"/>
                <a:stretch>
                  <a:fillRect t="-130000" b="-19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FD8600E-DB3E-22EF-10E9-5D976C569524}"/>
              </a:ext>
            </a:extLst>
          </p:cNvPr>
          <p:cNvSpPr txBox="1"/>
          <p:nvPr/>
        </p:nvSpPr>
        <p:spPr>
          <a:xfrm>
            <a:off x="1872127" y="3433786"/>
            <a:ext cx="19164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Ideal filter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6E88FF-9B6A-CA77-53C1-74DF488E8D25}"/>
              </a:ext>
            </a:extLst>
          </p:cNvPr>
          <p:cNvSpPr txBox="1"/>
          <p:nvPr/>
        </p:nvSpPr>
        <p:spPr>
          <a:xfrm>
            <a:off x="6621579" y="3444680"/>
            <a:ext cx="27478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Realized filter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00C07AC-C457-97D3-EBA1-3EA0DB3B7286}"/>
              </a:ext>
            </a:extLst>
          </p:cNvPr>
          <p:cNvCxnSpPr/>
          <p:nvPr/>
        </p:nvCxnSpPr>
        <p:spPr>
          <a:xfrm flipV="1">
            <a:off x="2830368" y="2743200"/>
            <a:ext cx="489029" cy="50582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10BF0AF-2AD7-0DDA-7CFD-A2BBFDD399EC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7317288" y="2847557"/>
            <a:ext cx="678236" cy="59712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12406D-C94F-8C86-0A73-8BAC1F8DC9D0}"/>
                  </a:ext>
                </a:extLst>
              </p:cNvPr>
              <p:cNvSpPr txBox="1"/>
              <p:nvPr/>
            </p:nvSpPr>
            <p:spPr>
              <a:xfrm>
                <a:off x="5932447" y="4715082"/>
                <a:ext cx="6638214" cy="12603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]}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  <m:nary>
                            <m:naryPr>
                              <m:limLoc m:val="undOvr"/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b>
                            <m:sup>
                              <m:r>
                                <a:rPr lang="en-US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p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𝑑𝑤</m:t>
                              </m:r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</m:d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  <m:d>
                                        <m:d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12406D-C94F-8C86-0A73-8BAC1F8DC9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47" y="4715082"/>
                <a:ext cx="6638214" cy="1260345"/>
              </a:xfrm>
              <a:prstGeom prst="rect">
                <a:avLst/>
              </a:prstGeom>
              <a:blipFill>
                <a:blip r:embed="rId4"/>
                <a:stretch>
                  <a:fillRect t="-130000" b="-19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25AD451-713A-D0B9-05A3-EA70758A69C3}"/>
                  </a:ext>
                </a:extLst>
              </p:cNvPr>
              <p:cNvSpPr txBox="1"/>
              <p:nvPr/>
            </p:nvSpPr>
            <p:spPr>
              <a:xfrm>
                <a:off x="3155554" y="4266043"/>
                <a:ext cx="6096000" cy="4744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𝑗𝑤</m:t>
                              </m:r>
                            </m:sup>
                          </m:sSup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p>
                      </m:sSup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25AD451-713A-D0B9-05A3-EA70758A69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5554" y="4266043"/>
                <a:ext cx="6096000" cy="4744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F0095B-C37D-DD74-AA6D-98002C8E42BE}"/>
                  </a:ext>
                </a:extLst>
              </p:cNvPr>
              <p:cNvSpPr txBox="1"/>
              <p:nvPr/>
            </p:nvSpPr>
            <p:spPr>
              <a:xfrm>
                <a:off x="6621579" y="6260944"/>
                <a:ext cx="304907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𝐷𝐹𝑇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F0095B-C37D-DD74-AA6D-98002C8E42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1579" y="6260944"/>
                <a:ext cx="3049074" cy="461665"/>
              </a:xfrm>
              <a:prstGeom prst="rect">
                <a:avLst/>
              </a:prstGeom>
              <a:blipFill>
                <a:blip r:embed="rId6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CB5128E-2F9D-4B8F-3F37-00B3D94FEEEA}"/>
              </a:ext>
            </a:extLst>
          </p:cNvPr>
          <p:cNvCxnSpPr/>
          <p:nvPr/>
        </p:nvCxnSpPr>
        <p:spPr>
          <a:xfrm>
            <a:off x="5110619" y="4876878"/>
            <a:ext cx="220666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5696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778B3-3A57-6097-6711-4F75E3F49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318" y="249215"/>
            <a:ext cx="3119496" cy="1325563"/>
          </a:xfrm>
        </p:spPr>
        <p:txBody>
          <a:bodyPr/>
          <a:lstStyle/>
          <a:p>
            <a:r>
              <a:rPr lang="en-US" dirty="0"/>
              <a:t>FIR 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EBB2501-CC0B-6CA2-5EC0-E62038059A30}"/>
                  </a:ext>
                </a:extLst>
              </p:cNvPr>
              <p:cNvSpPr txBox="1"/>
              <p:nvPr/>
            </p:nvSpPr>
            <p:spPr>
              <a:xfrm>
                <a:off x="2830368" y="1805935"/>
                <a:ext cx="5890715" cy="12119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𝑗𝑤</m:t>
                              </m:r>
                            </m:sup>
                          </m:sSup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𝑗𝑤</m:t>
                              </m:r>
                            </m:sup>
                          </m:sSup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𝑗𝑘𝑤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EBB2501-CC0B-6CA2-5EC0-E62038059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0368" y="1805935"/>
                <a:ext cx="5890715" cy="1211935"/>
              </a:xfrm>
              <a:prstGeom prst="rect">
                <a:avLst/>
              </a:prstGeom>
              <a:blipFill>
                <a:blip r:embed="rId2"/>
                <a:stretch>
                  <a:fillRect l="-1290" t="-112500" r="-860" b="-17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1F3910-F4B5-86D9-C658-455E6F7CA920}"/>
                  </a:ext>
                </a:extLst>
              </p:cNvPr>
              <p:cNvSpPr txBox="1"/>
              <p:nvPr/>
            </p:nvSpPr>
            <p:spPr>
              <a:xfrm>
                <a:off x="-244225" y="4876878"/>
                <a:ext cx="6638214" cy="12603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]}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  <m:nary>
                            <m:naryPr>
                              <m:limLoc m:val="undOvr"/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b>
                            <m:sup>
                              <m:r>
                                <a:rPr lang="en-US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p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𝑑𝑤</m:t>
                              </m:r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28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𝑗𝑤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  <m:d>
                                        <m:d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𝑗𝑤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1F3910-F4B5-86D9-C658-455E6F7CA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4225" y="4876878"/>
                <a:ext cx="6638214" cy="1260345"/>
              </a:xfrm>
              <a:prstGeom prst="rect">
                <a:avLst/>
              </a:prstGeom>
              <a:blipFill>
                <a:blip r:embed="rId3"/>
                <a:stretch>
                  <a:fillRect t="-130000" b="-19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FD8600E-DB3E-22EF-10E9-5D976C569524}"/>
              </a:ext>
            </a:extLst>
          </p:cNvPr>
          <p:cNvSpPr txBox="1"/>
          <p:nvPr/>
        </p:nvSpPr>
        <p:spPr>
          <a:xfrm>
            <a:off x="1872127" y="3433786"/>
            <a:ext cx="19164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Ideal filter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6E88FF-9B6A-CA77-53C1-74DF488E8D25}"/>
              </a:ext>
            </a:extLst>
          </p:cNvPr>
          <p:cNvSpPr txBox="1"/>
          <p:nvPr/>
        </p:nvSpPr>
        <p:spPr>
          <a:xfrm>
            <a:off x="6621579" y="3444680"/>
            <a:ext cx="27478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Realized filter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00C07AC-C457-97D3-EBA1-3EA0DB3B7286}"/>
              </a:ext>
            </a:extLst>
          </p:cNvPr>
          <p:cNvCxnSpPr/>
          <p:nvPr/>
        </p:nvCxnSpPr>
        <p:spPr>
          <a:xfrm flipV="1">
            <a:off x="2830368" y="2743200"/>
            <a:ext cx="489029" cy="50582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10BF0AF-2AD7-0DDA-7CFD-A2BBFDD399EC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7317288" y="2847557"/>
            <a:ext cx="678236" cy="59712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25AD451-713A-D0B9-05A3-EA70758A69C3}"/>
                  </a:ext>
                </a:extLst>
              </p:cNvPr>
              <p:cNvSpPr txBox="1"/>
              <p:nvPr/>
            </p:nvSpPr>
            <p:spPr>
              <a:xfrm>
                <a:off x="3155554" y="4266043"/>
                <a:ext cx="6096000" cy="4744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𝑗𝑤</m:t>
                              </m:r>
                            </m:sup>
                          </m:sSup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p>
                      </m:sSup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25AD451-713A-D0B9-05A3-EA70758A69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5554" y="4266043"/>
                <a:ext cx="6096000" cy="4744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CB5128E-2F9D-4B8F-3F37-00B3D94FEEEA}"/>
              </a:ext>
            </a:extLst>
          </p:cNvPr>
          <p:cNvCxnSpPr/>
          <p:nvPr/>
        </p:nvCxnSpPr>
        <p:spPr>
          <a:xfrm>
            <a:off x="5110619" y="4876878"/>
            <a:ext cx="220666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B0342B2-540A-A104-3465-7631216B7302}"/>
                  </a:ext>
                </a:extLst>
              </p:cNvPr>
              <p:cNvSpPr txBox="1"/>
              <p:nvPr/>
            </p:nvSpPr>
            <p:spPr>
              <a:xfrm>
                <a:off x="5401976" y="4792541"/>
                <a:ext cx="6638214" cy="11748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]}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=−∞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sub>
                                      </m:s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[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]−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[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]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B0342B2-540A-A104-3465-7631216B73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1976" y="4792541"/>
                <a:ext cx="6638214" cy="1174809"/>
              </a:xfrm>
              <a:prstGeom prst="rect">
                <a:avLst/>
              </a:prstGeom>
              <a:blipFill>
                <a:blip r:embed="rId5"/>
                <a:stretch>
                  <a:fillRect t="-120430" b="-1806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538004FA-50AD-EC68-9A0D-8BE4349BAC30}"/>
              </a:ext>
            </a:extLst>
          </p:cNvPr>
          <p:cNvSpPr txBox="1"/>
          <p:nvPr/>
        </p:nvSpPr>
        <p:spPr>
          <a:xfrm>
            <a:off x="6568338" y="6197412"/>
            <a:ext cx="40439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Parseval’s Theorem</a:t>
            </a:r>
          </a:p>
        </p:txBody>
      </p:sp>
    </p:spTree>
    <p:extLst>
      <p:ext uri="{BB962C8B-B14F-4D97-AF65-F5344CB8AC3E}">
        <p14:creationId xmlns:p14="http://schemas.microsoft.com/office/powerpoint/2010/main" val="3925296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778B3-3A57-6097-6711-4F75E3F49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318" y="249215"/>
            <a:ext cx="10515600" cy="1325563"/>
          </a:xfrm>
        </p:spPr>
        <p:txBody>
          <a:bodyPr/>
          <a:lstStyle/>
          <a:p>
            <a:r>
              <a:rPr lang="en-US" dirty="0"/>
              <a:t>Window method for FIR 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876D372-B7B7-5929-821E-CC7A401EBF01}"/>
                  </a:ext>
                </a:extLst>
              </p:cNvPr>
              <p:cNvSpPr txBox="1"/>
              <p:nvPr/>
            </p:nvSpPr>
            <p:spPr>
              <a:xfrm>
                <a:off x="0" y="1524570"/>
                <a:ext cx="12140186" cy="128144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]}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sub>
                                      </m:s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[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]−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[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]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=−∞</m:t>
                                  </m:r>
                                </m:sub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/2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[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]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/2</m:t>
                                  </m:r>
                                </m:sub>
                                <m:sup>
                                  <m:r>
                                    <a:rPr lang="en-US" sz="2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[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]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876D372-B7B7-5929-821E-CC7A401EBF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24570"/>
                <a:ext cx="12140186" cy="1281441"/>
              </a:xfrm>
              <a:prstGeom prst="rect">
                <a:avLst/>
              </a:prstGeom>
              <a:blipFill>
                <a:blip r:embed="rId2"/>
                <a:stretch>
                  <a:fillRect t="-106931" b="-1623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63F5CDC-D460-1BFA-5A07-FF541A0B5A6A}"/>
                  </a:ext>
                </a:extLst>
              </p:cNvPr>
              <p:cNvSpPr txBox="1"/>
              <p:nvPr/>
            </p:nvSpPr>
            <p:spPr>
              <a:xfrm>
                <a:off x="3749425" y="3759602"/>
                <a:ext cx="417597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3200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sz="32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]∙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sz="3200" dirty="0"/>
                  <a:t>[k]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63F5CDC-D460-1BFA-5A07-FF541A0B5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425" y="3759602"/>
                <a:ext cx="4175975" cy="584775"/>
              </a:xfrm>
              <a:prstGeom prst="rect">
                <a:avLst/>
              </a:prstGeom>
              <a:blipFill>
                <a:blip r:embed="rId3"/>
                <a:stretch>
                  <a:fillRect t="-14894" b="-29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F8AB8B4-F7B7-EDAA-DB68-0C33E47789CA}"/>
                  </a:ext>
                </a:extLst>
              </p:cNvPr>
              <p:cNvSpPr txBox="1"/>
              <p:nvPr/>
            </p:nvSpPr>
            <p:spPr>
              <a:xfrm>
                <a:off x="3749424" y="5756373"/>
                <a:ext cx="417597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3200" b="0" dirty="0"/>
                  <a:t>A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US" sz="3200" dirty="0"/>
                  <a:t>W(w)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F8AB8B4-F7B7-EDAA-DB68-0C33E4778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424" y="5756373"/>
                <a:ext cx="4175975" cy="584775"/>
              </a:xfrm>
              <a:prstGeom prst="rect">
                <a:avLst/>
              </a:prstGeom>
              <a:blipFill>
                <a:blip r:embed="rId4"/>
                <a:stretch>
                  <a:fillRect t="-14894" b="-31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BB90985-492E-57DE-10F5-FA9BB55497D6}"/>
              </a:ext>
            </a:extLst>
          </p:cNvPr>
          <p:cNvSpPr txBox="1"/>
          <p:nvPr/>
        </p:nvSpPr>
        <p:spPr>
          <a:xfrm>
            <a:off x="5066446" y="4964098"/>
            <a:ext cx="1541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Ideal filter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A2A133E-6515-33B8-8313-FE952FD0D003}"/>
              </a:ext>
            </a:extLst>
          </p:cNvPr>
          <p:cNvCxnSpPr/>
          <p:nvPr/>
        </p:nvCxnSpPr>
        <p:spPr>
          <a:xfrm flipH="1">
            <a:off x="5486400" y="5425763"/>
            <a:ext cx="171718" cy="3306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AA5729C-C179-D13C-1729-A788B6662A8F}"/>
              </a:ext>
            </a:extLst>
          </p:cNvPr>
          <p:cNvCxnSpPr>
            <a:cxnSpLocks/>
          </p:cNvCxnSpPr>
          <p:nvPr/>
        </p:nvCxnSpPr>
        <p:spPr>
          <a:xfrm flipH="1" flipV="1">
            <a:off x="6992471" y="4344377"/>
            <a:ext cx="324118" cy="2111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53526AC-4220-F462-77B4-C4F94EF0604A}"/>
              </a:ext>
            </a:extLst>
          </p:cNvPr>
          <p:cNvSpPr txBox="1"/>
          <p:nvPr/>
        </p:nvSpPr>
        <p:spPr>
          <a:xfrm>
            <a:off x="6992471" y="4483152"/>
            <a:ext cx="32147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Time domain window</a:t>
            </a:r>
          </a:p>
        </p:txBody>
      </p:sp>
    </p:spTree>
    <p:extLst>
      <p:ext uri="{BB962C8B-B14F-4D97-AF65-F5344CB8AC3E}">
        <p14:creationId xmlns:p14="http://schemas.microsoft.com/office/powerpoint/2010/main" val="941876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778B3-3A57-6097-6711-4F75E3F49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318" y="249215"/>
            <a:ext cx="10515600" cy="1325563"/>
          </a:xfrm>
        </p:spPr>
        <p:txBody>
          <a:bodyPr/>
          <a:lstStyle/>
          <a:p>
            <a:r>
              <a:rPr lang="en-US" dirty="0"/>
              <a:t>Window method for FIR 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876D372-B7B7-5929-821E-CC7A401EBF01}"/>
                  </a:ext>
                </a:extLst>
              </p:cNvPr>
              <p:cNvSpPr txBox="1"/>
              <p:nvPr/>
            </p:nvSpPr>
            <p:spPr>
              <a:xfrm>
                <a:off x="0" y="1524570"/>
                <a:ext cx="12140186" cy="128144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]}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sub>
                                      </m:s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[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]−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[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]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=−∞</m:t>
                                  </m:r>
                                </m:sub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/2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[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]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/2</m:t>
                                  </m:r>
                                </m:sub>
                                <m:sup>
                                  <m:r>
                                    <a:rPr lang="en-US" sz="2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[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]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876D372-B7B7-5929-821E-CC7A401EBF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24570"/>
                <a:ext cx="12140186" cy="1281441"/>
              </a:xfrm>
              <a:prstGeom prst="rect">
                <a:avLst/>
              </a:prstGeom>
              <a:blipFill>
                <a:blip r:embed="rId2"/>
                <a:stretch>
                  <a:fillRect t="-106931" b="-1623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Sinc Function - an overview | ScienceDirect Topics">
            <a:extLst>
              <a:ext uri="{FF2B5EF4-FFF2-40B4-BE49-F238E27FC236}">
                <a16:creationId xmlns:a16="http://schemas.microsoft.com/office/drawing/2014/main" id="{5356DB6D-2DE7-0ADD-8AF3-B2A886FB95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9882" y="3196183"/>
            <a:ext cx="5740273" cy="3412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7826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098AB5F-6100-DF82-17D1-A85E4205CFD5}"/>
                  </a:ext>
                </a:extLst>
              </p:cNvPr>
              <p:cNvSpPr txBox="1"/>
              <p:nvPr/>
            </p:nvSpPr>
            <p:spPr>
              <a:xfrm>
                <a:off x="121192" y="555487"/>
                <a:ext cx="1540998" cy="8793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3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3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</m:oMath>
                  </m:oMathPara>
                </a14:m>
                <a:endParaRPr lang="en-US" sz="3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098AB5F-6100-DF82-17D1-A85E4205CF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192" y="555487"/>
                <a:ext cx="1540998" cy="879343"/>
              </a:xfrm>
              <a:prstGeom prst="rect">
                <a:avLst/>
              </a:prstGeom>
              <a:blipFill>
                <a:blip r:embed="rId2"/>
                <a:stretch>
                  <a:fillRect l="-4878" t="-8571" r="-7317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D7B3A44-D5C7-07E8-0F41-1A626BB3EBDE}"/>
                  </a:ext>
                </a:extLst>
              </p:cNvPr>
              <p:cNvSpPr txBox="1"/>
              <p:nvPr/>
            </p:nvSpPr>
            <p:spPr>
              <a:xfrm>
                <a:off x="121192" y="2032049"/>
                <a:ext cx="1827936" cy="8793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3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3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</m:oMath>
                  </m:oMathPara>
                </a14:m>
                <a:endParaRPr lang="en-US" sz="3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D7B3A44-D5C7-07E8-0F41-1A626BB3E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192" y="2032049"/>
                <a:ext cx="1827936" cy="879343"/>
              </a:xfrm>
              <a:prstGeom prst="rect">
                <a:avLst/>
              </a:prstGeom>
              <a:blipFill>
                <a:blip r:embed="rId3"/>
                <a:stretch>
                  <a:fillRect l="-690" t="-7042" r="-6897" b="-14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298AE4C-3633-8D95-7B3F-367B12C0A318}"/>
                  </a:ext>
                </a:extLst>
              </p:cNvPr>
              <p:cNvSpPr txBox="1"/>
              <p:nvPr/>
            </p:nvSpPr>
            <p:spPr>
              <a:xfrm>
                <a:off x="121192" y="3652843"/>
                <a:ext cx="4263988" cy="13528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3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𝑢𝑝</m:t>
                              </m:r>
                            </m:sub>
                          </m:sSub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3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 lang="en-US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3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𝑙𝑜𝑤</m:t>
                              </m:r>
                            </m:sub>
                          </m:sSub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</m:oMath>
                  </m:oMathPara>
                </a14:m>
                <a:endParaRPr lang="en-US" sz="3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3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298AE4C-3633-8D95-7B3F-367B12C0A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192" y="3652843"/>
                <a:ext cx="4263988" cy="1352806"/>
              </a:xfrm>
              <a:prstGeom prst="rect">
                <a:avLst/>
              </a:prstGeom>
              <a:blipFill>
                <a:blip r:embed="rId4"/>
                <a:stretch>
                  <a:fillRect t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D2192B-3C49-419D-658C-8BEC86767C05}"/>
                  </a:ext>
                </a:extLst>
              </p:cNvPr>
              <p:cNvSpPr txBox="1"/>
              <p:nvPr/>
            </p:nvSpPr>
            <p:spPr>
              <a:xfrm>
                <a:off x="121192" y="5174259"/>
                <a:ext cx="4301627" cy="13528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3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𝑙𝑜𝑤</m:t>
                              </m:r>
                            </m:sub>
                          </m:sSub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3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 lang="en-US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3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𝑢𝑝</m:t>
                              </m:r>
                            </m:sub>
                          </m:sSub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</m:oMath>
                  </m:oMathPara>
                </a14:m>
                <a:endParaRPr lang="en-US" sz="3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3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D2192B-3C49-419D-658C-8BEC86767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192" y="5174259"/>
                <a:ext cx="4301627" cy="1352806"/>
              </a:xfrm>
              <a:prstGeom prst="rect">
                <a:avLst/>
              </a:prstGeom>
              <a:blipFill>
                <a:blip r:embed="rId5"/>
                <a:stretch>
                  <a:fillRect t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AC2981E5-996A-1684-95D5-2AA566B546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3166" y="1733023"/>
            <a:ext cx="4318834" cy="16959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0E82ED8-DF7A-3BD9-3472-B30E34BD38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51974" y="-20038"/>
            <a:ext cx="4440026" cy="16959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CE92D08-6FB1-5DD0-967F-50CB8F5C517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3166" y="3526366"/>
            <a:ext cx="4318834" cy="169597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BC3B4F4-672F-2912-0490-1E02A0D49AB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3166" y="5222343"/>
            <a:ext cx="4318834" cy="16959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485A15F-9656-5D8D-4E62-ABEE63EF3F64}"/>
                  </a:ext>
                </a:extLst>
              </p:cNvPr>
              <p:cNvSpPr txBox="1"/>
              <p:nvPr/>
            </p:nvSpPr>
            <p:spPr>
              <a:xfrm>
                <a:off x="4549377" y="374223"/>
                <a:ext cx="1596014" cy="7875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3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3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0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sz="3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485A15F-9656-5D8D-4E62-ABEE63EF3F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377" y="374223"/>
                <a:ext cx="1596014" cy="787523"/>
              </a:xfrm>
              <a:prstGeom prst="rect">
                <a:avLst/>
              </a:prstGeom>
              <a:blipFill>
                <a:blip r:embed="rId10"/>
                <a:stretch>
                  <a:fillRect l="-3968"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7F29615-E932-30D5-62D1-C0DC3E14C8E3}"/>
                  </a:ext>
                </a:extLst>
              </p:cNvPr>
              <p:cNvSpPr txBox="1"/>
              <p:nvPr/>
            </p:nvSpPr>
            <p:spPr>
              <a:xfrm>
                <a:off x="4549377" y="2032049"/>
                <a:ext cx="2267095" cy="7875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3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3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0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=1−</m:t>
                          </m:r>
                          <m:f>
                            <m:fPr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sz="3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7F29615-E932-30D5-62D1-C0DC3E14C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377" y="2032049"/>
                <a:ext cx="2267095" cy="787523"/>
              </a:xfrm>
              <a:prstGeom prst="rect">
                <a:avLst/>
              </a:prstGeom>
              <a:blipFill>
                <a:blip r:embed="rId11"/>
                <a:stretch>
                  <a:fillRect l="-2793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CE78C82-80A0-9151-A655-104730B7F447}"/>
                  </a:ext>
                </a:extLst>
              </p:cNvPr>
              <p:cNvSpPr txBox="1"/>
              <p:nvPr/>
            </p:nvSpPr>
            <p:spPr>
              <a:xfrm>
                <a:off x="4549377" y="3565990"/>
                <a:ext cx="3054169" cy="7993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3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3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0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𝑢𝑝</m:t>
                                  </m:r>
                                </m:sub>
                              </m:sSub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3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𝑙𝑜𝑤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sz="3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CE78C82-80A0-9151-A655-104730B7F4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377" y="3565990"/>
                <a:ext cx="3054169" cy="799321"/>
              </a:xfrm>
              <a:prstGeom prst="rect">
                <a:avLst/>
              </a:prstGeom>
              <a:blipFill>
                <a:blip r:embed="rId12"/>
                <a:stretch>
                  <a:fillRect l="-2075" r="-415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FC4C7A0-5DBA-6926-2D40-E8B3900F1BDC}"/>
                  </a:ext>
                </a:extLst>
              </p:cNvPr>
              <p:cNvSpPr txBox="1"/>
              <p:nvPr/>
            </p:nvSpPr>
            <p:spPr>
              <a:xfrm>
                <a:off x="4549377" y="5265226"/>
                <a:ext cx="3725251" cy="7993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3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3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0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=1−</m:t>
                          </m:r>
                          <m:f>
                            <m:fPr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𝑢𝑝</m:t>
                                  </m:r>
                                </m:sub>
                              </m:sSub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3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𝑙𝑜𝑤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sz="3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FC4C7A0-5DBA-6926-2D40-E8B3900F1B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377" y="5265226"/>
                <a:ext cx="3725251" cy="799321"/>
              </a:xfrm>
              <a:prstGeom prst="rect">
                <a:avLst/>
              </a:prstGeom>
              <a:blipFill>
                <a:blip r:embed="rId13"/>
                <a:stretch>
                  <a:fillRect l="-1361" r="-340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A0FCEECC-0919-E94A-C487-32F269010513}"/>
              </a:ext>
            </a:extLst>
          </p:cNvPr>
          <p:cNvSpPr txBox="1"/>
          <p:nvPr/>
        </p:nvSpPr>
        <p:spPr>
          <a:xfrm>
            <a:off x="-22277" y="0"/>
            <a:ext cx="1827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Low-pass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E101EF-25C1-AB04-F759-60901751928F}"/>
              </a:ext>
            </a:extLst>
          </p:cNvPr>
          <p:cNvSpPr txBox="1"/>
          <p:nvPr/>
        </p:nvSpPr>
        <p:spPr>
          <a:xfrm>
            <a:off x="0" y="1476489"/>
            <a:ext cx="1827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High-pass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1BFF75-16F6-7BC7-C5B4-938A32B8AC9C}"/>
              </a:ext>
            </a:extLst>
          </p:cNvPr>
          <p:cNvSpPr txBox="1"/>
          <p:nvPr/>
        </p:nvSpPr>
        <p:spPr>
          <a:xfrm>
            <a:off x="-22277" y="3106873"/>
            <a:ext cx="1827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Band-pass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2DA2B6-68E6-D300-3C24-3202BF866706}"/>
              </a:ext>
            </a:extLst>
          </p:cNvPr>
          <p:cNvSpPr txBox="1"/>
          <p:nvPr/>
        </p:nvSpPr>
        <p:spPr>
          <a:xfrm>
            <a:off x="21464" y="4670350"/>
            <a:ext cx="1827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Notch</a:t>
            </a:r>
          </a:p>
        </p:txBody>
      </p:sp>
    </p:spTree>
    <p:extLst>
      <p:ext uri="{BB962C8B-B14F-4D97-AF65-F5344CB8AC3E}">
        <p14:creationId xmlns:p14="http://schemas.microsoft.com/office/powerpoint/2010/main" val="1500362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anning in Numpy | Python - GeeksforGeeks">
            <a:extLst>
              <a:ext uri="{FF2B5EF4-FFF2-40B4-BE49-F238E27FC236}">
                <a16:creationId xmlns:a16="http://schemas.microsoft.com/office/drawing/2014/main" id="{4FD5BCAB-631A-B5EC-183D-7B6ABB60A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1407" y="1180321"/>
            <a:ext cx="3632200" cy="223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F1C00D2-5028-37B2-CD1D-D9DBF5D03F09}"/>
              </a:ext>
            </a:extLst>
          </p:cNvPr>
          <p:cNvSpPr/>
          <p:nvPr/>
        </p:nvSpPr>
        <p:spPr>
          <a:xfrm>
            <a:off x="1569077" y="5383369"/>
            <a:ext cx="1828800" cy="54091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7778B3-3A57-6097-6711-4F75E3F49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04" y="51661"/>
            <a:ext cx="10515600" cy="1325563"/>
          </a:xfrm>
        </p:spPr>
        <p:txBody>
          <a:bodyPr/>
          <a:lstStyle/>
          <a:p>
            <a:r>
              <a:rPr lang="en-US" dirty="0"/>
              <a:t>Window method for FIR 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F8AB8B4-F7B7-EDAA-DB68-0C33E47789CA}"/>
                  </a:ext>
                </a:extLst>
              </p:cNvPr>
              <p:cNvSpPr txBox="1"/>
              <p:nvPr/>
            </p:nvSpPr>
            <p:spPr>
              <a:xfrm>
                <a:off x="8158588" y="4833221"/>
                <a:ext cx="417597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3200" b="0" dirty="0"/>
                  <a:t>A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US" sz="3200" dirty="0"/>
                  <a:t>W(w)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F8AB8B4-F7B7-EDAA-DB68-0C33E4778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8588" y="4833221"/>
                <a:ext cx="4175975" cy="584775"/>
              </a:xfrm>
              <a:prstGeom prst="rect">
                <a:avLst/>
              </a:prstGeom>
              <a:blipFill>
                <a:blip r:embed="rId3"/>
                <a:stretch>
                  <a:fillRect t="-12766" b="-31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5EF8F84-55FE-53A2-89CA-D1A86A350B55}"/>
              </a:ext>
            </a:extLst>
          </p:cNvPr>
          <p:cNvCxnSpPr/>
          <p:nvPr/>
        </p:nvCxnSpPr>
        <p:spPr>
          <a:xfrm>
            <a:off x="575525" y="5924282"/>
            <a:ext cx="40568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0E93E5B-ECF2-2FBF-1181-22FAD11F13C5}"/>
              </a:ext>
            </a:extLst>
          </p:cNvPr>
          <p:cNvCxnSpPr>
            <a:cxnSpLocks/>
          </p:cNvCxnSpPr>
          <p:nvPr/>
        </p:nvCxnSpPr>
        <p:spPr>
          <a:xfrm flipV="1">
            <a:off x="2483477" y="3771900"/>
            <a:ext cx="0" cy="25237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276CEEE-92A5-FC9E-1303-BBC0C8AC7F58}"/>
                  </a:ext>
                </a:extLst>
              </p:cNvPr>
              <p:cNvSpPr txBox="1"/>
              <p:nvPr/>
            </p:nvSpPr>
            <p:spPr>
              <a:xfrm>
                <a:off x="-277017" y="3344546"/>
                <a:ext cx="6096000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𝑗𝑤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276CEEE-92A5-FC9E-1303-BBC0C8AC7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77017" y="3344546"/>
                <a:ext cx="6096000" cy="4049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4B7E9A8-D477-ED72-6F8E-509E9E317417}"/>
                  </a:ext>
                </a:extLst>
              </p:cNvPr>
              <p:cNvSpPr txBox="1"/>
              <p:nvPr/>
            </p:nvSpPr>
            <p:spPr>
              <a:xfrm>
                <a:off x="0" y="4772151"/>
                <a:ext cx="632011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4B7E9A8-D477-ED72-6F8E-509E9E317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772151"/>
                <a:ext cx="632011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3D84A71-7EB7-76C0-5C1F-AD6CFBBAA6CE}"/>
              </a:ext>
            </a:extLst>
          </p:cNvPr>
          <p:cNvCxnSpPr>
            <a:cxnSpLocks/>
          </p:cNvCxnSpPr>
          <p:nvPr/>
        </p:nvCxnSpPr>
        <p:spPr>
          <a:xfrm flipV="1">
            <a:off x="6873893" y="1290918"/>
            <a:ext cx="0" cy="20140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1D9781C-CE20-0BD2-2565-FDF0EA1B7582}"/>
                  </a:ext>
                </a:extLst>
              </p:cNvPr>
              <p:cNvSpPr txBox="1"/>
              <p:nvPr/>
            </p:nvSpPr>
            <p:spPr>
              <a:xfrm>
                <a:off x="4632370" y="1469361"/>
                <a:ext cx="623943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1D9781C-CE20-0BD2-2565-FDF0EA1B75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2370" y="1469361"/>
                <a:ext cx="6239434" cy="523220"/>
              </a:xfrm>
              <a:prstGeom prst="rect">
                <a:avLst/>
              </a:prstGeom>
              <a:blipFill>
                <a:blip r:embed="rId6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Sinc Function - an overview | ScienceDirect Topics">
            <a:extLst>
              <a:ext uri="{FF2B5EF4-FFF2-40B4-BE49-F238E27FC236}">
                <a16:creationId xmlns:a16="http://schemas.microsoft.com/office/drawing/2014/main" id="{B069CBEA-E1E7-1D41-6547-9A34E68BDC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068" y="1091227"/>
            <a:ext cx="3575758" cy="2114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5" descr="Chart, histogram&#10;&#10;Description automatically generated">
            <a:extLst>
              <a:ext uri="{FF2B5EF4-FFF2-40B4-BE49-F238E27FC236}">
                <a16:creationId xmlns:a16="http://schemas.microsoft.com/office/drawing/2014/main" id="{009964B7-BA68-4812-2016-D7A0ECBEAD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6402" y="3602029"/>
            <a:ext cx="3746500" cy="27051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7B8A047-C09B-C78F-8A82-ACB38897B94B}"/>
                  </a:ext>
                </a:extLst>
              </p:cNvPr>
              <p:cNvSpPr txBox="1"/>
              <p:nvPr/>
            </p:nvSpPr>
            <p:spPr>
              <a:xfrm>
                <a:off x="8158588" y="1989233"/>
                <a:ext cx="417597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3200" dirty="0"/>
                  <a:t>a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= a</a:t>
                </a:r>
                <a:r>
                  <a:rPr lang="en-US" sz="3200" baseline="-25000" dirty="0"/>
                  <a:t>d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sz="3200" dirty="0"/>
                  <a:t>(k)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7B8A047-C09B-C78F-8A82-ACB38897B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8588" y="1989233"/>
                <a:ext cx="4175975" cy="584775"/>
              </a:xfrm>
              <a:prstGeom prst="rect">
                <a:avLst/>
              </a:prstGeom>
              <a:blipFill>
                <a:blip r:embed="rId9"/>
                <a:stretch>
                  <a:fillRect t="-12766" b="-31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37107A8-8403-2375-17AE-780ADF361969}"/>
                  </a:ext>
                </a:extLst>
              </p:cNvPr>
              <p:cNvSpPr txBox="1"/>
              <p:nvPr/>
            </p:nvSpPr>
            <p:spPr>
              <a:xfrm>
                <a:off x="318987" y="1498464"/>
                <a:ext cx="632011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37107A8-8403-2375-17AE-780ADF361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987" y="1498464"/>
                <a:ext cx="6320116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FE04937E-633D-EA58-B55D-61800DE8C716}"/>
              </a:ext>
            </a:extLst>
          </p:cNvPr>
          <p:cNvSpPr txBox="1"/>
          <p:nvPr/>
        </p:nvSpPr>
        <p:spPr>
          <a:xfrm>
            <a:off x="7480250" y="3887027"/>
            <a:ext cx="63111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W(w)</a:t>
            </a:r>
          </a:p>
        </p:txBody>
      </p:sp>
    </p:spTree>
    <p:extLst>
      <p:ext uri="{BB962C8B-B14F-4D97-AF65-F5344CB8AC3E}">
        <p14:creationId xmlns:p14="http://schemas.microsoft.com/office/powerpoint/2010/main" val="1339640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anning in Numpy | Python - GeeksforGeeks">
            <a:extLst>
              <a:ext uri="{FF2B5EF4-FFF2-40B4-BE49-F238E27FC236}">
                <a16:creationId xmlns:a16="http://schemas.microsoft.com/office/drawing/2014/main" id="{4FD5BCAB-631A-B5EC-183D-7B6ABB60A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1407" y="1180321"/>
            <a:ext cx="3632200" cy="223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F1C00D2-5028-37B2-CD1D-D9DBF5D03F09}"/>
              </a:ext>
            </a:extLst>
          </p:cNvPr>
          <p:cNvSpPr/>
          <p:nvPr/>
        </p:nvSpPr>
        <p:spPr>
          <a:xfrm>
            <a:off x="1569077" y="5383369"/>
            <a:ext cx="1828800" cy="54091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7778B3-3A57-6097-6711-4F75E3F49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04" y="51661"/>
            <a:ext cx="10515600" cy="1325563"/>
          </a:xfrm>
        </p:spPr>
        <p:txBody>
          <a:bodyPr/>
          <a:lstStyle/>
          <a:p>
            <a:r>
              <a:rPr lang="en-US" dirty="0"/>
              <a:t>Window method for FIR 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F8AB8B4-F7B7-EDAA-DB68-0C33E47789CA}"/>
                  </a:ext>
                </a:extLst>
              </p:cNvPr>
              <p:cNvSpPr txBox="1"/>
              <p:nvPr/>
            </p:nvSpPr>
            <p:spPr>
              <a:xfrm>
                <a:off x="8158588" y="4833221"/>
                <a:ext cx="417597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3200" b="0" dirty="0"/>
                  <a:t>A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US" sz="3200" dirty="0"/>
                  <a:t>W(w)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F8AB8B4-F7B7-EDAA-DB68-0C33E4778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8588" y="4833221"/>
                <a:ext cx="4175975" cy="584775"/>
              </a:xfrm>
              <a:prstGeom prst="rect">
                <a:avLst/>
              </a:prstGeom>
              <a:blipFill>
                <a:blip r:embed="rId3"/>
                <a:stretch>
                  <a:fillRect t="-12766" b="-31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5EF8F84-55FE-53A2-89CA-D1A86A350B55}"/>
              </a:ext>
            </a:extLst>
          </p:cNvPr>
          <p:cNvCxnSpPr/>
          <p:nvPr/>
        </p:nvCxnSpPr>
        <p:spPr>
          <a:xfrm>
            <a:off x="575525" y="5924282"/>
            <a:ext cx="40568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0E93E5B-ECF2-2FBF-1181-22FAD11F13C5}"/>
              </a:ext>
            </a:extLst>
          </p:cNvPr>
          <p:cNvCxnSpPr>
            <a:cxnSpLocks/>
          </p:cNvCxnSpPr>
          <p:nvPr/>
        </p:nvCxnSpPr>
        <p:spPr>
          <a:xfrm flipV="1">
            <a:off x="2483477" y="3771900"/>
            <a:ext cx="0" cy="25237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276CEEE-92A5-FC9E-1303-BBC0C8AC7F58}"/>
                  </a:ext>
                </a:extLst>
              </p:cNvPr>
              <p:cNvSpPr txBox="1"/>
              <p:nvPr/>
            </p:nvSpPr>
            <p:spPr>
              <a:xfrm>
                <a:off x="-277017" y="3344546"/>
                <a:ext cx="6096000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𝑗𝑤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276CEEE-92A5-FC9E-1303-BBC0C8AC7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77017" y="3344546"/>
                <a:ext cx="6096000" cy="4049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4B7E9A8-D477-ED72-6F8E-509E9E317417}"/>
                  </a:ext>
                </a:extLst>
              </p:cNvPr>
              <p:cNvSpPr txBox="1"/>
              <p:nvPr/>
            </p:nvSpPr>
            <p:spPr>
              <a:xfrm>
                <a:off x="0" y="4772151"/>
                <a:ext cx="632011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4B7E9A8-D477-ED72-6F8E-509E9E317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772151"/>
                <a:ext cx="632011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3D84A71-7EB7-76C0-5C1F-AD6CFBBAA6CE}"/>
              </a:ext>
            </a:extLst>
          </p:cNvPr>
          <p:cNvCxnSpPr>
            <a:cxnSpLocks/>
          </p:cNvCxnSpPr>
          <p:nvPr/>
        </p:nvCxnSpPr>
        <p:spPr>
          <a:xfrm flipV="1">
            <a:off x="6873893" y="1290918"/>
            <a:ext cx="0" cy="20140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1D9781C-CE20-0BD2-2565-FDF0EA1B7582}"/>
                  </a:ext>
                </a:extLst>
              </p:cNvPr>
              <p:cNvSpPr txBox="1"/>
              <p:nvPr/>
            </p:nvSpPr>
            <p:spPr>
              <a:xfrm>
                <a:off x="4632370" y="1469361"/>
                <a:ext cx="623943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1D9781C-CE20-0BD2-2565-FDF0EA1B75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2370" y="1469361"/>
                <a:ext cx="6239434" cy="523220"/>
              </a:xfrm>
              <a:prstGeom prst="rect">
                <a:avLst/>
              </a:prstGeom>
              <a:blipFill>
                <a:blip r:embed="rId6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Sinc Function - an overview | ScienceDirect Topics">
            <a:extLst>
              <a:ext uri="{FF2B5EF4-FFF2-40B4-BE49-F238E27FC236}">
                <a16:creationId xmlns:a16="http://schemas.microsoft.com/office/drawing/2014/main" id="{B069CBEA-E1E7-1D41-6547-9A34E68BDC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068" y="1091227"/>
            <a:ext cx="3575758" cy="2114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5" descr="Chart, histogram&#10;&#10;Description automatically generated">
            <a:extLst>
              <a:ext uri="{FF2B5EF4-FFF2-40B4-BE49-F238E27FC236}">
                <a16:creationId xmlns:a16="http://schemas.microsoft.com/office/drawing/2014/main" id="{009964B7-BA68-4812-2016-D7A0ECBEAD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6402" y="3602029"/>
            <a:ext cx="3746500" cy="27051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7B8A047-C09B-C78F-8A82-ACB38897B94B}"/>
                  </a:ext>
                </a:extLst>
              </p:cNvPr>
              <p:cNvSpPr txBox="1"/>
              <p:nvPr/>
            </p:nvSpPr>
            <p:spPr>
              <a:xfrm>
                <a:off x="8158588" y="1989233"/>
                <a:ext cx="417597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3200" dirty="0"/>
                  <a:t>a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= a</a:t>
                </a:r>
                <a:r>
                  <a:rPr lang="en-US" sz="3200" baseline="-25000" dirty="0"/>
                  <a:t>d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sz="3200" dirty="0"/>
                  <a:t>(k)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7B8A047-C09B-C78F-8A82-ACB38897B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8588" y="1989233"/>
                <a:ext cx="4175975" cy="584775"/>
              </a:xfrm>
              <a:prstGeom prst="rect">
                <a:avLst/>
              </a:prstGeom>
              <a:blipFill>
                <a:blip r:embed="rId9"/>
                <a:stretch>
                  <a:fillRect t="-12766" b="-31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37107A8-8403-2375-17AE-780ADF361969}"/>
                  </a:ext>
                </a:extLst>
              </p:cNvPr>
              <p:cNvSpPr txBox="1"/>
              <p:nvPr/>
            </p:nvSpPr>
            <p:spPr>
              <a:xfrm>
                <a:off x="318987" y="1498464"/>
                <a:ext cx="632011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37107A8-8403-2375-17AE-780ADF361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987" y="1498464"/>
                <a:ext cx="6320116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FE04937E-633D-EA58-B55D-61800DE8C716}"/>
              </a:ext>
            </a:extLst>
          </p:cNvPr>
          <p:cNvSpPr txBox="1"/>
          <p:nvPr/>
        </p:nvSpPr>
        <p:spPr>
          <a:xfrm>
            <a:off x="7480250" y="3887027"/>
            <a:ext cx="63111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W(w)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3A05097-8C64-ADEE-0905-E9E4352C5F88}"/>
                  </a:ext>
                </a:extLst>
              </p:cNvPr>
              <p:cNvSpPr txBox="1"/>
              <p:nvPr/>
            </p:nvSpPr>
            <p:spPr>
              <a:xfrm>
                <a:off x="7705284" y="3755678"/>
                <a:ext cx="505415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ℱ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3A05097-8C64-ADEE-0905-E9E4352C5F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5284" y="3755678"/>
                <a:ext cx="5054155" cy="584775"/>
              </a:xfrm>
              <a:prstGeom prst="rect">
                <a:avLst/>
              </a:prstGeom>
              <a:blipFill>
                <a:blip r:embed="rId11"/>
                <a:stretch>
                  <a:fillRect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ED107B9-8654-5D5A-ADC8-3245BE7BC065}"/>
                  </a:ext>
                </a:extLst>
              </p:cNvPr>
              <p:cNvSpPr txBox="1"/>
              <p:nvPr/>
            </p:nvSpPr>
            <p:spPr>
              <a:xfrm>
                <a:off x="7785963" y="3066776"/>
                <a:ext cx="505415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ED107B9-8654-5D5A-ADC8-3245BE7BC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5963" y="3066776"/>
                <a:ext cx="5054155" cy="584775"/>
              </a:xfrm>
              <a:prstGeom prst="rect">
                <a:avLst/>
              </a:prstGeom>
              <a:blipFill>
                <a:blip r:embed="rId12"/>
                <a:stretch>
                  <a:fillRect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7463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Chart, line chart&#10;&#10;Description automatically generated">
            <a:extLst>
              <a:ext uri="{FF2B5EF4-FFF2-40B4-BE49-F238E27FC236}">
                <a16:creationId xmlns:a16="http://schemas.microsoft.com/office/drawing/2014/main" id="{050555C2-C44A-8BB5-C210-289909CB32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024" y="666751"/>
            <a:ext cx="5245579" cy="276224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1CCDD8-A91C-4BE8-937E-48579E5F8999}"/>
              </a:ext>
            </a:extLst>
          </p:cNvPr>
          <p:cNvSpPr txBox="1"/>
          <p:nvPr/>
        </p:nvSpPr>
        <p:spPr>
          <a:xfrm>
            <a:off x="206095" y="3510575"/>
            <a:ext cx="445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Blackman</a:t>
            </a:r>
          </a:p>
        </p:txBody>
      </p:sp>
      <p:pic>
        <p:nvPicPr>
          <p:cNvPr id="8" name="Picture 7" descr="Chart, line chart&#10;&#10;Description automatically generated">
            <a:extLst>
              <a:ext uri="{FF2B5EF4-FFF2-40B4-BE49-F238E27FC236}">
                <a16:creationId xmlns:a16="http://schemas.microsoft.com/office/drawing/2014/main" id="{E79B920A-7A4C-7053-5533-C25191068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036" y="3912175"/>
            <a:ext cx="5245578" cy="27184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6F780CA-428F-6CFA-31AA-997BC576170F}"/>
              </a:ext>
            </a:extLst>
          </p:cNvPr>
          <p:cNvSpPr txBox="1"/>
          <p:nvPr/>
        </p:nvSpPr>
        <p:spPr>
          <a:xfrm>
            <a:off x="224024" y="265152"/>
            <a:ext cx="445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Hamming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E4BF5C-477C-3E3A-609C-31383A18911D}"/>
              </a:ext>
            </a:extLst>
          </p:cNvPr>
          <p:cNvSpPr txBox="1"/>
          <p:nvPr/>
        </p:nvSpPr>
        <p:spPr>
          <a:xfrm>
            <a:off x="8067577" y="1482323"/>
            <a:ext cx="43933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Main-lobe width </a:t>
            </a:r>
            <a:r>
              <a:rPr lang="en-US" sz="2800" dirty="0">
                <a:sym typeface="Wingdings" pitchFamily="2" charset="2"/>
              </a:rPr>
              <a:t> transition bandwidth</a:t>
            </a:r>
            <a:endParaRPr lang="en-US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93D472-1C3F-757D-DCD6-0C84A172A956}"/>
              </a:ext>
            </a:extLst>
          </p:cNvPr>
          <p:cNvSpPr txBox="1"/>
          <p:nvPr/>
        </p:nvSpPr>
        <p:spPr>
          <a:xfrm>
            <a:off x="7984273" y="3467464"/>
            <a:ext cx="42077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Side-lobes </a:t>
            </a:r>
            <a:r>
              <a:rPr lang="en-US" sz="2800" dirty="0">
                <a:sym typeface="Wingdings" pitchFamily="2" charset="2"/>
              </a:rPr>
              <a:t> ripple in pass/stop band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22896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4780863-4603-6A60-AE2F-5237E4D35D80}"/>
              </a:ext>
            </a:extLst>
          </p:cNvPr>
          <p:cNvSpPr txBox="1"/>
          <p:nvPr/>
        </p:nvSpPr>
        <p:spPr>
          <a:xfrm>
            <a:off x="8067577" y="1482323"/>
            <a:ext cx="43933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Main-lobe width </a:t>
            </a:r>
            <a:r>
              <a:rPr lang="en-US" sz="2800" dirty="0">
                <a:sym typeface="Wingdings" pitchFamily="2" charset="2"/>
              </a:rPr>
              <a:t> transition bandwidth</a:t>
            </a: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04F27B-2EDD-6AB1-A7C7-16566B5616E7}"/>
              </a:ext>
            </a:extLst>
          </p:cNvPr>
          <p:cNvSpPr txBox="1"/>
          <p:nvPr/>
        </p:nvSpPr>
        <p:spPr>
          <a:xfrm>
            <a:off x="7984273" y="3467464"/>
            <a:ext cx="42077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Side-lobes </a:t>
            </a:r>
            <a:r>
              <a:rPr lang="en-US" sz="2800" dirty="0">
                <a:sym typeface="Wingdings" pitchFamily="2" charset="2"/>
              </a:rPr>
              <a:t> ripple in pass/stop band</a:t>
            </a:r>
            <a:endParaRPr lang="en-US" sz="2800" dirty="0"/>
          </a:p>
        </p:txBody>
      </p:sp>
      <p:pic>
        <p:nvPicPr>
          <p:cNvPr id="13" name="Picture 12" descr="Table&#10;&#10;Description automatically generated">
            <a:extLst>
              <a:ext uri="{FF2B5EF4-FFF2-40B4-BE49-F238E27FC236}">
                <a16:creationId xmlns:a16="http://schemas.microsoft.com/office/drawing/2014/main" id="{0F873A23-1DD5-9A8D-25BD-30503FE3F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6700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603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A6E0CB-D05E-3660-6AE8-25DCC1A65DEA}"/>
              </a:ext>
            </a:extLst>
          </p:cNvPr>
          <p:cNvSpPr txBox="1"/>
          <p:nvPr/>
        </p:nvSpPr>
        <p:spPr>
          <a:xfrm>
            <a:off x="185979" y="232475"/>
            <a:ext cx="23908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2D FIR filtering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B9E3A3F-050A-257D-92C3-3981A02C70D4}"/>
                  </a:ext>
                </a:extLst>
              </p:cNvPr>
              <p:cNvSpPr txBox="1"/>
              <p:nvPr/>
            </p:nvSpPr>
            <p:spPr>
              <a:xfrm>
                <a:off x="3349744" y="2479377"/>
                <a:ext cx="353186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𝑦𝑓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B9E3A3F-050A-257D-92C3-3981A02C7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744" y="2479377"/>
                <a:ext cx="3531864" cy="492443"/>
              </a:xfrm>
              <a:prstGeom prst="rect">
                <a:avLst/>
              </a:prstGeom>
              <a:blipFill>
                <a:blip r:embed="rId2"/>
                <a:stretch>
                  <a:fillRect l="-3584" t="-2500" r="-3584" b="-3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E84F932-DF9D-52AA-4C9B-79FDFDB867EF}"/>
                  </a:ext>
                </a:extLst>
              </p:cNvPr>
              <p:cNvSpPr txBox="1"/>
              <p:nvPr/>
            </p:nvSpPr>
            <p:spPr>
              <a:xfrm>
                <a:off x="3219369" y="3496095"/>
                <a:ext cx="415607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𝑦𝑓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E84F932-DF9D-52AA-4C9B-79FDFDB867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9369" y="3496095"/>
                <a:ext cx="4156074" cy="492443"/>
              </a:xfrm>
              <a:prstGeom prst="rect">
                <a:avLst/>
              </a:prstGeom>
              <a:blipFill>
                <a:blip r:embed="rId3"/>
                <a:stretch>
                  <a:fillRect l="-3049" t="-2564" r="-3049" b="-35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B00D7A1-F780-E383-A513-C09C8B8C992C}"/>
                  </a:ext>
                </a:extLst>
              </p:cNvPr>
              <p:cNvSpPr txBox="1"/>
              <p:nvPr/>
            </p:nvSpPr>
            <p:spPr>
              <a:xfrm>
                <a:off x="2101381" y="4512813"/>
                <a:ext cx="7989238" cy="1342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𝑦𝑓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=−∞</m:t>
                              </m:r>
                            </m:sub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B00D7A1-F780-E383-A513-C09C8B8C99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1381" y="4512813"/>
                <a:ext cx="7989238" cy="1342740"/>
              </a:xfrm>
              <a:prstGeom prst="rect">
                <a:avLst/>
              </a:prstGeom>
              <a:blipFill>
                <a:blip r:embed="rId4"/>
                <a:stretch>
                  <a:fillRect l="-1270" t="-119626" r="-1429" b="-1803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8F00F45-34D8-508A-B396-8D239DC36854}"/>
              </a:ext>
            </a:extLst>
          </p:cNvPr>
          <p:cNvSpPr txBox="1"/>
          <p:nvPr/>
        </p:nvSpPr>
        <p:spPr>
          <a:xfrm>
            <a:off x="185979" y="912327"/>
            <a:ext cx="609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homogenous sampling</a:t>
            </a:r>
          </a:p>
        </p:txBody>
      </p:sp>
    </p:spTree>
    <p:extLst>
      <p:ext uri="{BB962C8B-B14F-4D97-AF65-F5344CB8AC3E}">
        <p14:creationId xmlns:p14="http://schemas.microsoft.com/office/powerpoint/2010/main" val="1645066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995A2-3A4E-88B1-D552-5F2422C92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filters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0EA682-6B3A-C822-1B17-B393510E6FEF}"/>
              </a:ext>
            </a:extLst>
          </p:cNvPr>
          <p:cNvSpPr txBox="1"/>
          <p:nvPr/>
        </p:nvSpPr>
        <p:spPr>
          <a:xfrm>
            <a:off x="228601" y="1987061"/>
            <a:ext cx="55919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2D version of windowed FIR design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00AEFC-78B5-C4F8-21AD-AF82ABAF57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347" t="21469" r="20315" b="38983"/>
          <a:stretch/>
        </p:blipFill>
        <p:spPr>
          <a:xfrm>
            <a:off x="1950401" y="2510281"/>
            <a:ext cx="6118732" cy="43705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FE70B7-39D5-6D8C-CD6B-31CF54F43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133" y="2510281"/>
            <a:ext cx="3124200" cy="1993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996DB5D-0C4C-B202-C719-071B9CF609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9133" y="3919506"/>
            <a:ext cx="3124200" cy="1993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0A22247-3EE0-8CF8-670A-57CC182EF7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9133" y="5311726"/>
            <a:ext cx="3124200" cy="199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5371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7CFF3EA-DD89-DC00-6D85-6659016F0B2C}"/>
              </a:ext>
            </a:extLst>
          </p:cNvPr>
          <p:cNvSpPr txBox="1"/>
          <p:nvPr/>
        </p:nvSpPr>
        <p:spPr>
          <a:xfrm>
            <a:off x="21805" y="1690651"/>
            <a:ext cx="23299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Gaussian filter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777B25F-8777-D013-92AB-A86673BC0F86}"/>
                  </a:ext>
                </a:extLst>
              </p:cNvPr>
              <p:cNvSpPr txBox="1"/>
              <p:nvPr/>
            </p:nvSpPr>
            <p:spPr>
              <a:xfrm>
                <a:off x="2101381" y="0"/>
                <a:ext cx="7989238" cy="1342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𝑦𝑓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=−∞</m:t>
                              </m:r>
                            </m:sub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777B25F-8777-D013-92AB-A86673BC0F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1381" y="0"/>
                <a:ext cx="7989238" cy="1342740"/>
              </a:xfrm>
              <a:prstGeom prst="rect">
                <a:avLst/>
              </a:prstGeom>
              <a:blipFill>
                <a:blip r:embed="rId3"/>
                <a:stretch>
                  <a:fillRect l="-1270" t="-121698" r="-1429" b="-1830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DEF6FDBB-4D04-4FF0-67E3-E9AC3B388B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571281"/>
            <a:ext cx="2829888" cy="212241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1A7433A-B69D-B40C-50D6-EAA805C9FC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230" y="1924913"/>
            <a:ext cx="5317389" cy="38509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100F621-3B38-F024-0AD3-A69B110734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1370" y="3850380"/>
            <a:ext cx="5294796" cy="45257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E35093-64F8-25A6-44BF-98892A3627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53988" y="4693697"/>
            <a:ext cx="2885736" cy="21643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F758CC2-3C49-9ABE-0F91-E31C228AD9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8712" y="4927859"/>
            <a:ext cx="2976206" cy="16959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3EE2856-F2F7-919F-CC3B-AD74CC7D418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20109" y="2665890"/>
            <a:ext cx="3059722" cy="169597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0CFF3D0-E183-3123-BC73-50F2EC26FBA6}"/>
              </a:ext>
            </a:extLst>
          </p:cNvPr>
          <p:cNvSpPr txBox="1"/>
          <p:nvPr/>
        </p:nvSpPr>
        <p:spPr>
          <a:xfrm>
            <a:off x="2883876" y="2299473"/>
            <a:ext cx="1619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 ideal LPF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CD2D0E-4709-2FEB-B7CB-A93EA18B769B}"/>
              </a:ext>
            </a:extLst>
          </p:cNvPr>
          <p:cNvSpPr txBox="1"/>
          <p:nvPr/>
        </p:nvSpPr>
        <p:spPr>
          <a:xfrm>
            <a:off x="2883876" y="4558527"/>
            <a:ext cx="1619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 ideal HPF</a:t>
            </a:r>
          </a:p>
        </p:txBody>
      </p:sp>
    </p:spTree>
    <p:extLst>
      <p:ext uri="{BB962C8B-B14F-4D97-AF65-F5344CB8AC3E}">
        <p14:creationId xmlns:p14="http://schemas.microsoft.com/office/powerpoint/2010/main" val="19354080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anning in Numpy | Python - GeeksforGeeks">
            <a:extLst>
              <a:ext uri="{FF2B5EF4-FFF2-40B4-BE49-F238E27FC236}">
                <a16:creationId xmlns:a16="http://schemas.microsoft.com/office/drawing/2014/main" id="{4FD5BCAB-631A-B5EC-183D-7B6ABB60A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1407" y="1180321"/>
            <a:ext cx="3632200" cy="223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F1C00D2-5028-37B2-CD1D-D9DBF5D03F09}"/>
              </a:ext>
            </a:extLst>
          </p:cNvPr>
          <p:cNvSpPr/>
          <p:nvPr/>
        </p:nvSpPr>
        <p:spPr>
          <a:xfrm>
            <a:off x="1569077" y="5383369"/>
            <a:ext cx="1828800" cy="54091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7778B3-3A57-6097-6711-4F75E3F49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04" y="51661"/>
            <a:ext cx="10515600" cy="1325563"/>
          </a:xfrm>
        </p:spPr>
        <p:txBody>
          <a:bodyPr/>
          <a:lstStyle/>
          <a:p>
            <a:r>
              <a:rPr lang="en-US" dirty="0"/>
              <a:t>Window method for FIR 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F8AB8B4-F7B7-EDAA-DB68-0C33E47789CA}"/>
                  </a:ext>
                </a:extLst>
              </p:cNvPr>
              <p:cNvSpPr txBox="1"/>
              <p:nvPr/>
            </p:nvSpPr>
            <p:spPr>
              <a:xfrm>
                <a:off x="8158588" y="4833221"/>
                <a:ext cx="417597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3200" b="0" dirty="0"/>
                  <a:t>A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US" sz="3200" dirty="0"/>
                  <a:t>W(w)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F8AB8B4-F7B7-EDAA-DB68-0C33E4778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8588" y="4833221"/>
                <a:ext cx="4175975" cy="584775"/>
              </a:xfrm>
              <a:prstGeom prst="rect">
                <a:avLst/>
              </a:prstGeom>
              <a:blipFill>
                <a:blip r:embed="rId3"/>
                <a:stretch>
                  <a:fillRect t="-12766" b="-31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5EF8F84-55FE-53A2-89CA-D1A86A350B55}"/>
              </a:ext>
            </a:extLst>
          </p:cNvPr>
          <p:cNvCxnSpPr/>
          <p:nvPr/>
        </p:nvCxnSpPr>
        <p:spPr>
          <a:xfrm>
            <a:off x="575525" y="5924282"/>
            <a:ext cx="40568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0E93E5B-ECF2-2FBF-1181-22FAD11F13C5}"/>
              </a:ext>
            </a:extLst>
          </p:cNvPr>
          <p:cNvCxnSpPr>
            <a:cxnSpLocks/>
          </p:cNvCxnSpPr>
          <p:nvPr/>
        </p:nvCxnSpPr>
        <p:spPr>
          <a:xfrm flipV="1">
            <a:off x="2483477" y="3771900"/>
            <a:ext cx="0" cy="25237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276CEEE-92A5-FC9E-1303-BBC0C8AC7F58}"/>
                  </a:ext>
                </a:extLst>
              </p:cNvPr>
              <p:cNvSpPr txBox="1"/>
              <p:nvPr/>
            </p:nvSpPr>
            <p:spPr>
              <a:xfrm>
                <a:off x="-277017" y="3344546"/>
                <a:ext cx="6096000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𝑗𝑤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276CEEE-92A5-FC9E-1303-BBC0C8AC7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77017" y="3344546"/>
                <a:ext cx="6096000" cy="4049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4B7E9A8-D477-ED72-6F8E-509E9E317417}"/>
                  </a:ext>
                </a:extLst>
              </p:cNvPr>
              <p:cNvSpPr txBox="1"/>
              <p:nvPr/>
            </p:nvSpPr>
            <p:spPr>
              <a:xfrm>
                <a:off x="0" y="4772151"/>
                <a:ext cx="632011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4B7E9A8-D477-ED72-6F8E-509E9E317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772151"/>
                <a:ext cx="632011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3D84A71-7EB7-76C0-5C1F-AD6CFBBAA6CE}"/>
              </a:ext>
            </a:extLst>
          </p:cNvPr>
          <p:cNvCxnSpPr>
            <a:cxnSpLocks/>
          </p:cNvCxnSpPr>
          <p:nvPr/>
        </p:nvCxnSpPr>
        <p:spPr>
          <a:xfrm flipV="1">
            <a:off x="6873893" y="1290918"/>
            <a:ext cx="0" cy="20140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1D9781C-CE20-0BD2-2565-FDF0EA1B7582}"/>
                  </a:ext>
                </a:extLst>
              </p:cNvPr>
              <p:cNvSpPr txBox="1"/>
              <p:nvPr/>
            </p:nvSpPr>
            <p:spPr>
              <a:xfrm>
                <a:off x="4632370" y="1469361"/>
                <a:ext cx="623943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1D9781C-CE20-0BD2-2565-FDF0EA1B75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2370" y="1469361"/>
                <a:ext cx="6239434" cy="523220"/>
              </a:xfrm>
              <a:prstGeom prst="rect">
                <a:avLst/>
              </a:prstGeom>
              <a:blipFill>
                <a:blip r:embed="rId6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Sinc Function - an overview | ScienceDirect Topics">
            <a:extLst>
              <a:ext uri="{FF2B5EF4-FFF2-40B4-BE49-F238E27FC236}">
                <a16:creationId xmlns:a16="http://schemas.microsoft.com/office/drawing/2014/main" id="{B069CBEA-E1E7-1D41-6547-9A34E68BDC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068" y="1091227"/>
            <a:ext cx="3575758" cy="2114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5" descr="Chart, histogram&#10;&#10;Description automatically generated">
            <a:extLst>
              <a:ext uri="{FF2B5EF4-FFF2-40B4-BE49-F238E27FC236}">
                <a16:creationId xmlns:a16="http://schemas.microsoft.com/office/drawing/2014/main" id="{009964B7-BA68-4812-2016-D7A0ECBEAD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6402" y="3602029"/>
            <a:ext cx="3746500" cy="27051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7B8A047-C09B-C78F-8A82-ACB38897B94B}"/>
                  </a:ext>
                </a:extLst>
              </p:cNvPr>
              <p:cNvSpPr txBox="1"/>
              <p:nvPr/>
            </p:nvSpPr>
            <p:spPr>
              <a:xfrm>
                <a:off x="8158588" y="1989233"/>
                <a:ext cx="417597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3200" dirty="0"/>
                  <a:t>a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= a</a:t>
                </a:r>
                <a:r>
                  <a:rPr lang="en-US" sz="3200" baseline="-25000" dirty="0"/>
                  <a:t>d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sz="3200" dirty="0"/>
                  <a:t>(k)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7B8A047-C09B-C78F-8A82-ACB38897B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8588" y="1989233"/>
                <a:ext cx="4175975" cy="584775"/>
              </a:xfrm>
              <a:prstGeom prst="rect">
                <a:avLst/>
              </a:prstGeom>
              <a:blipFill>
                <a:blip r:embed="rId9"/>
                <a:stretch>
                  <a:fillRect t="-12766" b="-31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37107A8-8403-2375-17AE-780ADF361969}"/>
                  </a:ext>
                </a:extLst>
              </p:cNvPr>
              <p:cNvSpPr txBox="1"/>
              <p:nvPr/>
            </p:nvSpPr>
            <p:spPr>
              <a:xfrm>
                <a:off x="318987" y="1498464"/>
                <a:ext cx="632011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37107A8-8403-2375-17AE-780ADF361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987" y="1498464"/>
                <a:ext cx="6320116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FE04937E-633D-EA58-B55D-61800DE8C716}"/>
              </a:ext>
            </a:extLst>
          </p:cNvPr>
          <p:cNvSpPr txBox="1"/>
          <p:nvPr/>
        </p:nvSpPr>
        <p:spPr>
          <a:xfrm>
            <a:off x="7480250" y="3887027"/>
            <a:ext cx="63111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W(w)</a:t>
            </a:r>
          </a:p>
        </p:txBody>
      </p:sp>
    </p:spTree>
    <p:extLst>
      <p:ext uri="{BB962C8B-B14F-4D97-AF65-F5344CB8AC3E}">
        <p14:creationId xmlns:p14="http://schemas.microsoft.com/office/powerpoint/2010/main" val="39890510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anning in Numpy | Python - GeeksforGeeks">
            <a:extLst>
              <a:ext uri="{FF2B5EF4-FFF2-40B4-BE49-F238E27FC236}">
                <a16:creationId xmlns:a16="http://schemas.microsoft.com/office/drawing/2014/main" id="{4FD5BCAB-631A-B5EC-183D-7B6ABB60A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1407" y="1180321"/>
            <a:ext cx="3632200" cy="223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7778B3-3A57-6097-6711-4F75E3F49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04" y="51661"/>
            <a:ext cx="10515600" cy="1325563"/>
          </a:xfrm>
        </p:spPr>
        <p:txBody>
          <a:bodyPr/>
          <a:lstStyle/>
          <a:p>
            <a:r>
              <a:rPr lang="en-US" dirty="0"/>
              <a:t>Window method for FIR design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3D84A71-7EB7-76C0-5C1F-AD6CFBBAA6CE}"/>
              </a:ext>
            </a:extLst>
          </p:cNvPr>
          <p:cNvCxnSpPr>
            <a:cxnSpLocks/>
          </p:cNvCxnSpPr>
          <p:nvPr/>
        </p:nvCxnSpPr>
        <p:spPr>
          <a:xfrm flipV="1">
            <a:off x="6873893" y="1290918"/>
            <a:ext cx="0" cy="20140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1D9781C-CE20-0BD2-2565-FDF0EA1B7582}"/>
                  </a:ext>
                </a:extLst>
              </p:cNvPr>
              <p:cNvSpPr txBox="1"/>
              <p:nvPr/>
            </p:nvSpPr>
            <p:spPr>
              <a:xfrm>
                <a:off x="4632370" y="1469361"/>
                <a:ext cx="623943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1D9781C-CE20-0BD2-2565-FDF0EA1B75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2370" y="1469361"/>
                <a:ext cx="6239434" cy="523220"/>
              </a:xfrm>
              <a:prstGeom prst="rect">
                <a:avLst/>
              </a:prstGeom>
              <a:blipFill>
                <a:blip r:embed="rId3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Sinc Function - an overview | ScienceDirect Topics">
            <a:extLst>
              <a:ext uri="{FF2B5EF4-FFF2-40B4-BE49-F238E27FC236}">
                <a16:creationId xmlns:a16="http://schemas.microsoft.com/office/drawing/2014/main" id="{B069CBEA-E1E7-1D41-6547-9A34E68BDC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068" y="1091227"/>
            <a:ext cx="3575758" cy="2114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7B8A047-C09B-C78F-8A82-ACB38897B94B}"/>
                  </a:ext>
                </a:extLst>
              </p:cNvPr>
              <p:cNvSpPr txBox="1"/>
              <p:nvPr/>
            </p:nvSpPr>
            <p:spPr>
              <a:xfrm>
                <a:off x="8158588" y="1989233"/>
                <a:ext cx="417597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3200" dirty="0"/>
                  <a:t>a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= a</a:t>
                </a:r>
                <a:r>
                  <a:rPr lang="en-US" sz="3200" baseline="-25000" dirty="0"/>
                  <a:t>d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sz="3200" dirty="0"/>
                  <a:t>(k)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7B8A047-C09B-C78F-8A82-ACB38897B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8588" y="1989233"/>
                <a:ext cx="4175975" cy="584775"/>
              </a:xfrm>
              <a:prstGeom prst="rect">
                <a:avLst/>
              </a:prstGeom>
              <a:blipFill>
                <a:blip r:embed="rId5"/>
                <a:stretch>
                  <a:fillRect t="-12766" b="-31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37107A8-8403-2375-17AE-780ADF361969}"/>
                  </a:ext>
                </a:extLst>
              </p:cNvPr>
              <p:cNvSpPr txBox="1"/>
              <p:nvPr/>
            </p:nvSpPr>
            <p:spPr>
              <a:xfrm>
                <a:off x="318987" y="1498464"/>
                <a:ext cx="632011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37107A8-8403-2375-17AE-780ADF361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987" y="1498464"/>
                <a:ext cx="6320116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8C1942C-4CDD-5452-6433-9CCC5D187650}"/>
              </a:ext>
            </a:extLst>
          </p:cNvPr>
          <p:cNvSpPr txBox="1"/>
          <p:nvPr/>
        </p:nvSpPr>
        <p:spPr>
          <a:xfrm>
            <a:off x="158260" y="3897850"/>
            <a:ext cx="81768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“T” – temporal sampling interval </a:t>
            </a:r>
            <a:r>
              <a:rPr lang="en-US" sz="2400" dirty="0">
                <a:sym typeface="Wingdings" pitchFamily="2" charset="2"/>
              </a:rPr>
              <a:t> “voxel size”</a:t>
            </a:r>
            <a:endParaRPr lang="en-US" sz="2400" dirty="0"/>
          </a:p>
          <a:p>
            <a:r>
              <a:rPr lang="en-US" sz="2400" dirty="0"/>
              <a:t> ”F” – temporal frequency (s</a:t>
            </a:r>
            <a:r>
              <a:rPr lang="en-US" sz="2400" baseline="30000" dirty="0"/>
              <a:t>-1</a:t>
            </a:r>
            <a:r>
              <a:rPr lang="en-US" sz="2400" dirty="0"/>
              <a:t>)  </a:t>
            </a:r>
            <a:r>
              <a:rPr lang="en-US" sz="2400" dirty="0">
                <a:sym typeface="Wingdings" pitchFamily="2" charset="2"/>
              </a:rPr>
              <a:t> spatial frequency (cm</a:t>
            </a:r>
            <a:r>
              <a:rPr lang="en-US" sz="2400" baseline="30000" dirty="0">
                <a:sym typeface="Wingdings" pitchFamily="2" charset="2"/>
              </a:rPr>
              <a:t>-1</a:t>
            </a:r>
            <a:r>
              <a:rPr lang="en-US" sz="2400" dirty="0">
                <a:sym typeface="Wingdings" pitchFamily="2" charset="2"/>
              </a:rPr>
              <a:t>)</a:t>
            </a:r>
          </a:p>
          <a:p>
            <a:r>
              <a:rPr lang="en-US" sz="2400" dirty="0">
                <a:sym typeface="Wingdings" pitchFamily="2" charset="2"/>
              </a:rPr>
              <a:t>“w” – frequency in radians/s  same definition</a:t>
            </a:r>
          </a:p>
          <a:p>
            <a:r>
              <a:rPr lang="en-US" sz="2400" dirty="0">
                <a:sym typeface="Wingdings" pitchFamily="2" charset="2"/>
              </a:rPr>
              <a:t> </a:t>
            </a:r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6EDDF7-8AED-3C1B-0A50-B0991107FC52}"/>
              </a:ext>
            </a:extLst>
          </p:cNvPr>
          <p:cNvSpPr txBox="1"/>
          <p:nvPr/>
        </p:nvSpPr>
        <p:spPr>
          <a:xfrm>
            <a:off x="318987" y="5467510"/>
            <a:ext cx="124928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Images are typically a lot fewer samples than time (e.g. 1024x1024 vs #time-points)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Larger filter kernels will have more edge effects (edges on all 4 sides of an image)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Zero-padding needed</a:t>
            </a:r>
          </a:p>
        </p:txBody>
      </p:sp>
    </p:spTree>
    <p:extLst>
      <p:ext uri="{BB962C8B-B14F-4D97-AF65-F5344CB8AC3E}">
        <p14:creationId xmlns:p14="http://schemas.microsoft.com/office/powerpoint/2010/main" val="34532346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2AC7F9-BB99-2984-A289-2930A17A0B13}"/>
                  </a:ext>
                </a:extLst>
              </p:cNvPr>
              <p:cNvSpPr txBox="1"/>
              <p:nvPr/>
            </p:nvSpPr>
            <p:spPr>
              <a:xfrm>
                <a:off x="1423058" y="2922412"/>
                <a:ext cx="205794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2AC7F9-BB99-2984-A289-2930A17A0B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3058" y="2922412"/>
                <a:ext cx="2057944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D340D5BC-8BD2-E1CC-D20A-6856582C9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5718" y="671370"/>
            <a:ext cx="5918200" cy="5905500"/>
          </a:xfrm>
          <a:prstGeom prst="rect">
            <a:avLst/>
          </a:prstGeom>
        </p:spPr>
      </p:pic>
      <p:pic>
        <p:nvPicPr>
          <p:cNvPr id="11" name="Picture 10" descr="A picture containing diagram&#10;&#10;Description automatically generated">
            <a:extLst>
              <a:ext uri="{FF2B5EF4-FFF2-40B4-BE49-F238E27FC236}">
                <a16:creationId xmlns:a16="http://schemas.microsoft.com/office/drawing/2014/main" id="{0CB23B50-5196-6BE8-4780-770DB81F5A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4229" y="2529739"/>
            <a:ext cx="2947761" cy="12773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7CFF3EA-DD89-DC00-6D85-6659016F0B2C}"/>
              </a:ext>
            </a:extLst>
          </p:cNvPr>
          <p:cNvSpPr txBox="1"/>
          <p:nvPr/>
        </p:nvSpPr>
        <p:spPr>
          <a:xfrm>
            <a:off x="21805" y="1690651"/>
            <a:ext cx="49189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Edge detection (High pass filter)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1DCB415-FD40-741C-EE5C-AEDA33EBCA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1490" y="3870766"/>
            <a:ext cx="5846657" cy="4664775"/>
          </a:xfrm>
          <a:prstGeom prst="rect">
            <a:avLst/>
          </a:prstGeom>
        </p:spPr>
      </p:pic>
      <p:pic>
        <p:nvPicPr>
          <p:cNvPr id="15" name="Picture 14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0B71B36B-671E-A1EF-05F6-7D960EEE1F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4229" y="5127092"/>
            <a:ext cx="2972325" cy="12527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777B25F-8777-D013-92AB-A86673BC0F86}"/>
                  </a:ext>
                </a:extLst>
              </p:cNvPr>
              <p:cNvSpPr txBox="1"/>
              <p:nvPr/>
            </p:nvSpPr>
            <p:spPr>
              <a:xfrm>
                <a:off x="2101381" y="0"/>
                <a:ext cx="7989238" cy="1342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𝑦𝑓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=−∞</m:t>
                              </m:r>
                            </m:sub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777B25F-8777-D013-92AB-A86673BC0F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1381" y="0"/>
                <a:ext cx="7989238" cy="1342740"/>
              </a:xfrm>
              <a:prstGeom prst="rect">
                <a:avLst/>
              </a:prstGeom>
              <a:blipFill>
                <a:blip r:embed="rId7"/>
                <a:stretch>
                  <a:fillRect l="-1270" t="-121698" r="-1429" b="-1830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E557293-1EF5-9253-E66E-D587EAC5D1A9}"/>
                  </a:ext>
                </a:extLst>
              </p:cNvPr>
              <p:cNvSpPr txBox="1"/>
              <p:nvPr/>
            </p:nvSpPr>
            <p:spPr>
              <a:xfrm>
                <a:off x="1325283" y="5491881"/>
                <a:ext cx="205794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E557293-1EF5-9253-E66E-D587EAC5D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5283" y="5491881"/>
                <a:ext cx="205794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41005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2AC7F9-BB99-2984-A289-2930A17A0B13}"/>
                  </a:ext>
                </a:extLst>
              </p:cNvPr>
              <p:cNvSpPr txBox="1"/>
              <p:nvPr/>
            </p:nvSpPr>
            <p:spPr>
              <a:xfrm>
                <a:off x="1423058" y="2922412"/>
                <a:ext cx="205794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2AC7F9-BB99-2984-A289-2930A17A0B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3058" y="2922412"/>
                <a:ext cx="205794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07CFF3EA-DD89-DC00-6D85-6659016F0B2C}"/>
              </a:ext>
            </a:extLst>
          </p:cNvPr>
          <p:cNvSpPr txBox="1"/>
          <p:nvPr/>
        </p:nvSpPr>
        <p:spPr>
          <a:xfrm>
            <a:off x="21805" y="1690651"/>
            <a:ext cx="49189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Edge detection (High pass filter)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777B25F-8777-D013-92AB-A86673BC0F86}"/>
                  </a:ext>
                </a:extLst>
              </p:cNvPr>
              <p:cNvSpPr txBox="1"/>
              <p:nvPr/>
            </p:nvSpPr>
            <p:spPr>
              <a:xfrm>
                <a:off x="2101381" y="0"/>
                <a:ext cx="7989238" cy="1342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𝑦𝑓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=−∞</m:t>
                              </m:r>
                            </m:sub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777B25F-8777-D013-92AB-A86673BC0F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1381" y="0"/>
                <a:ext cx="7989238" cy="1342740"/>
              </a:xfrm>
              <a:prstGeom prst="rect">
                <a:avLst/>
              </a:prstGeom>
              <a:blipFill>
                <a:blip r:embed="rId4"/>
                <a:stretch>
                  <a:fillRect l="-1270" t="-121698" r="-1429" b="-1830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E557293-1EF5-9253-E66E-D587EAC5D1A9}"/>
                  </a:ext>
                </a:extLst>
              </p:cNvPr>
              <p:cNvSpPr txBox="1"/>
              <p:nvPr/>
            </p:nvSpPr>
            <p:spPr>
              <a:xfrm>
                <a:off x="1325283" y="5491881"/>
                <a:ext cx="205794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E557293-1EF5-9253-E66E-D587EAC5D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5283" y="5491881"/>
                <a:ext cx="205794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B0684A70-837D-B2AE-88A8-A08F9496A3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2141" y="3288861"/>
            <a:ext cx="6352025" cy="5582625"/>
          </a:xfrm>
          <a:prstGeom prst="rect">
            <a:avLst/>
          </a:prstGeom>
        </p:spPr>
      </p:pic>
      <p:pic>
        <p:nvPicPr>
          <p:cNvPr id="3" name="Picture 2" descr="A picture containing diagram&#10;&#10;Description automatically generated">
            <a:extLst>
              <a:ext uri="{FF2B5EF4-FFF2-40B4-BE49-F238E27FC236}">
                <a16:creationId xmlns:a16="http://schemas.microsoft.com/office/drawing/2014/main" id="{EFDBB79E-3782-77C2-57B1-56B29D20B0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41972" y="5152882"/>
            <a:ext cx="2783134" cy="13427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F051B6D-0244-B275-5C6E-3D4D8DD875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02141" y="752925"/>
            <a:ext cx="6263408" cy="5742697"/>
          </a:xfrm>
          <a:prstGeom prst="rect">
            <a:avLst/>
          </a:prstGeom>
        </p:spPr>
      </p:pic>
      <p:pic>
        <p:nvPicPr>
          <p:cNvPr id="6" name="Picture 5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F58F364E-B69C-4770-1C6C-EF1EC1D1F6F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41972" y="2454647"/>
            <a:ext cx="2954028" cy="1342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6832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2AC7F9-BB99-2984-A289-2930A17A0B13}"/>
                  </a:ext>
                </a:extLst>
              </p:cNvPr>
              <p:cNvSpPr txBox="1"/>
              <p:nvPr/>
            </p:nvSpPr>
            <p:spPr>
              <a:xfrm>
                <a:off x="423316" y="3448910"/>
                <a:ext cx="205794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2AC7F9-BB99-2984-A289-2930A17A0B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316" y="3448910"/>
                <a:ext cx="205794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07CFF3EA-DD89-DC00-6D85-6659016F0B2C}"/>
              </a:ext>
            </a:extLst>
          </p:cNvPr>
          <p:cNvSpPr txBox="1"/>
          <p:nvPr/>
        </p:nvSpPr>
        <p:spPr>
          <a:xfrm>
            <a:off x="21805" y="1690651"/>
            <a:ext cx="49189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Edge detection (High pass filter)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777B25F-8777-D013-92AB-A86673BC0F86}"/>
                  </a:ext>
                </a:extLst>
              </p:cNvPr>
              <p:cNvSpPr txBox="1"/>
              <p:nvPr/>
            </p:nvSpPr>
            <p:spPr>
              <a:xfrm>
                <a:off x="2101381" y="0"/>
                <a:ext cx="7989238" cy="1342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𝑦𝑓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=−∞</m:t>
                              </m:r>
                            </m:sub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777B25F-8777-D013-92AB-A86673BC0F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1381" y="0"/>
                <a:ext cx="7989238" cy="1342740"/>
              </a:xfrm>
              <a:prstGeom prst="rect">
                <a:avLst/>
              </a:prstGeom>
              <a:blipFill>
                <a:blip r:embed="rId4"/>
                <a:stretch>
                  <a:fillRect l="-1270" t="-121698" r="-1429" b="-1830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4" descr="A picture containing text, clock, gauge&#10;&#10;Description automatically generated">
            <a:extLst>
              <a:ext uri="{FF2B5EF4-FFF2-40B4-BE49-F238E27FC236}">
                <a16:creationId xmlns:a16="http://schemas.microsoft.com/office/drawing/2014/main" id="{2F0DE9D0-80E1-ED36-D824-A50EB6F982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2010521" y="2942567"/>
            <a:ext cx="3400935" cy="1535906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9884D7A-5559-5D3F-CD30-8CD0019431A6}"/>
              </a:ext>
            </a:extLst>
          </p:cNvPr>
          <p:cNvSpPr txBox="1"/>
          <p:nvPr/>
        </p:nvSpPr>
        <p:spPr>
          <a:xfrm>
            <a:off x="266073" y="2431280"/>
            <a:ext cx="13569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Sobel Filter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F79ED3-CC51-B41A-6AA8-0945AE87CC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8933" y="3861833"/>
            <a:ext cx="6203473" cy="41039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8AD7B25-6655-EC72-8946-02BE4396A9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8934" y="1117443"/>
            <a:ext cx="6068700" cy="4569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1733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2AC7F9-BB99-2984-A289-2930A17A0B13}"/>
                  </a:ext>
                </a:extLst>
              </p:cNvPr>
              <p:cNvSpPr txBox="1"/>
              <p:nvPr/>
            </p:nvSpPr>
            <p:spPr>
              <a:xfrm>
                <a:off x="160794" y="3446608"/>
                <a:ext cx="205794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2AC7F9-BB99-2984-A289-2930A17A0B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794" y="3446608"/>
                <a:ext cx="205794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07CFF3EA-DD89-DC00-6D85-6659016F0B2C}"/>
              </a:ext>
            </a:extLst>
          </p:cNvPr>
          <p:cNvSpPr txBox="1"/>
          <p:nvPr/>
        </p:nvSpPr>
        <p:spPr>
          <a:xfrm>
            <a:off x="21805" y="1690651"/>
            <a:ext cx="51933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Sharpening filter (High pass filter)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777B25F-8777-D013-92AB-A86673BC0F86}"/>
                  </a:ext>
                </a:extLst>
              </p:cNvPr>
              <p:cNvSpPr txBox="1"/>
              <p:nvPr/>
            </p:nvSpPr>
            <p:spPr>
              <a:xfrm>
                <a:off x="2101381" y="0"/>
                <a:ext cx="7989238" cy="1342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𝑦𝑓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=−∞</m:t>
                              </m:r>
                            </m:sub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777B25F-8777-D013-92AB-A86673BC0F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1381" y="0"/>
                <a:ext cx="7989238" cy="1342740"/>
              </a:xfrm>
              <a:prstGeom prst="rect">
                <a:avLst/>
              </a:prstGeom>
              <a:blipFill>
                <a:blip r:embed="rId4"/>
                <a:stretch>
                  <a:fillRect l="-1270" t="-121698" r="-1429" b="-1830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60373130-8D76-15B0-6C6F-BE8D6371BA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8234" y="1881907"/>
            <a:ext cx="5854700" cy="4851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8F8F22-0055-676B-5FB5-CD7F95FF10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1757" y="4125107"/>
            <a:ext cx="5334000" cy="4165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A6E04B-D610-6803-47C6-505DE75A5B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1757" y="324507"/>
            <a:ext cx="5190477" cy="3983100"/>
          </a:xfrm>
          <a:prstGeom prst="rect">
            <a:avLst/>
          </a:prstGeom>
        </p:spPr>
      </p:pic>
      <p:pic>
        <p:nvPicPr>
          <p:cNvPr id="10" name="Picture 9" descr="A picture containing text, antenna&#10;&#10;Description automatically generated">
            <a:extLst>
              <a:ext uri="{FF2B5EF4-FFF2-40B4-BE49-F238E27FC236}">
                <a16:creationId xmlns:a16="http://schemas.microsoft.com/office/drawing/2014/main" id="{FBD7C4EA-0CCE-ED30-8880-AAF661BCF59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22550" y="2895990"/>
            <a:ext cx="3590903" cy="162445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0E3B784-D9C4-7A8D-2B30-7A463A45BAE3}"/>
              </a:ext>
            </a:extLst>
          </p:cNvPr>
          <p:cNvCxnSpPr/>
          <p:nvPr/>
        </p:nvCxnSpPr>
        <p:spPr>
          <a:xfrm flipV="1">
            <a:off x="1545373" y="4307607"/>
            <a:ext cx="811969" cy="10362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F3509C4-2848-58C6-D640-57BB037D3D02}"/>
              </a:ext>
            </a:extLst>
          </p:cNvPr>
          <p:cNvCxnSpPr/>
          <p:nvPr/>
        </p:nvCxnSpPr>
        <p:spPr>
          <a:xfrm flipV="1">
            <a:off x="3948603" y="4414027"/>
            <a:ext cx="811969" cy="10362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59815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CFD07CC-5C61-13D1-CF85-FBBD2931DFAD}"/>
              </a:ext>
            </a:extLst>
          </p:cNvPr>
          <p:cNvSpPr txBox="1"/>
          <p:nvPr/>
        </p:nvSpPr>
        <p:spPr>
          <a:xfrm>
            <a:off x="175846" y="298938"/>
            <a:ext cx="25298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2D IIR Filters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7B4FEB1-F561-998D-AE4A-AC5571140FE2}"/>
                  </a:ext>
                </a:extLst>
              </p:cNvPr>
              <p:cNvSpPr txBox="1"/>
              <p:nvPr/>
            </p:nvSpPr>
            <p:spPr>
              <a:xfrm>
                <a:off x="-1107830" y="1383627"/>
                <a:ext cx="13508866" cy="11464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=−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  <m:sup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sSubSup>
                                    <m:sSubSup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  <m:sSubSup>
                                    <m:sSubSupPr>
                                      <m:ctrlP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=−</m:t>
                                  </m:r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  <m:sup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sSubSup>
                                    <m:sSubSupPr>
                                      <m:ctrlP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  <m:sSubSup>
                                    <m:sSubSupPr>
                                      <m:ctrlP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nary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7B4FEB1-F561-998D-AE4A-AC5571140F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07830" y="1383627"/>
                <a:ext cx="13508866" cy="1146404"/>
              </a:xfrm>
              <a:prstGeom prst="rect">
                <a:avLst/>
              </a:prstGeom>
              <a:blipFill>
                <a:blip r:embed="rId2"/>
                <a:stretch>
                  <a:fillRect t="-67391" b="-10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F0ECC19-DC85-E71D-AF2E-230C3F043060}"/>
                  </a:ext>
                </a:extLst>
              </p:cNvPr>
              <p:cNvSpPr txBox="1"/>
              <p:nvPr/>
            </p:nvSpPr>
            <p:spPr>
              <a:xfrm>
                <a:off x="87923" y="4769832"/>
                <a:ext cx="12104077" cy="8654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[0,0]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e>
                          </m:nary>
                        </m:e>
                      </m:nary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e>
                          </m:nary>
                        </m:e>
                      </m:nary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F0ECC19-DC85-E71D-AF2E-230C3F0430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23" y="4769832"/>
                <a:ext cx="12104077" cy="865493"/>
              </a:xfrm>
              <a:prstGeom prst="rect">
                <a:avLst/>
              </a:prstGeom>
              <a:blipFill>
                <a:blip r:embed="rId3"/>
                <a:stretch>
                  <a:fillRect t="-113043" b="-17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E6171465-2850-CDA9-F412-765306D4D2C0}"/>
              </a:ext>
            </a:extLst>
          </p:cNvPr>
          <p:cNvSpPr txBox="1"/>
          <p:nvPr/>
        </p:nvSpPr>
        <p:spPr>
          <a:xfrm>
            <a:off x="7344507" y="3650824"/>
            <a:ext cx="27138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Unlike the temporal IIR, we have both ”causal” and “</a:t>
            </a:r>
            <a:r>
              <a:rPr lang="en-US" dirty="0" err="1"/>
              <a:t>anticausal</a:t>
            </a:r>
            <a:r>
              <a:rPr lang="en-US" dirty="0"/>
              <a:t>” terms </a:t>
            </a:r>
          </a:p>
        </p:txBody>
      </p:sp>
    </p:spTree>
    <p:extLst>
      <p:ext uri="{BB962C8B-B14F-4D97-AF65-F5344CB8AC3E}">
        <p14:creationId xmlns:p14="http://schemas.microsoft.com/office/powerpoint/2010/main" val="4748240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hart, radar chart&#10;&#10;Description automatically generated">
            <a:extLst>
              <a:ext uri="{FF2B5EF4-FFF2-40B4-BE49-F238E27FC236}">
                <a16:creationId xmlns:a16="http://schemas.microsoft.com/office/drawing/2014/main" id="{B9BD4264-039F-76AF-C29D-274B86E5C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367" y="1652954"/>
            <a:ext cx="5934633" cy="4524009"/>
          </a:xfrm>
          <a:prstGeom prst="rect">
            <a:avLst/>
          </a:prstGeom>
        </p:spPr>
      </p:pic>
      <p:pic>
        <p:nvPicPr>
          <p:cNvPr id="9" name="Picture 8" descr="Chart&#10;&#10;Description automatically generated">
            <a:extLst>
              <a:ext uri="{FF2B5EF4-FFF2-40B4-BE49-F238E27FC236}">
                <a16:creationId xmlns:a16="http://schemas.microsoft.com/office/drawing/2014/main" id="{B6B29B81-D851-CA54-9385-A85F83020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24" y="1467097"/>
            <a:ext cx="6291603" cy="4709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16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672</Words>
  <Application>Microsoft Macintosh PowerPoint</Application>
  <PresentationFormat>Widescreen</PresentationFormat>
  <Paragraphs>146</Paragraphs>
  <Slides>25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Aptos Display</vt:lpstr>
      <vt:lpstr>Arial</vt:lpstr>
      <vt:lpstr>Cambria Math</vt:lpstr>
      <vt:lpstr>Wingdings</vt:lpstr>
      <vt:lpstr>Office Theme</vt:lpstr>
      <vt:lpstr>Lecture 4 Filters- Denoising</vt:lpstr>
      <vt:lpstr>PowerPoint Presentation</vt:lpstr>
      <vt:lpstr>Multidimensional filters</vt:lpstr>
      <vt:lpstr>Spatial Filters </vt:lpstr>
      <vt:lpstr>FIR design</vt:lpstr>
      <vt:lpstr>FIR design</vt:lpstr>
      <vt:lpstr>FIR design</vt:lpstr>
      <vt:lpstr>Window method for FIR design</vt:lpstr>
      <vt:lpstr>Window method for FIR design</vt:lpstr>
      <vt:lpstr>PowerPoint Presentation</vt:lpstr>
      <vt:lpstr>Window method for FIR design</vt:lpstr>
      <vt:lpstr>Window method for FIR design</vt:lpstr>
      <vt:lpstr>PowerPoint Presentation</vt:lpstr>
      <vt:lpstr>PowerPoint Presentation</vt:lpstr>
      <vt:lpstr>PowerPoint Presentation</vt:lpstr>
      <vt:lpstr>Image filters</vt:lpstr>
      <vt:lpstr>PowerPoint Presentation</vt:lpstr>
      <vt:lpstr>Window method for FIR design</vt:lpstr>
      <vt:lpstr>Window method for FIR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University of Pittsburgh University of Pittsburgh</dc:creator>
  <cp:lastModifiedBy>University of Pittsburgh University of Pittsburgh</cp:lastModifiedBy>
  <cp:revision>6</cp:revision>
  <dcterms:created xsi:type="dcterms:W3CDTF">2024-07-14T13:25:54Z</dcterms:created>
  <dcterms:modified xsi:type="dcterms:W3CDTF">2024-07-14T22:53:05Z</dcterms:modified>
</cp:coreProperties>
</file>