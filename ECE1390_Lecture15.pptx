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8" r:id="rId2"/>
    <p:sldId id="259" r:id="rId3"/>
    <p:sldId id="358" r:id="rId4"/>
    <p:sldId id="367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80" r:id="rId17"/>
    <p:sldId id="379" r:id="rId18"/>
    <p:sldId id="266" r:id="rId19"/>
    <p:sldId id="267" r:id="rId20"/>
    <p:sldId id="268" r:id="rId21"/>
    <p:sldId id="356" r:id="rId22"/>
    <p:sldId id="357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260" r:id="rId32"/>
    <p:sldId id="261" r:id="rId33"/>
    <p:sldId id="262" r:id="rId34"/>
    <p:sldId id="263" r:id="rId35"/>
    <p:sldId id="264" r:id="rId36"/>
    <p:sldId id="26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3"/>
    <p:restoredTop sz="94767"/>
  </p:normalViewPr>
  <p:slideViewPr>
    <p:cSldViewPr snapToGrid="0">
      <p:cViewPr varScale="1">
        <p:scale>
          <a:sx n="97" d="100"/>
          <a:sy n="97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10/21/24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22" name="Rectangle 17421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ichelangelo's “David” Has Been Perfectly Cloned With 3D Printing -  Engineering.com">
            <a:extLst>
              <a:ext uri="{FF2B5EF4-FFF2-40B4-BE49-F238E27FC236}">
                <a16:creationId xmlns:a16="http://schemas.microsoft.com/office/drawing/2014/main" id="{847E0E81-00EA-3777-2E78-6948EEBCF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1" b="-1"/>
          <a:stretch/>
        </p:blipFill>
        <p:spPr bwMode="auto">
          <a:xfrm>
            <a:off x="20" y="-22"/>
            <a:ext cx="12191977" cy="685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24" name="Rectangle 17423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>
                <a:ln w="22225">
                  <a:noFill/>
                  <a:miter lim="800000"/>
                </a:ln>
                <a:solidFill>
                  <a:srgbClr val="FFFFFF"/>
                </a:solidFill>
              </a:rPr>
              <a:t>Lecture 15</a:t>
            </a:r>
            <a:br>
              <a:rPr lang="en-US" sz="5200">
                <a:ln w="22225">
                  <a:noFill/>
                  <a:miter lim="800000"/>
                </a:ln>
                <a:solidFill>
                  <a:srgbClr val="FFFFFF"/>
                </a:solidFill>
              </a:rPr>
            </a:br>
            <a:r>
              <a:rPr lang="en-US" sz="5200">
                <a:ln w="22225">
                  <a:noFill/>
                  <a:miter lim="800000"/>
                </a:ln>
                <a:solidFill>
                  <a:srgbClr val="FFFFFF"/>
                </a:solidFill>
                <a:effectLst/>
              </a:rPr>
              <a:t>Pose estimation</a:t>
            </a:r>
            <a:br>
              <a:rPr lang="en-US" sz="5200">
                <a:ln w="22225">
                  <a:noFill/>
                  <a:miter lim="800000"/>
                </a:ln>
                <a:solidFill>
                  <a:srgbClr val="FFFFFF"/>
                </a:solidFill>
                <a:effectLst/>
              </a:rPr>
            </a:br>
            <a:r>
              <a:rPr lang="en-US" sz="5200">
                <a:ln w="22225">
                  <a:noFill/>
                  <a:miter lim="800000"/>
                </a:ln>
                <a:solidFill>
                  <a:srgbClr val="FFFFFF"/>
                </a:solidFill>
                <a:effectLst/>
              </a:rPr>
              <a:t> and </a:t>
            </a:r>
            <a:br>
              <a:rPr lang="en-US" sz="5200">
                <a:ln w="22225">
                  <a:noFill/>
                  <a:miter lim="800000"/>
                </a:ln>
                <a:solidFill>
                  <a:srgbClr val="FFFFFF"/>
                </a:solidFill>
                <a:effectLst/>
              </a:rPr>
            </a:br>
            <a:r>
              <a:rPr lang="en-US" sz="5200">
                <a:ln w="22225">
                  <a:noFill/>
                  <a:miter lim="800000"/>
                </a:ln>
                <a:solidFill>
                  <a:srgbClr val="FFFFFF"/>
                </a:solidFill>
                <a:effectLst/>
              </a:rPr>
              <a:t>3D reconstruction</a:t>
            </a:r>
            <a:endParaRPr lang="en-US" sz="5200">
              <a:ln w="22225">
                <a:noFill/>
                <a:miter lim="800000"/>
              </a:ln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ECE 1390/2390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17426" name="Rectangle 17425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2C38-E3CF-E67A-6C11-DCDF5939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BEFD0-BD37-3932-AFBE-D140AE84F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orb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cv2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ORB_create() </a:t>
            </a:r>
          </a:p>
          <a:p>
            <a:r>
              <a:rPr lang="en-US" dirty="0"/>
              <a:t>bf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cv2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BFMatcher(cv2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NORM_HAMMING, </a:t>
            </a:r>
            <a:r>
              <a:rPr lang="en-US" dirty="0" err="1"/>
              <a:t>crossCheck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66D9EF"/>
                </a:solidFill>
                <a:effectLst/>
                <a:latin typeface="-apple-system"/>
              </a:rPr>
              <a:t>True</a:t>
            </a:r>
            <a:r>
              <a:rPr lang="en-US" dirty="0"/>
              <a:t>)</a:t>
            </a:r>
          </a:p>
          <a:p>
            <a:r>
              <a:rPr lang="en-US" dirty="0"/>
              <a:t>kp1, des1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</a:t>
            </a:r>
            <a:r>
              <a:rPr lang="en-US" dirty="0" err="1"/>
              <a:t>orb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detectAndCompute</a:t>
            </a:r>
            <a:r>
              <a:rPr lang="en-US" dirty="0"/>
              <a:t>(img1, </a:t>
            </a:r>
            <a:r>
              <a:rPr lang="en-US" dirty="0">
                <a:solidFill>
                  <a:srgbClr val="66D9EF"/>
                </a:solidFill>
                <a:effectLst/>
                <a:latin typeface="-apple-system"/>
              </a:rPr>
              <a:t>None</a:t>
            </a:r>
            <a:r>
              <a:rPr lang="en-US" dirty="0"/>
              <a:t>) </a:t>
            </a:r>
          </a:p>
          <a:p>
            <a:r>
              <a:rPr lang="en-US" dirty="0"/>
              <a:t>kp2, des2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</a:t>
            </a:r>
            <a:r>
              <a:rPr lang="en-US" dirty="0" err="1"/>
              <a:t>orb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detectAndCompute</a:t>
            </a:r>
            <a:r>
              <a:rPr lang="en-US" dirty="0"/>
              <a:t>(img2, </a:t>
            </a:r>
            <a:r>
              <a:rPr lang="en-US" dirty="0">
                <a:solidFill>
                  <a:srgbClr val="66D9EF"/>
                </a:solidFill>
                <a:effectLst/>
                <a:latin typeface="-apple-system"/>
              </a:rPr>
              <a:t>None</a:t>
            </a:r>
            <a:r>
              <a:rPr lang="en-US" dirty="0"/>
              <a:t>) </a:t>
            </a:r>
          </a:p>
          <a:p>
            <a:r>
              <a:rPr lang="en-US" dirty="0"/>
              <a:t>matches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</a:t>
            </a:r>
            <a:r>
              <a:rPr lang="en-US" dirty="0" err="1"/>
              <a:t>bf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match</a:t>
            </a:r>
            <a:r>
              <a:rPr lang="en-US" dirty="0"/>
              <a:t>(des1, des2) </a:t>
            </a:r>
          </a:p>
          <a:p>
            <a:r>
              <a:rPr lang="en-US" dirty="0"/>
              <a:t>matches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sorted(matches, key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66D9EF"/>
                </a:solidFill>
                <a:effectLst/>
                <a:latin typeface="-apple-system"/>
              </a:rPr>
              <a:t>lambda</a:t>
            </a:r>
            <a:r>
              <a:rPr lang="en-US" dirty="0"/>
              <a:t> x: </a:t>
            </a:r>
            <a:r>
              <a:rPr lang="en-US" dirty="0" err="1"/>
              <a:t>x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distance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475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4BAE-1211-1BE9-0E41-0E90802A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F9D4B-DED7-E627-16DE-8681739C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Orthographic vs prospective view</a:t>
            </a:r>
          </a:p>
        </p:txBody>
      </p:sp>
    </p:spTree>
    <p:extLst>
      <p:ext uri="{BB962C8B-B14F-4D97-AF65-F5344CB8AC3E}">
        <p14:creationId xmlns:p14="http://schemas.microsoft.com/office/powerpoint/2010/main" val="3785638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A70D-D0D0-B37D-0061-DF6ECBF4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frame </a:t>
            </a:r>
            <a:r>
              <a:rPr lang="en-US" dirty="0" err="1"/>
              <a:t>stucture</a:t>
            </a:r>
            <a:r>
              <a:rPr lang="en-US" dirty="0"/>
              <a:t> from motion</a:t>
            </a:r>
          </a:p>
        </p:txBody>
      </p:sp>
      <p:pic>
        <p:nvPicPr>
          <p:cNvPr id="5" name="Content Placeholder 4" descr="A diagram of a triangle with lines and triangles&#10;&#10;Description automatically generated">
            <a:extLst>
              <a:ext uri="{FF2B5EF4-FFF2-40B4-BE49-F238E27FC236}">
                <a16:creationId xmlns:a16="http://schemas.microsoft.com/office/drawing/2014/main" id="{5D6E6C50-254C-E7A5-DA31-46D64A904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329" y="1974437"/>
            <a:ext cx="8613913" cy="4228240"/>
          </a:xfrm>
        </p:spPr>
      </p:pic>
      <p:pic>
        <p:nvPicPr>
          <p:cNvPr id="7" name="Picture 6" descr="A close up of a text&#10;&#10;Description automatically generated">
            <a:extLst>
              <a:ext uri="{FF2B5EF4-FFF2-40B4-BE49-F238E27FC236}">
                <a16:creationId xmlns:a16="http://schemas.microsoft.com/office/drawing/2014/main" id="{4D942399-2B0E-FAB7-599F-BD1D8CBD5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19" y="5433391"/>
            <a:ext cx="3709004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8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6A5F-AAF1-9695-3D25-AC94ACD3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triangle with Great Pyramid of Giza in the background&#10;&#10;Description automatically generated">
            <a:extLst>
              <a:ext uri="{FF2B5EF4-FFF2-40B4-BE49-F238E27FC236}">
                <a16:creationId xmlns:a16="http://schemas.microsoft.com/office/drawing/2014/main" id="{F3E0FB3F-4EB9-DF5A-45DD-ECAA8ED85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8670" y="2610677"/>
            <a:ext cx="4451505" cy="3595446"/>
          </a:xfrm>
        </p:spPr>
      </p:pic>
      <p:pic>
        <p:nvPicPr>
          <p:cNvPr id="9" name="Picture 8" descr="A diagram of a triangle with arrows and triangles&#10;&#10;Description automatically generated">
            <a:extLst>
              <a:ext uri="{FF2B5EF4-FFF2-40B4-BE49-F238E27FC236}">
                <a16:creationId xmlns:a16="http://schemas.microsoft.com/office/drawing/2014/main" id="{94417E9D-CAF9-6A6D-D9CE-A35D2A1F7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65" y="2067354"/>
            <a:ext cx="5071717" cy="420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6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1F24D2C1-1A5D-7178-64D7-19B9FD6E2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99" y="803137"/>
            <a:ext cx="8443909" cy="1595506"/>
          </a:xfrm>
          <a:prstGeom prst="rect">
            <a:avLst/>
          </a:prstGeom>
        </p:spPr>
      </p:pic>
      <p:pic>
        <p:nvPicPr>
          <p:cNvPr id="7" name="Picture 6" descr="A close up of a text&#10;&#10;Description automatically generated">
            <a:extLst>
              <a:ext uri="{FF2B5EF4-FFF2-40B4-BE49-F238E27FC236}">
                <a16:creationId xmlns:a16="http://schemas.microsoft.com/office/drawing/2014/main" id="{40F7076A-811F-5A16-2975-50EF766C0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10" y="3079751"/>
            <a:ext cx="6095355" cy="1379607"/>
          </a:xfrm>
          <a:prstGeom prst="rect">
            <a:avLst/>
          </a:prstGeom>
        </p:spPr>
      </p:pic>
      <p:pic>
        <p:nvPicPr>
          <p:cNvPr id="9" name="Picture 8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CD1855C-1406-409E-12E3-5887826CA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775" y="4921174"/>
            <a:ext cx="9758449" cy="171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8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C3FA-734C-45C8-FAE2-24C7A6B3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703077A-D904-E82D-E748-5E6D3028A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72139"/>
            <a:ext cx="6959417" cy="3780424"/>
          </a:xfrm>
        </p:spPr>
      </p:pic>
      <p:pic>
        <p:nvPicPr>
          <p:cNvPr id="7" name="Picture 6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8243EA61-4757-5F89-F8C9-FA838CFEE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086" y="5234609"/>
            <a:ext cx="6967915" cy="110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89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769E-64E2-40DE-7BFC-DB526E7B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C38DD8CC-5A72-9091-C8DF-75AED006E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622" y="2235355"/>
            <a:ext cx="9271568" cy="23872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28347-D22F-70DA-A693-87F8D0E38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261114"/>
            <a:ext cx="9968392" cy="71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59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C708F-0816-091C-D8CF-EB8C3861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073CFEA6-2DA8-DD68-778C-1E625327F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29139"/>
            <a:ext cx="8799444" cy="4399722"/>
          </a:xfrm>
        </p:spPr>
      </p:pic>
      <p:pic>
        <p:nvPicPr>
          <p:cNvPr id="7" name="Picture 6" descr="A screenshot of a math equation&#10;&#10;Description automatically generated">
            <a:extLst>
              <a:ext uri="{FF2B5EF4-FFF2-40B4-BE49-F238E27FC236}">
                <a16:creationId xmlns:a16="http://schemas.microsoft.com/office/drawing/2014/main" id="{DD626894-E0CA-C4F1-6019-07E4275B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35" y="4504905"/>
            <a:ext cx="6330122" cy="20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78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2CA93-34BB-3B6B-A969-DF1F48B4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math equation&#10;&#10;Description automatically generated">
            <a:extLst>
              <a:ext uri="{FF2B5EF4-FFF2-40B4-BE49-F238E27FC236}">
                <a16:creationId xmlns:a16="http://schemas.microsoft.com/office/drawing/2014/main" id="{6ABABBA8-9654-6EB6-4580-994C7447C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500" y="2226365"/>
            <a:ext cx="7785592" cy="3164198"/>
          </a:xfrm>
        </p:spPr>
      </p:pic>
    </p:spTree>
    <p:extLst>
      <p:ext uri="{BB962C8B-B14F-4D97-AF65-F5344CB8AC3E}">
        <p14:creationId xmlns:p14="http://schemas.microsoft.com/office/powerpoint/2010/main" val="3315074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D25390F7-D825-CC7A-E0EF-C9673401B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985" y="927652"/>
            <a:ext cx="10171200" cy="2890475"/>
          </a:xfrm>
        </p:spPr>
      </p:pic>
    </p:spTree>
    <p:extLst>
      <p:ext uri="{BB962C8B-B14F-4D97-AF65-F5344CB8AC3E}">
        <p14:creationId xmlns:p14="http://schemas.microsoft.com/office/powerpoint/2010/main" val="2200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7CB8-B93A-4D57-1C3B-1AA19643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B04A96A3-4AC9-F985-6CB5-D6A73E422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083" y="1802296"/>
            <a:ext cx="9121833" cy="3909357"/>
          </a:xfrm>
        </p:spPr>
      </p:pic>
    </p:spTree>
    <p:extLst>
      <p:ext uri="{BB962C8B-B14F-4D97-AF65-F5344CB8AC3E}">
        <p14:creationId xmlns:p14="http://schemas.microsoft.com/office/powerpoint/2010/main" val="1837818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4EF19-14DD-9AD3-B1BC-EBDBA284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sculpture&#10;&#10;Description automatically generated">
            <a:extLst>
              <a:ext uri="{FF2B5EF4-FFF2-40B4-BE49-F238E27FC236}">
                <a16:creationId xmlns:a16="http://schemas.microsoft.com/office/drawing/2014/main" id="{78E3331B-A51E-3B05-2032-099876BB7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9618"/>
            <a:ext cx="9438638" cy="3775455"/>
          </a:xfrm>
        </p:spPr>
      </p:pic>
    </p:spTree>
    <p:extLst>
      <p:ext uri="{BB962C8B-B14F-4D97-AF65-F5344CB8AC3E}">
        <p14:creationId xmlns:p14="http://schemas.microsoft.com/office/powerpoint/2010/main" val="282235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6E2F-1E6F-42CF-73F1-1C218BC4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triangle with lines and dots&#10;&#10;Description automatically generated">
            <a:extLst>
              <a:ext uri="{FF2B5EF4-FFF2-40B4-BE49-F238E27FC236}">
                <a16:creationId xmlns:a16="http://schemas.microsoft.com/office/drawing/2014/main" id="{FEA01368-3401-4CB1-A2B5-2744C631E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6152" y="2001079"/>
            <a:ext cx="8588255" cy="4085224"/>
          </a:xfrm>
        </p:spPr>
      </p:pic>
    </p:spTree>
    <p:extLst>
      <p:ext uri="{BB962C8B-B14F-4D97-AF65-F5344CB8AC3E}">
        <p14:creationId xmlns:p14="http://schemas.microsoft.com/office/powerpoint/2010/main" val="2081393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F010-B9C2-0A02-2711-41454C02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F78E181D-5893-002C-4783-4C678186F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598" y="2319131"/>
            <a:ext cx="9648803" cy="3224937"/>
          </a:xfrm>
        </p:spPr>
      </p:pic>
    </p:spTree>
    <p:extLst>
      <p:ext uri="{BB962C8B-B14F-4D97-AF65-F5344CB8AC3E}">
        <p14:creationId xmlns:p14="http://schemas.microsoft.com/office/powerpoint/2010/main" val="1003713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4DAE6-280A-DB09-8D0A-39260630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diagram of a triangle&#10;&#10;Description automatically generated with medium confidence">
            <a:extLst>
              <a:ext uri="{FF2B5EF4-FFF2-40B4-BE49-F238E27FC236}">
                <a16:creationId xmlns:a16="http://schemas.microsoft.com/office/drawing/2014/main" id="{21B2C17A-C334-1A7F-8DD5-CFCD96B12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2295"/>
            <a:ext cx="7960995" cy="4308303"/>
          </a:xfrm>
        </p:spPr>
      </p:pic>
    </p:spTree>
    <p:extLst>
      <p:ext uri="{BB962C8B-B14F-4D97-AF65-F5344CB8AC3E}">
        <p14:creationId xmlns:p14="http://schemas.microsoft.com/office/powerpoint/2010/main" val="1609974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358B-B825-4649-D311-F8C953D6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0F0E448F-9282-C870-9364-D5DB530E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059" y="1908313"/>
            <a:ext cx="8703046" cy="4315757"/>
          </a:xfrm>
        </p:spPr>
      </p:pic>
    </p:spTree>
    <p:extLst>
      <p:ext uri="{BB962C8B-B14F-4D97-AF65-F5344CB8AC3E}">
        <p14:creationId xmlns:p14="http://schemas.microsoft.com/office/powerpoint/2010/main" val="134234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91C2-ED7B-A676-7C8D-F320A5DF1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Tomasi-Kanade Factorization</a:t>
            </a: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FBEB4138-5540-D14D-6572-68F1BF8B3A73}"/>
              </a:ext>
            </a:extLst>
          </p:cNvPr>
          <p:cNvSpPr/>
          <p:nvPr/>
        </p:nvSpPr>
        <p:spPr>
          <a:xfrm>
            <a:off x="1073426" y="2888974"/>
            <a:ext cx="2531166" cy="286247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50B4F28-8180-A6D7-D925-048C5D47F83F}"/>
              </a:ext>
            </a:extLst>
          </p:cNvPr>
          <p:cNvSpPr/>
          <p:nvPr/>
        </p:nvSpPr>
        <p:spPr>
          <a:xfrm>
            <a:off x="5698435" y="5075582"/>
            <a:ext cx="4625009" cy="795131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CA178B-CE38-9FFF-33F5-60A65B773310}"/>
              </a:ext>
            </a:extLst>
          </p:cNvPr>
          <p:cNvSpPr/>
          <p:nvPr/>
        </p:nvSpPr>
        <p:spPr>
          <a:xfrm>
            <a:off x="5890592" y="2888974"/>
            <a:ext cx="4625009" cy="795131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ABCDB9-1D57-D47F-B993-E0D74A0B2E99}"/>
              </a:ext>
            </a:extLst>
          </p:cNvPr>
          <p:cNvSpPr/>
          <p:nvPr/>
        </p:nvSpPr>
        <p:spPr>
          <a:xfrm>
            <a:off x="967409" y="5473147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C5172B-750C-4314-4971-6B040C8D67F1}"/>
              </a:ext>
            </a:extLst>
          </p:cNvPr>
          <p:cNvSpPr/>
          <p:nvPr/>
        </p:nvSpPr>
        <p:spPr>
          <a:xfrm>
            <a:off x="3392557" y="2703445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58B3F3-A6E1-81CD-7C12-97879EAC2FD4}"/>
              </a:ext>
            </a:extLst>
          </p:cNvPr>
          <p:cNvSpPr/>
          <p:nvPr/>
        </p:nvSpPr>
        <p:spPr>
          <a:xfrm>
            <a:off x="5486400" y="5287618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C4D12B-A621-47BF-C888-7EB7EDC1C563}"/>
              </a:ext>
            </a:extLst>
          </p:cNvPr>
          <p:cNvSpPr/>
          <p:nvPr/>
        </p:nvSpPr>
        <p:spPr>
          <a:xfrm>
            <a:off x="7361583" y="5638800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1E034A-CB18-17D1-FB80-F579BE42A70C}"/>
              </a:ext>
            </a:extLst>
          </p:cNvPr>
          <p:cNvSpPr/>
          <p:nvPr/>
        </p:nvSpPr>
        <p:spPr>
          <a:xfrm>
            <a:off x="9508435" y="5473147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FFCBF4-23DD-E6F5-8052-822090B4DDE3}"/>
              </a:ext>
            </a:extLst>
          </p:cNvPr>
          <p:cNvSpPr/>
          <p:nvPr/>
        </p:nvSpPr>
        <p:spPr>
          <a:xfrm>
            <a:off x="8375375" y="4823792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8A7606-BCD9-012C-0F65-D528C9435C40}"/>
              </a:ext>
            </a:extLst>
          </p:cNvPr>
          <p:cNvSpPr/>
          <p:nvPr/>
        </p:nvSpPr>
        <p:spPr>
          <a:xfrm>
            <a:off x="6612836" y="4882391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419F9A-009A-DF8A-12F2-974D399E43CE}"/>
              </a:ext>
            </a:extLst>
          </p:cNvPr>
          <p:cNvCxnSpPr/>
          <p:nvPr/>
        </p:nvCxnSpPr>
        <p:spPr>
          <a:xfrm>
            <a:off x="5996609" y="6010894"/>
            <a:ext cx="1232453" cy="258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7F30681-CE88-F88C-F845-A729B17EFBBA}"/>
              </a:ext>
            </a:extLst>
          </p:cNvPr>
          <p:cNvSpPr/>
          <p:nvPr/>
        </p:nvSpPr>
        <p:spPr>
          <a:xfrm>
            <a:off x="9495183" y="2683568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66B503-C25A-6D99-45A4-25133C919378}"/>
              </a:ext>
            </a:extLst>
          </p:cNvPr>
          <p:cNvSpPr/>
          <p:nvPr/>
        </p:nvSpPr>
        <p:spPr>
          <a:xfrm>
            <a:off x="7335079" y="2590801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F5185A4-4CD5-FB0C-814F-0CF551615CD3}"/>
              </a:ext>
            </a:extLst>
          </p:cNvPr>
          <p:cNvSpPr/>
          <p:nvPr/>
        </p:nvSpPr>
        <p:spPr>
          <a:xfrm>
            <a:off x="6400801" y="3306419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18D1C8-EDF2-4CD3-A7B9-3852CBBC73DC}"/>
              </a:ext>
            </a:extLst>
          </p:cNvPr>
          <p:cNvSpPr/>
          <p:nvPr/>
        </p:nvSpPr>
        <p:spPr>
          <a:xfrm>
            <a:off x="8073888" y="3495262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48F98C-0710-F1D3-DFF0-74F32773607F}"/>
              </a:ext>
            </a:extLst>
          </p:cNvPr>
          <p:cNvSpPr/>
          <p:nvPr/>
        </p:nvSpPr>
        <p:spPr>
          <a:xfrm>
            <a:off x="9899375" y="3306419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" name="U-Turn Arrow 22">
            <a:extLst>
              <a:ext uri="{FF2B5EF4-FFF2-40B4-BE49-F238E27FC236}">
                <a16:creationId xmlns:a16="http://schemas.microsoft.com/office/drawing/2014/main" id="{B724360D-38E3-894F-CAB2-1C0F4528EE96}"/>
              </a:ext>
            </a:extLst>
          </p:cNvPr>
          <p:cNvSpPr/>
          <p:nvPr/>
        </p:nvSpPr>
        <p:spPr>
          <a:xfrm flipV="1">
            <a:off x="1868556" y="5870713"/>
            <a:ext cx="1086677" cy="622162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902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9622-7516-55D0-0907-31400263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7EA4-45FD-3D65-40FB-38789634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Tomasi-Kanade Factorization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A04B0C-62A2-65AB-FF3F-834DC7A155A0}"/>
              </a:ext>
            </a:extLst>
          </p:cNvPr>
          <p:cNvSpPr/>
          <p:nvPr/>
        </p:nvSpPr>
        <p:spPr>
          <a:xfrm>
            <a:off x="5698435" y="5075582"/>
            <a:ext cx="4625009" cy="795131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028FFB-B6D2-F3DC-8572-3D5BFC48BF8B}"/>
              </a:ext>
            </a:extLst>
          </p:cNvPr>
          <p:cNvSpPr/>
          <p:nvPr/>
        </p:nvSpPr>
        <p:spPr>
          <a:xfrm>
            <a:off x="5890592" y="2888974"/>
            <a:ext cx="4625009" cy="795131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A8FBD5-DC29-BBEC-34A0-3C8CB4BEC31F}"/>
              </a:ext>
            </a:extLst>
          </p:cNvPr>
          <p:cNvSpPr/>
          <p:nvPr/>
        </p:nvSpPr>
        <p:spPr>
          <a:xfrm>
            <a:off x="5486400" y="5287618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AA52FC-931B-E24C-D236-35C3B63F7022}"/>
              </a:ext>
            </a:extLst>
          </p:cNvPr>
          <p:cNvSpPr/>
          <p:nvPr/>
        </p:nvSpPr>
        <p:spPr>
          <a:xfrm>
            <a:off x="7361583" y="5638800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D83E2F-A014-87C2-E1C7-E4DF60C6C3D3}"/>
              </a:ext>
            </a:extLst>
          </p:cNvPr>
          <p:cNvSpPr/>
          <p:nvPr/>
        </p:nvSpPr>
        <p:spPr>
          <a:xfrm>
            <a:off x="9508435" y="5473147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170C46-D01C-7A06-A3F8-CB2918CC9C20}"/>
              </a:ext>
            </a:extLst>
          </p:cNvPr>
          <p:cNvSpPr/>
          <p:nvPr/>
        </p:nvSpPr>
        <p:spPr>
          <a:xfrm>
            <a:off x="8375375" y="4823792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FB4614-C610-71DB-8687-A08BB38CD307}"/>
              </a:ext>
            </a:extLst>
          </p:cNvPr>
          <p:cNvSpPr/>
          <p:nvPr/>
        </p:nvSpPr>
        <p:spPr>
          <a:xfrm>
            <a:off x="6612836" y="4882391"/>
            <a:ext cx="424069" cy="46382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AD4B5B-F167-F74A-DE70-5E2A64C19F55}"/>
              </a:ext>
            </a:extLst>
          </p:cNvPr>
          <p:cNvCxnSpPr/>
          <p:nvPr/>
        </p:nvCxnSpPr>
        <p:spPr>
          <a:xfrm>
            <a:off x="5996609" y="6010894"/>
            <a:ext cx="1232453" cy="258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2CC4DAA-A086-E15C-3984-4554E11B040C}"/>
              </a:ext>
            </a:extLst>
          </p:cNvPr>
          <p:cNvSpPr/>
          <p:nvPr/>
        </p:nvSpPr>
        <p:spPr>
          <a:xfrm>
            <a:off x="9495183" y="2683568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48D993-749C-6235-7464-E8B41ACCC312}"/>
              </a:ext>
            </a:extLst>
          </p:cNvPr>
          <p:cNvSpPr/>
          <p:nvPr/>
        </p:nvSpPr>
        <p:spPr>
          <a:xfrm>
            <a:off x="7335079" y="2590801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78D65B-37E5-CF71-C373-32CD348F9681}"/>
              </a:ext>
            </a:extLst>
          </p:cNvPr>
          <p:cNvSpPr/>
          <p:nvPr/>
        </p:nvSpPr>
        <p:spPr>
          <a:xfrm>
            <a:off x="6400801" y="3306419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CEF5E5-9B04-CB7E-A507-52154EA99E59}"/>
              </a:ext>
            </a:extLst>
          </p:cNvPr>
          <p:cNvSpPr/>
          <p:nvPr/>
        </p:nvSpPr>
        <p:spPr>
          <a:xfrm>
            <a:off x="8073888" y="3495262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2CA81C-6A0B-FBA8-47D9-D9888F6E9DFA}"/>
              </a:ext>
            </a:extLst>
          </p:cNvPr>
          <p:cNvSpPr/>
          <p:nvPr/>
        </p:nvSpPr>
        <p:spPr>
          <a:xfrm>
            <a:off x="9899375" y="3306419"/>
            <a:ext cx="424069" cy="46382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996823-96A2-00DB-C31A-097B0BCA2F58}"/>
                  </a:ext>
                </a:extLst>
              </p:cNvPr>
              <p:cNvSpPr txBox="1"/>
              <p:nvPr/>
            </p:nvSpPr>
            <p:spPr>
              <a:xfrm>
                <a:off x="1073425" y="2491731"/>
                <a:ext cx="2161554" cy="36483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/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/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996823-96A2-00DB-C31A-097B0BCA2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25" y="2491731"/>
                <a:ext cx="2161554" cy="3648371"/>
              </a:xfrm>
              <a:prstGeom prst="rect">
                <a:avLst/>
              </a:prstGeom>
              <a:blipFill>
                <a:blip r:embed="rId2"/>
                <a:stretch>
                  <a:fillRect l="-1170" t="-347"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901FE24-B4B3-BB17-4F09-D94BE257D4C5}"/>
              </a:ext>
            </a:extLst>
          </p:cNvPr>
          <p:cNvSpPr txBox="1"/>
          <p:nvPr/>
        </p:nvSpPr>
        <p:spPr>
          <a:xfrm>
            <a:off x="1059449" y="1586746"/>
            <a:ext cx="304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tracked points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F2A1364-D507-177D-286D-B3B17F1C8CCA}"/>
              </a:ext>
            </a:extLst>
          </p:cNvPr>
          <p:cNvSpPr/>
          <p:nvPr/>
        </p:nvSpPr>
        <p:spPr>
          <a:xfrm>
            <a:off x="1988551" y="1920864"/>
            <a:ext cx="861392" cy="219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B8397B-DD6D-AA04-89EE-F1DBAC96A4F3}"/>
              </a:ext>
            </a:extLst>
          </p:cNvPr>
          <p:cNvSpPr txBox="1"/>
          <p:nvPr/>
        </p:nvSpPr>
        <p:spPr>
          <a:xfrm rot="5400000">
            <a:off x="2416950" y="4270516"/>
            <a:ext cx="304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frames (x2)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499BE958-C5C8-7A69-D230-A70490AE1D3B}"/>
              </a:ext>
            </a:extLst>
          </p:cNvPr>
          <p:cNvSpPr/>
          <p:nvPr/>
        </p:nvSpPr>
        <p:spPr>
          <a:xfrm rot="5400000">
            <a:off x="3084583" y="3914546"/>
            <a:ext cx="861392" cy="219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8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13F2-2ABB-C791-417F-8060877F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F0DD-1F02-3C3B-4B61-33050194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Tomasi-Kanade Factorization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DB7E4D-10E5-5DFC-3294-BF36180326FB}"/>
                  </a:ext>
                </a:extLst>
              </p:cNvPr>
              <p:cNvSpPr txBox="1"/>
              <p:nvPr/>
            </p:nvSpPr>
            <p:spPr>
              <a:xfrm>
                <a:off x="1073425" y="2491731"/>
                <a:ext cx="2161554" cy="36483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/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  <m:e/>
                                  </m:mr>
                                  <m:mr>
                                    <m:e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/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DB7E4D-10E5-5DFC-3294-BF3618032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25" y="2491731"/>
                <a:ext cx="2161554" cy="3648371"/>
              </a:xfrm>
              <a:prstGeom prst="rect">
                <a:avLst/>
              </a:prstGeom>
              <a:blipFill>
                <a:blip r:embed="rId2"/>
                <a:stretch>
                  <a:fillRect l="-1170" t="-347"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D16E0DE-0D69-6170-DF4C-3B9D6017C7A6}"/>
              </a:ext>
            </a:extLst>
          </p:cNvPr>
          <p:cNvSpPr txBox="1"/>
          <p:nvPr/>
        </p:nvSpPr>
        <p:spPr>
          <a:xfrm>
            <a:off x="1059449" y="1586746"/>
            <a:ext cx="304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tracked points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2DFE94F-51F1-5477-835D-9D228D855419}"/>
              </a:ext>
            </a:extLst>
          </p:cNvPr>
          <p:cNvSpPr/>
          <p:nvPr/>
        </p:nvSpPr>
        <p:spPr>
          <a:xfrm>
            <a:off x="1988551" y="1920864"/>
            <a:ext cx="861392" cy="219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4A13E9-EDD7-C4C2-7A8D-99698EF3CEE7}"/>
              </a:ext>
            </a:extLst>
          </p:cNvPr>
          <p:cNvSpPr txBox="1"/>
          <p:nvPr/>
        </p:nvSpPr>
        <p:spPr>
          <a:xfrm rot="5400000">
            <a:off x="2416950" y="4270516"/>
            <a:ext cx="304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frames (x2)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35BB5D30-D30A-0DA0-C9A8-BAC0B5383E77}"/>
              </a:ext>
            </a:extLst>
          </p:cNvPr>
          <p:cNvSpPr/>
          <p:nvPr/>
        </p:nvSpPr>
        <p:spPr>
          <a:xfrm rot="5400000">
            <a:off x="3084583" y="3914546"/>
            <a:ext cx="861392" cy="219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923425-7F60-5D1B-E088-F668606D4FC4}"/>
                  </a:ext>
                </a:extLst>
              </p:cNvPr>
              <p:cNvSpPr txBox="1"/>
              <p:nvPr/>
            </p:nvSpPr>
            <p:spPr>
              <a:xfrm>
                <a:off x="7157626" y="2030804"/>
                <a:ext cx="232948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923425-7F60-5D1B-E088-F668606D4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626" y="2030804"/>
                <a:ext cx="2329484" cy="553998"/>
              </a:xfrm>
              <a:prstGeom prst="rect">
                <a:avLst/>
              </a:prstGeom>
              <a:blipFill>
                <a:blip r:embed="rId3"/>
                <a:stretch>
                  <a:fillRect l="-4348" r="-1087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F2D7F75-EC89-8CBC-06DB-544CAD5B9681}"/>
              </a:ext>
            </a:extLst>
          </p:cNvPr>
          <p:cNvSpPr txBox="1"/>
          <p:nvPr/>
        </p:nvSpPr>
        <p:spPr>
          <a:xfrm>
            <a:off x="6467061" y="3239929"/>
            <a:ext cx="2329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Sub-matrix that depends on movement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25EBB-4313-14C7-0FA7-3C74718C959A}"/>
              </a:ext>
            </a:extLst>
          </p:cNvPr>
          <p:cNvSpPr txBox="1"/>
          <p:nvPr/>
        </p:nvSpPr>
        <p:spPr>
          <a:xfrm>
            <a:off x="8957023" y="3276520"/>
            <a:ext cx="1795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Sub-matrix that depends on shape</a:t>
            </a:r>
          </a:p>
        </p:txBody>
      </p:sp>
    </p:spTree>
    <p:extLst>
      <p:ext uri="{BB962C8B-B14F-4D97-AF65-F5344CB8AC3E}">
        <p14:creationId xmlns:p14="http://schemas.microsoft.com/office/powerpoint/2010/main" val="4071199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9EF350-7D27-936D-3871-50EADB2DA6BA}"/>
              </a:ext>
            </a:extLst>
          </p:cNvPr>
          <p:cNvSpPr/>
          <p:nvPr/>
        </p:nvSpPr>
        <p:spPr>
          <a:xfrm>
            <a:off x="6203487" y="1492712"/>
            <a:ext cx="2119470" cy="21073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C9F2E-9E49-9822-05AA-CC9B4126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Prospective-n-Point (PnP)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D02DFE0-8B1E-B00A-51FA-61B66B1A7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56" y="1505832"/>
            <a:ext cx="5127098" cy="35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BB99C8-7113-0B4B-0308-5B7A732A9C33}"/>
              </a:ext>
            </a:extLst>
          </p:cNvPr>
          <p:cNvSpPr/>
          <p:nvPr/>
        </p:nvSpPr>
        <p:spPr>
          <a:xfrm>
            <a:off x="6455301" y="2295083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CF80F4-8141-C0F9-7373-30F0A02CBEB5}"/>
              </a:ext>
            </a:extLst>
          </p:cNvPr>
          <p:cNvSpPr/>
          <p:nvPr/>
        </p:nvSpPr>
        <p:spPr>
          <a:xfrm>
            <a:off x="6996775" y="1792466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97B285-1FBE-609F-4049-8EA4FB856481}"/>
              </a:ext>
            </a:extLst>
          </p:cNvPr>
          <p:cNvSpPr/>
          <p:nvPr/>
        </p:nvSpPr>
        <p:spPr>
          <a:xfrm>
            <a:off x="6996775" y="2797700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DC0CD1-9C1F-284F-3B8C-83FC289EDD4C}"/>
              </a:ext>
            </a:extLst>
          </p:cNvPr>
          <p:cNvSpPr/>
          <p:nvPr/>
        </p:nvSpPr>
        <p:spPr>
          <a:xfrm>
            <a:off x="7538249" y="2295083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8832F29-842C-DF31-82FA-C4963D508163}"/>
              </a:ext>
            </a:extLst>
          </p:cNvPr>
          <p:cNvSpPr/>
          <p:nvPr/>
        </p:nvSpPr>
        <p:spPr>
          <a:xfrm>
            <a:off x="6915527" y="2228472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B65CCB-6F51-C1FC-D403-5FF5E3AF93BE}"/>
              </a:ext>
            </a:extLst>
          </p:cNvPr>
          <p:cNvSpPr/>
          <p:nvPr/>
        </p:nvSpPr>
        <p:spPr>
          <a:xfrm>
            <a:off x="7456498" y="2225444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5DB925-24B1-0484-B507-C7512BCA8037}"/>
              </a:ext>
            </a:extLst>
          </p:cNvPr>
          <p:cNvSpPr/>
          <p:nvPr/>
        </p:nvSpPr>
        <p:spPr>
          <a:xfrm>
            <a:off x="6910735" y="2711756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637CAF0-C7B6-1BB0-AFD4-22EF9212F4F4}"/>
              </a:ext>
            </a:extLst>
          </p:cNvPr>
          <p:cNvSpPr/>
          <p:nvPr/>
        </p:nvSpPr>
        <p:spPr>
          <a:xfrm>
            <a:off x="7443630" y="2715132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1CE000-4ACA-853F-F1FC-6A018F4A628D}"/>
              </a:ext>
            </a:extLst>
          </p:cNvPr>
          <p:cNvSpPr txBox="1"/>
          <p:nvPr/>
        </p:nvSpPr>
        <p:spPr>
          <a:xfrm>
            <a:off x="6347020" y="1967195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0</a:t>
            </a:r>
            <a:r>
              <a:rPr lang="en-US" sz="1200" dirty="0"/>
              <a:t>,y</a:t>
            </a:r>
            <a:r>
              <a:rPr lang="en-US" sz="1200" baseline="-25000" dirty="0"/>
              <a:t>0</a:t>
            </a:r>
            <a:r>
              <a:rPr lang="en-US" sz="1200" dirty="0"/>
              <a:t>,0)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58CA8D-B69B-5A55-A251-85AED6FEC02C}"/>
              </a:ext>
            </a:extLst>
          </p:cNvPr>
          <p:cNvSpPr txBox="1"/>
          <p:nvPr/>
        </p:nvSpPr>
        <p:spPr>
          <a:xfrm>
            <a:off x="7568745" y="1983264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1</a:t>
            </a:r>
            <a:r>
              <a:rPr lang="en-US" sz="1200" dirty="0"/>
              <a:t>,y</a:t>
            </a:r>
            <a:r>
              <a:rPr lang="en-US" sz="1200" baseline="-25000" dirty="0"/>
              <a:t>1</a:t>
            </a:r>
            <a:r>
              <a:rPr lang="en-US" sz="1200" dirty="0"/>
              <a:t>,0)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3ED87-1504-CD2A-2F03-28E1A40E77BB}"/>
              </a:ext>
            </a:extLst>
          </p:cNvPr>
          <p:cNvSpPr txBox="1"/>
          <p:nvPr/>
        </p:nvSpPr>
        <p:spPr>
          <a:xfrm>
            <a:off x="7529131" y="2851034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3</a:t>
            </a:r>
            <a:r>
              <a:rPr lang="en-US" sz="1200" dirty="0"/>
              <a:t>,y</a:t>
            </a:r>
            <a:r>
              <a:rPr lang="en-US" sz="1200" baseline="-25000" dirty="0"/>
              <a:t>3</a:t>
            </a:r>
            <a:r>
              <a:rPr lang="en-US" sz="1200" dirty="0"/>
              <a:t>,0)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E99DC1-FBA9-2F6F-B6B7-B3B93426DAEA}"/>
              </a:ext>
            </a:extLst>
          </p:cNvPr>
          <p:cNvSpPr txBox="1"/>
          <p:nvPr/>
        </p:nvSpPr>
        <p:spPr>
          <a:xfrm>
            <a:off x="6311408" y="2883842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2</a:t>
            </a:r>
            <a:r>
              <a:rPr lang="en-US" sz="1200" dirty="0"/>
              <a:t>,y</a:t>
            </a:r>
            <a:r>
              <a:rPr lang="en-US" sz="1200" baseline="-25000" dirty="0"/>
              <a:t>2</a:t>
            </a:r>
            <a:r>
              <a:rPr lang="en-US" sz="1200" dirty="0"/>
              <a:t>,0)</a:t>
            </a: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DB308920-3D38-A273-3C4D-3C59D7DC2CA8}"/>
              </a:ext>
            </a:extLst>
          </p:cNvPr>
          <p:cNvSpPr/>
          <p:nvPr/>
        </p:nvSpPr>
        <p:spPr>
          <a:xfrm rot="5400000">
            <a:off x="7354850" y="3683782"/>
            <a:ext cx="624664" cy="80792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A3C4F2-91AE-2402-4A7F-4F07BB2FC0DE}"/>
              </a:ext>
            </a:extLst>
          </p:cNvPr>
          <p:cNvSpPr txBox="1"/>
          <p:nvPr/>
        </p:nvSpPr>
        <p:spPr>
          <a:xfrm>
            <a:off x="7020996" y="403304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z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087A2AD-536B-CD25-8A94-BA572A035C6A}"/>
              </a:ext>
            </a:extLst>
          </p:cNvPr>
          <p:cNvGrpSpPr/>
          <p:nvPr/>
        </p:nvGrpSpPr>
        <p:grpSpPr>
          <a:xfrm>
            <a:off x="10107347" y="135155"/>
            <a:ext cx="1179839" cy="1440981"/>
            <a:chOff x="9029952" y="1417693"/>
            <a:chExt cx="1783415" cy="211248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7D766B8-D108-C943-06EE-D9A929AF1773}"/>
                </a:ext>
              </a:extLst>
            </p:cNvPr>
            <p:cNvGrpSpPr/>
            <p:nvPr/>
          </p:nvGrpSpPr>
          <p:grpSpPr>
            <a:xfrm>
              <a:off x="9247955" y="1744021"/>
              <a:ext cx="1252506" cy="1482194"/>
              <a:chOff x="9247955" y="1744021"/>
              <a:chExt cx="1252506" cy="14821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2B8C69E-6410-2C7B-18C4-EFDF135E56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6339" y="1744021"/>
                <a:ext cx="0" cy="100279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AC6A3-AE09-E407-D944-EC818285F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6339" y="2746811"/>
                <a:ext cx="88412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B2E6142-A134-D044-B185-2D6D384221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47955" y="2746811"/>
                <a:ext cx="368384" cy="4794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5A4B20-DF64-66E4-6F94-E8FB80BFE8AA}"/>
                </a:ext>
              </a:extLst>
            </p:cNvPr>
            <p:cNvSpPr txBox="1"/>
            <p:nvPr/>
          </p:nvSpPr>
          <p:spPr>
            <a:xfrm>
              <a:off x="9461489" y="1417693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271C549-36A3-EF14-23BB-79D25FB6A490}"/>
                </a:ext>
              </a:extLst>
            </p:cNvPr>
            <p:cNvSpPr txBox="1"/>
            <p:nvPr/>
          </p:nvSpPr>
          <p:spPr>
            <a:xfrm>
              <a:off x="10500461" y="256214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C38F978-AE96-09DA-3897-E90FD59D6ED3}"/>
                </a:ext>
              </a:extLst>
            </p:cNvPr>
            <p:cNvSpPr txBox="1"/>
            <p:nvPr/>
          </p:nvSpPr>
          <p:spPr>
            <a:xfrm>
              <a:off x="9029952" y="316084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AD13D0-321F-A6F4-3881-9A8D538902BC}"/>
                  </a:ext>
                </a:extLst>
              </p:cNvPr>
              <p:cNvSpPr txBox="1"/>
              <p:nvPr/>
            </p:nvSpPr>
            <p:spPr>
              <a:xfrm>
                <a:off x="6145599" y="4506127"/>
                <a:ext cx="2846292" cy="77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AD13D0-321F-A6F4-3881-9A8D53890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599" y="4506127"/>
                <a:ext cx="2846292" cy="770788"/>
              </a:xfrm>
              <a:prstGeom prst="rect">
                <a:avLst/>
              </a:prstGeom>
              <a:blipFill>
                <a:blip r:embed="rId3"/>
                <a:stretch>
                  <a:fillRect t="-1613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183396D-6FC6-FF52-C170-1412359768A3}"/>
              </a:ext>
            </a:extLst>
          </p:cNvPr>
          <p:cNvSpPr txBox="1"/>
          <p:nvPr/>
        </p:nvSpPr>
        <p:spPr>
          <a:xfrm>
            <a:off x="8651202" y="289509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6B7E52-BD8C-E57E-3629-8A82EEEFE113}"/>
                  </a:ext>
                </a:extLst>
              </p:cNvPr>
              <p:cNvSpPr txBox="1"/>
              <p:nvPr/>
            </p:nvSpPr>
            <p:spPr>
              <a:xfrm>
                <a:off x="8486460" y="3561504"/>
                <a:ext cx="2934393" cy="809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6B7E52-BD8C-E57E-3629-8A82EEEF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460" y="3561504"/>
                <a:ext cx="2934393" cy="809837"/>
              </a:xfrm>
              <a:prstGeom prst="rect">
                <a:avLst/>
              </a:prstGeom>
              <a:blipFill>
                <a:blip r:embed="rId4"/>
                <a:stretch>
                  <a:fillRect t="-153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Bent Arrow 51">
            <a:extLst>
              <a:ext uri="{FF2B5EF4-FFF2-40B4-BE49-F238E27FC236}">
                <a16:creationId xmlns:a16="http://schemas.microsoft.com/office/drawing/2014/main" id="{FF7E12AA-9F47-EBCD-BCCD-53624E971688}"/>
              </a:ext>
            </a:extLst>
          </p:cNvPr>
          <p:cNvSpPr/>
          <p:nvPr/>
        </p:nvSpPr>
        <p:spPr>
          <a:xfrm rot="19206498" flipV="1">
            <a:off x="8530325" y="2794341"/>
            <a:ext cx="828255" cy="69230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F4FA5A-E5D3-03FE-8E74-051B499C5EBB}"/>
              </a:ext>
            </a:extLst>
          </p:cNvPr>
          <p:cNvSpPr txBox="1"/>
          <p:nvPr/>
        </p:nvSpPr>
        <p:spPr>
          <a:xfrm>
            <a:off x="8792678" y="1237815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4E7FA21-8998-F765-5F4C-B348EBF8F0EE}"/>
                  </a:ext>
                </a:extLst>
              </p:cNvPr>
              <p:cNvSpPr txBox="1"/>
              <p:nvPr/>
            </p:nvSpPr>
            <p:spPr>
              <a:xfrm>
                <a:off x="8574771" y="1792466"/>
                <a:ext cx="2912336" cy="812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4E7FA21-8998-F765-5F4C-B348EBF8F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771" y="1792466"/>
                <a:ext cx="2912336" cy="812787"/>
              </a:xfrm>
              <a:prstGeom prst="rect">
                <a:avLst/>
              </a:prstGeom>
              <a:blipFill>
                <a:blip r:embed="rId5"/>
                <a:stretch>
                  <a:fillRect l="-435" t="-1563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Bent Arrow 54">
            <a:extLst>
              <a:ext uri="{FF2B5EF4-FFF2-40B4-BE49-F238E27FC236}">
                <a16:creationId xmlns:a16="http://schemas.microsoft.com/office/drawing/2014/main" id="{59A0BB81-B07C-BB45-C632-028500A6FE50}"/>
              </a:ext>
            </a:extLst>
          </p:cNvPr>
          <p:cNvSpPr/>
          <p:nvPr/>
        </p:nvSpPr>
        <p:spPr>
          <a:xfrm rot="19206498" flipH="1">
            <a:off x="8533896" y="1001727"/>
            <a:ext cx="656188" cy="55287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613506C-1B68-6C22-BC5A-FA21F7CB0CEF}"/>
                  </a:ext>
                </a:extLst>
              </p:cNvPr>
              <p:cNvSpPr txBox="1"/>
              <p:nvPr/>
            </p:nvSpPr>
            <p:spPr>
              <a:xfrm>
                <a:off x="195930" y="5716627"/>
                <a:ext cx="10404195" cy="10727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613506C-1B68-6C22-BC5A-FA21F7CB0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30" y="5716627"/>
                <a:ext cx="10404195" cy="1072794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174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BA49A-551D-4F83-C5A0-88223532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3568B313-E7EC-52CA-C243-51CE3690C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61" y="927653"/>
            <a:ext cx="7007324" cy="3201780"/>
          </a:xfrm>
          <a:prstGeom prst="rect">
            <a:avLst/>
          </a:prstGeom>
        </p:spPr>
      </p:pic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C514EBA4-E7EB-D054-4341-224191426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55" y="4860235"/>
            <a:ext cx="2679700" cy="121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56E86F-FC3B-18D2-64D9-D976585A9187}"/>
              </a:ext>
            </a:extLst>
          </p:cNvPr>
          <p:cNvSpPr txBox="1"/>
          <p:nvPr/>
        </p:nvSpPr>
        <p:spPr>
          <a:xfrm>
            <a:off x="5247861" y="57101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=Ti9uotyHOKM</a:t>
            </a:r>
          </a:p>
        </p:txBody>
      </p:sp>
      <p:pic>
        <p:nvPicPr>
          <p:cNvPr id="12" name="Picture 11" descr="A diagram of mathematical equations&#10;&#10;Description automatically generated with medium confidence">
            <a:extLst>
              <a:ext uri="{FF2B5EF4-FFF2-40B4-BE49-F238E27FC236}">
                <a16:creationId xmlns:a16="http://schemas.microsoft.com/office/drawing/2014/main" id="{EDA271FA-5B3C-C914-BF0E-FD4936C41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147" y="3723381"/>
            <a:ext cx="4127500" cy="1320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93E0A3-31BF-E829-50F4-9E6B56EA4526}"/>
              </a:ext>
            </a:extLst>
          </p:cNvPr>
          <p:cNvSpPr txBox="1"/>
          <p:nvPr/>
        </p:nvSpPr>
        <p:spPr>
          <a:xfrm>
            <a:off x="8161929" y="3021088"/>
            <a:ext cx="3739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Center in both real-world and image</a:t>
            </a:r>
          </a:p>
        </p:txBody>
      </p:sp>
    </p:spTree>
    <p:extLst>
      <p:ext uri="{BB962C8B-B14F-4D97-AF65-F5344CB8AC3E}">
        <p14:creationId xmlns:p14="http://schemas.microsoft.com/office/powerpoint/2010/main" val="2689829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BC2C-4B58-54D5-0DD7-950C875B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7860EBBF-D865-306E-1668-0571864B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574" y="250158"/>
            <a:ext cx="8693130" cy="5329008"/>
          </a:xfrm>
          <a:prstGeom prst="rect">
            <a:avLst/>
          </a:prstGeom>
        </p:spPr>
      </p:pic>
      <p:pic>
        <p:nvPicPr>
          <p:cNvPr id="5" name="Picture 4" descr="A screenshot of a math equation&#10;&#10;Description automatically generated">
            <a:extLst>
              <a:ext uri="{FF2B5EF4-FFF2-40B4-BE49-F238E27FC236}">
                <a16:creationId xmlns:a16="http://schemas.microsoft.com/office/drawing/2014/main" id="{EBDD4210-D835-B45C-71F6-FF2AFA09D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23" y="4584700"/>
            <a:ext cx="46863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77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6293-4D3E-FA2A-D256-D474F764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camera motion&#10;&#10;Description automatically generated">
            <a:extLst>
              <a:ext uri="{FF2B5EF4-FFF2-40B4-BE49-F238E27FC236}">
                <a16:creationId xmlns:a16="http://schemas.microsoft.com/office/drawing/2014/main" id="{0C5FFAB0-2D13-F467-2B5D-267F8ABE8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916" y="1607861"/>
            <a:ext cx="8387009" cy="3812277"/>
          </a:xfrm>
        </p:spPr>
      </p:pic>
    </p:spTree>
    <p:extLst>
      <p:ext uri="{BB962C8B-B14F-4D97-AF65-F5344CB8AC3E}">
        <p14:creationId xmlns:p14="http://schemas.microsoft.com/office/powerpoint/2010/main" val="725061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math book&#10;&#10;Description automatically generated">
            <a:extLst>
              <a:ext uri="{FF2B5EF4-FFF2-40B4-BE49-F238E27FC236}">
                <a16:creationId xmlns:a16="http://schemas.microsoft.com/office/drawing/2014/main" id="{8E84D051-05F1-563D-34DE-AB57F6CA4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53" y="530088"/>
            <a:ext cx="9364739" cy="44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62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9E180394-1DED-691D-AA8F-8EB5B2425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68" y="530087"/>
            <a:ext cx="10464463" cy="2260324"/>
          </a:xfrm>
          <a:prstGeom prst="rect">
            <a:avLst/>
          </a:prstGeom>
        </p:spPr>
      </p:pic>
      <p:pic>
        <p:nvPicPr>
          <p:cNvPr id="7" name="Picture 6" descr="A black and white text&#10;&#10;Description automatically generated">
            <a:extLst>
              <a:ext uri="{FF2B5EF4-FFF2-40B4-BE49-F238E27FC236}">
                <a16:creationId xmlns:a16="http://schemas.microsoft.com/office/drawing/2014/main" id="{8D1A9C36-85DD-301F-2592-5CDB7B166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5" y="3774660"/>
            <a:ext cx="9054747" cy="245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8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text&#10;&#10;Description automatically generated">
            <a:extLst>
              <a:ext uri="{FF2B5EF4-FFF2-40B4-BE49-F238E27FC236}">
                <a16:creationId xmlns:a16="http://schemas.microsoft.com/office/drawing/2014/main" id="{417ECED0-4E43-0909-2DA4-757CA5E70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25" y="233568"/>
            <a:ext cx="8043374" cy="29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58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88DA837D-FDC6-A3C7-4636-CADDF80DD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956" y="1086678"/>
            <a:ext cx="9426038" cy="5052357"/>
          </a:xfrm>
        </p:spPr>
      </p:pic>
    </p:spTree>
    <p:extLst>
      <p:ext uri="{BB962C8B-B14F-4D97-AF65-F5344CB8AC3E}">
        <p14:creationId xmlns:p14="http://schemas.microsoft.com/office/powerpoint/2010/main" val="1419352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945B-BF80-8C77-FA65-3DEA610E6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3012D3C-90F9-AC6E-B5F3-9D9ABB52A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647" y="2464715"/>
            <a:ext cx="7645123" cy="2386461"/>
          </a:xfrm>
        </p:spPr>
      </p:pic>
    </p:spTree>
    <p:extLst>
      <p:ext uri="{BB962C8B-B14F-4D97-AF65-F5344CB8AC3E}">
        <p14:creationId xmlns:p14="http://schemas.microsoft.com/office/powerpoint/2010/main" val="2658370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C908-9E9F-0309-EF4D-59851FA7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A7629-C442-06D3-350B-BC81C6B73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21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0DEA-7060-72F1-26FB-44D3DCC2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3666B-83B5-10CE-8C9F-2E6555F19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pts1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np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float32([kp1[</a:t>
            </a:r>
            <a:r>
              <a:rPr lang="en-US" dirty="0" err="1"/>
              <a:t>m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queryIdx</a:t>
            </a:r>
            <a:r>
              <a:rPr lang="en-US" dirty="0"/>
              <a:t>]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pt </a:t>
            </a:r>
            <a:r>
              <a:rPr lang="en-US" dirty="0">
                <a:solidFill>
                  <a:srgbClr val="66D9EF"/>
                </a:solidFill>
                <a:effectLst/>
                <a:latin typeface="-apple-system"/>
              </a:rPr>
              <a:t>for</a:t>
            </a:r>
            <a:r>
              <a:rPr lang="en-US" dirty="0"/>
              <a:t> m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in</a:t>
            </a:r>
            <a:r>
              <a:rPr lang="en-US" dirty="0"/>
              <a:t> matches])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reshape(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-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2</a:t>
            </a:r>
            <a:r>
              <a:rPr lang="en-US" dirty="0"/>
              <a:t>) </a:t>
            </a:r>
          </a:p>
          <a:p>
            <a:r>
              <a:rPr lang="en-US" dirty="0"/>
              <a:t>pts2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np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float32([kp2[</a:t>
            </a:r>
            <a:r>
              <a:rPr lang="en-US" dirty="0" err="1"/>
              <a:t>m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trainIdx</a:t>
            </a:r>
            <a:r>
              <a:rPr lang="en-US" dirty="0"/>
              <a:t>]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pt </a:t>
            </a:r>
            <a:r>
              <a:rPr lang="en-US" dirty="0">
                <a:solidFill>
                  <a:srgbClr val="66D9EF"/>
                </a:solidFill>
                <a:effectLst/>
                <a:latin typeface="-apple-system"/>
              </a:rPr>
              <a:t>for</a:t>
            </a:r>
            <a:r>
              <a:rPr lang="en-US" dirty="0"/>
              <a:t> m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in</a:t>
            </a:r>
            <a:r>
              <a:rPr lang="en-US" dirty="0"/>
              <a:t> matches])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reshape(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-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2</a:t>
            </a:r>
            <a:r>
              <a:rPr lang="en-US" dirty="0"/>
              <a:t>) </a:t>
            </a:r>
          </a:p>
          <a:p>
            <a:r>
              <a:rPr lang="en-US" dirty="0"/>
              <a:t>E, mask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cv2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findEssentialMat(pts1, pts2, K, method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cv2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RANSAC, prob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0.999</a:t>
            </a:r>
            <a:r>
              <a:rPr lang="en-US" dirty="0"/>
              <a:t>, threshold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1.0</a:t>
            </a:r>
            <a:r>
              <a:rPr lang="en-US" dirty="0"/>
              <a:t>) </a:t>
            </a:r>
          </a:p>
          <a:p>
            <a:r>
              <a:rPr lang="en-US" dirty="0"/>
              <a:t>_, R, t, _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cv2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recoverPose(E, pts1, pts2, K, mask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mask)</a:t>
            </a:r>
          </a:p>
        </p:txBody>
      </p:sp>
    </p:spTree>
    <p:extLst>
      <p:ext uri="{BB962C8B-B14F-4D97-AF65-F5344CB8AC3E}">
        <p14:creationId xmlns:p14="http://schemas.microsoft.com/office/powerpoint/2010/main" val="2317595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D69B-6474-2010-C2A0-451D4EF1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94CC8-077D-7590-11A3-6C37164A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75715E"/>
                </a:solidFill>
                <a:effectLst/>
                <a:latin typeface="-apple-system"/>
              </a:rPr>
              <a:t># Build the projection matrices for the two cameras</a:t>
            </a:r>
          </a:p>
          <a:p>
            <a:r>
              <a:rPr lang="en-US" dirty="0"/>
              <a:t> P1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</a:t>
            </a:r>
            <a:r>
              <a:rPr lang="en-US" dirty="0" err="1"/>
              <a:t>np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hstack</a:t>
            </a:r>
            <a:r>
              <a:rPr lang="en-US" dirty="0"/>
              <a:t>((</a:t>
            </a:r>
            <a:r>
              <a:rPr lang="en-US" dirty="0" err="1"/>
              <a:t>np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eye</a:t>
            </a:r>
            <a:r>
              <a:rPr lang="en-US" dirty="0"/>
              <a:t>(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3</a:t>
            </a:r>
            <a:r>
              <a:rPr lang="en-US" dirty="0"/>
              <a:t>), </a:t>
            </a:r>
            <a:r>
              <a:rPr lang="en-US" dirty="0" err="1"/>
              <a:t>np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zeros</a:t>
            </a:r>
            <a:r>
              <a:rPr lang="en-US" dirty="0"/>
              <a:t>((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3</a:t>
            </a:r>
            <a:r>
              <a:rPr lang="en-US" dirty="0"/>
              <a:t>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</a:t>
            </a:r>
            <a:r>
              <a:rPr lang="en-US" dirty="0"/>
              <a:t>)))) </a:t>
            </a:r>
          </a:p>
          <a:p>
            <a:r>
              <a:rPr lang="en-US" dirty="0"/>
              <a:t>P2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</a:t>
            </a:r>
            <a:r>
              <a:rPr lang="en-US" dirty="0" err="1"/>
              <a:t>np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hstack</a:t>
            </a:r>
            <a:r>
              <a:rPr lang="en-US" dirty="0"/>
              <a:t>((R, t)) </a:t>
            </a:r>
            <a:r>
              <a:rPr lang="en-US" dirty="0">
                <a:solidFill>
                  <a:srgbClr val="75715E"/>
                </a:solidFill>
                <a:effectLst/>
                <a:latin typeface="-apple-system"/>
              </a:rPr>
              <a:t># Convert the projection matrices to the camera coordinate system</a:t>
            </a:r>
            <a:r>
              <a:rPr lang="en-US" dirty="0"/>
              <a:t> </a:t>
            </a:r>
          </a:p>
          <a:p>
            <a:r>
              <a:rPr lang="en-US" dirty="0"/>
              <a:t>P1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K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@</a:t>
            </a:r>
            <a:r>
              <a:rPr lang="en-US" dirty="0"/>
              <a:t> P1 </a:t>
            </a:r>
          </a:p>
          <a:p>
            <a:r>
              <a:rPr lang="en-US" dirty="0"/>
              <a:t>P2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K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@</a:t>
            </a:r>
            <a:r>
              <a:rPr lang="en-US" dirty="0"/>
              <a:t> P2 </a:t>
            </a:r>
            <a:r>
              <a:rPr lang="en-US" dirty="0">
                <a:solidFill>
                  <a:srgbClr val="75715E"/>
                </a:solidFill>
                <a:effectLst/>
                <a:latin typeface="-apple-system"/>
              </a:rPr>
              <a:t># Triangulate the 3D points</a:t>
            </a:r>
            <a:r>
              <a:rPr lang="en-US" dirty="0"/>
              <a:t> </a:t>
            </a:r>
          </a:p>
          <a:p>
            <a:r>
              <a:rPr lang="en-US" dirty="0"/>
              <a:t>points_4D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cv2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triangulatePoints(P1, P2, pts1, pts2) </a:t>
            </a:r>
          </a:p>
          <a:p>
            <a:r>
              <a:rPr lang="en-US" dirty="0"/>
              <a:t>points_3D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points_4D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/</a:t>
            </a:r>
            <a:r>
              <a:rPr lang="en-US" dirty="0"/>
              <a:t> points_4D[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3</a:t>
            </a:r>
            <a:r>
              <a:rPr lang="en-US" dirty="0"/>
              <a:t>] </a:t>
            </a:r>
            <a:r>
              <a:rPr lang="en-US" dirty="0">
                <a:solidFill>
                  <a:srgbClr val="75715E"/>
                </a:solidFill>
                <a:effectLst/>
                <a:latin typeface="-apple-system"/>
              </a:rPr>
              <a:t># Convert from homogeneous to Cartesian coordinates</a:t>
            </a:r>
            <a:r>
              <a:rPr lang="en-US" dirty="0"/>
              <a:t> </a:t>
            </a:r>
          </a:p>
          <a:p>
            <a:r>
              <a:rPr lang="en-US" dirty="0"/>
              <a:t>points_3D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points_3D[: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3</a:t>
            </a:r>
            <a:r>
              <a:rPr lang="en-US" dirty="0"/>
              <a:t>, :]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287589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DE200-DB5C-42D2-6BA6-B96D9860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1DAF0-0C9C-3EF6-8541-3E775B959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import</a:t>
            </a:r>
            <a:r>
              <a:rPr lang="en-US" dirty="0"/>
              <a:t> </a:t>
            </a:r>
            <a:r>
              <a:rPr lang="en-US" dirty="0" err="1"/>
              <a:t>matplotlib.pyplot</a:t>
            </a:r>
            <a:r>
              <a:rPr lang="en-US" dirty="0"/>
              <a:t> </a:t>
            </a:r>
            <a:r>
              <a:rPr lang="en-US" dirty="0">
                <a:solidFill>
                  <a:srgbClr val="66D9EF"/>
                </a:solidFill>
                <a:effectLst/>
                <a:latin typeface="-apple-system"/>
              </a:rPr>
              <a:t>as</a:t>
            </a:r>
            <a:r>
              <a:rPr lang="en-US" dirty="0"/>
              <a:t> </a:t>
            </a:r>
            <a:r>
              <a:rPr lang="en-US" dirty="0" err="1"/>
              <a:t>plt</a:t>
            </a:r>
            <a:r>
              <a:rPr lang="en-US" dirty="0"/>
              <a:t> </a:t>
            </a:r>
          </a:p>
          <a:p>
            <a:r>
              <a:rPr lang="en-US" dirty="0"/>
              <a:t>fig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</a:t>
            </a:r>
            <a:r>
              <a:rPr lang="en-US" dirty="0" err="1"/>
              <a:t>plt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figure</a:t>
            </a:r>
            <a:r>
              <a:rPr lang="en-US" dirty="0"/>
              <a:t>() ax 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/>
              <a:t> </a:t>
            </a:r>
            <a:r>
              <a:rPr lang="en-US" dirty="0" err="1"/>
              <a:t>fig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add_subplot</a:t>
            </a:r>
            <a:r>
              <a:rPr lang="en-US" dirty="0"/>
              <a:t>(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111</a:t>
            </a:r>
            <a:r>
              <a:rPr lang="en-US" dirty="0"/>
              <a:t>, projection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E6DB74"/>
                </a:solidFill>
                <a:effectLst/>
                <a:latin typeface="-apple-system"/>
              </a:rPr>
              <a:t>'3d’</a:t>
            </a:r>
            <a:r>
              <a:rPr lang="en-US" dirty="0"/>
              <a:t>) </a:t>
            </a:r>
          </a:p>
          <a:p>
            <a:r>
              <a:rPr lang="en-US" dirty="0">
                <a:solidFill>
                  <a:srgbClr val="75715E"/>
                </a:solidFill>
                <a:effectLst/>
                <a:latin typeface="-apple-system"/>
              </a:rPr>
              <a:t># Plot the 3D points</a:t>
            </a:r>
            <a:r>
              <a:rPr lang="en-US" dirty="0"/>
              <a:t> </a:t>
            </a:r>
          </a:p>
          <a:p>
            <a:r>
              <a:rPr lang="en-US" dirty="0" err="1"/>
              <a:t>ax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scatter</a:t>
            </a:r>
            <a:r>
              <a:rPr lang="en-US" dirty="0"/>
              <a:t>(points_3D[:,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0</a:t>
            </a:r>
            <a:r>
              <a:rPr lang="en-US" dirty="0"/>
              <a:t>], points_3D[:,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1</a:t>
            </a:r>
            <a:r>
              <a:rPr lang="en-US" dirty="0"/>
              <a:t>], points_3D[:, 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2</a:t>
            </a:r>
            <a:r>
              <a:rPr lang="en-US" dirty="0"/>
              <a:t>], marker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E6DB74"/>
                </a:solidFill>
                <a:effectLst/>
                <a:latin typeface="-apple-system"/>
              </a:rPr>
              <a:t>'o'</a:t>
            </a:r>
            <a:r>
              <a:rPr lang="en-US" dirty="0"/>
              <a:t>, s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5</a:t>
            </a:r>
            <a:r>
              <a:rPr lang="en-US" dirty="0"/>
              <a:t>, c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E6DB74"/>
                </a:solidFill>
                <a:effectLst/>
                <a:latin typeface="-apple-system"/>
              </a:rPr>
              <a:t>'r'</a:t>
            </a:r>
            <a:r>
              <a:rPr lang="en-US" dirty="0"/>
              <a:t>, alpha</a:t>
            </a:r>
            <a:r>
              <a:rPr lang="en-US" dirty="0">
                <a:solidFill>
                  <a:srgbClr val="F92672"/>
                </a:solidFill>
                <a:effectLst/>
                <a:latin typeface="-apple-system"/>
              </a:rPr>
              <a:t>=</a:t>
            </a:r>
            <a:r>
              <a:rPr lang="en-US" dirty="0">
                <a:solidFill>
                  <a:srgbClr val="AE81FF"/>
                </a:solidFill>
                <a:effectLst/>
                <a:latin typeface="-apple-system"/>
              </a:rPr>
              <a:t>0.5</a:t>
            </a:r>
            <a:r>
              <a:rPr lang="en-US" dirty="0"/>
              <a:t>) </a:t>
            </a:r>
            <a:r>
              <a:rPr lang="en-US" dirty="0">
                <a:solidFill>
                  <a:srgbClr val="75715E"/>
                </a:solidFill>
                <a:effectLst/>
                <a:latin typeface="-apple-system"/>
              </a:rPr>
              <a:t># Configure the plot</a:t>
            </a:r>
            <a:r>
              <a:rPr lang="en-US" dirty="0"/>
              <a:t> </a:t>
            </a:r>
            <a:r>
              <a:rPr lang="en-US" dirty="0" err="1"/>
              <a:t>ax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set_xlabel</a:t>
            </a:r>
            <a:r>
              <a:rPr lang="en-US" dirty="0"/>
              <a:t>(</a:t>
            </a:r>
            <a:r>
              <a:rPr lang="en-US" dirty="0">
                <a:solidFill>
                  <a:srgbClr val="E6DB74"/>
                </a:solidFill>
                <a:effectLst/>
                <a:latin typeface="-apple-system"/>
              </a:rPr>
              <a:t>'X’</a:t>
            </a:r>
            <a:r>
              <a:rPr lang="en-US" dirty="0"/>
              <a:t>) </a:t>
            </a:r>
          </a:p>
          <a:p>
            <a:r>
              <a:rPr lang="en-US" dirty="0" err="1"/>
              <a:t>ax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set_ylabel</a:t>
            </a:r>
            <a:r>
              <a:rPr lang="en-US" dirty="0"/>
              <a:t>(</a:t>
            </a:r>
            <a:r>
              <a:rPr lang="en-US" dirty="0">
                <a:solidFill>
                  <a:srgbClr val="E6DB74"/>
                </a:solidFill>
                <a:effectLst/>
                <a:latin typeface="-apple-system"/>
              </a:rPr>
              <a:t>'Y’</a:t>
            </a:r>
            <a:r>
              <a:rPr lang="en-US" dirty="0"/>
              <a:t>) </a:t>
            </a:r>
          </a:p>
          <a:p>
            <a:r>
              <a:rPr lang="en-US" dirty="0" err="1"/>
              <a:t>ax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set_zlabel</a:t>
            </a:r>
            <a:r>
              <a:rPr lang="en-US" dirty="0"/>
              <a:t>(</a:t>
            </a:r>
            <a:r>
              <a:rPr lang="en-US" dirty="0">
                <a:solidFill>
                  <a:srgbClr val="E6DB74"/>
                </a:solidFill>
                <a:effectLst/>
                <a:latin typeface="-apple-system"/>
              </a:rPr>
              <a:t>'Z’</a:t>
            </a:r>
            <a:r>
              <a:rPr lang="en-US" dirty="0"/>
              <a:t>) </a:t>
            </a:r>
          </a:p>
          <a:p>
            <a:r>
              <a:rPr lang="en-US" dirty="0" err="1"/>
              <a:t>plt</a:t>
            </a:r>
            <a:r>
              <a:rPr lang="en-US" dirty="0" err="1">
                <a:solidFill>
                  <a:srgbClr val="F92672"/>
                </a:solidFill>
                <a:effectLst/>
                <a:latin typeface="-apple-system"/>
              </a:rPr>
              <a:t>.</a:t>
            </a:r>
            <a:r>
              <a:rPr lang="en-US" dirty="0" err="1"/>
              <a:t>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84663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980F-D9C3-2A53-5F64-DAF7FE07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matrix</a:t>
            </a:r>
          </a:p>
        </p:txBody>
      </p:sp>
      <p:pic>
        <p:nvPicPr>
          <p:cNvPr id="5" name="Content Placeholder 4" descr="A diagram of a triangle with lines and text&#10;&#10;Description automatically generated">
            <a:extLst>
              <a:ext uri="{FF2B5EF4-FFF2-40B4-BE49-F238E27FC236}">
                <a16:creationId xmlns:a16="http://schemas.microsoft.com/office/drawing/2014/main" id="{451139D3-16EF-033E-B432-25A697B77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0509" y="1825625"/>
            <a:ext cx="6370982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0E368-4321-1F1A-F584-FEBF8B9EB542}"/>
              </a:ext>
            </a:extLst>
          </p:cNvPr>
          <p:cNvSpPr txBox="1"/>
          <p:nvPr/>
        </p:nvSpPr>
        <p:spPr>
          <a:xfrm>
            <a:off x="5156200" y="56624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Given a point in one image, multiplying by the essential/fundamental matrix will tell us which </a:t>
            </a:r>
            <a:r>
              <a:rPr lang="en-US" dirty="0" err="1"/>
              <a:t>epipolar</a:t>
            </a:r>
            <a:r>
              <a:rPr lang="en-US" dirty="0"/>
              <a:t> line to search along in the second view.</a:t>
            </a:r>
          </a:p>
        </p:txBody>
      </p:sp>
    </p:spTree>
    <p:extLst>
      <p:ext uri="{BB962C8B-B14F-4D97-AF65-F5344CB8AC3E}">
        <p14:creationId xmlns:p14="http://schemas.microsoft.com/office/powerpoint/2010/main" val="1786564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4ECF-3A89-DCD0-28FB-0D125281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75F97-F36A-AFC4-B3E6-EE6AEB864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chrome-extension://</a:t>
            </a:r>
            <a:r>
              <a:rPr lang="en-US" dirty="0" err="1"/>
              <a:t>efaidnbmnnnibpcajpcglclefindmkaj</a:t>
            </a:r>
            <a:r>
              <a:rPr lang="en-US" dirty="0"/>
              <a:t>/https://</a:t>
            </a:r>
            <a:r>
              <a:rPr lang="en-US" dirty="0" err="1"/>
              <a:t>www.cse.psu.edu</a:t>
            </a:r>
            <a:r>
              <a:rPr lang="en-US" dirty="0"/>
              <a:t>/~rtc12/CSE486/lecture19.pdf</a:t>
            </a:r>
          </a:p>
        </p:txBody>
      </p:sp>
    </p:spTree>
    <p:extLst>
      <p:ext uri="{BB962C8B-B14F-4D97-AF65-F5344CB8AC3E}">
        <p14:creationId xmlns:p14="http://schemas.microsoft.com/office/powerpoint/2010/main" val="3104384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plant with a white background&#10;&#10;Description automatically generated">
            <a:extLst>
              <a:ext uri="{FF2B5EF4-FFF2-40B4-BE49-F238E27FC236}">
                <a16:creationId xmlns:a16="http://schemas.microsoft.com/office/drawing/2014/main" id="{0F0D90B7-0AC9-C7A5-F73A-1C21863EC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0"/>
            <a:ext cx="2387600" cy="3556000"/>
          </a:xfrm>
          <a:prstGeom prst="rect">
            <a:avLst/>
          </a:prstGeom>
        </p:spPr>
      </p:pic>
      <p:pic>
        <p:nvPicPr>
          <p:cNvPr id="9" name="Picture 8" descr="A cartoon dinosaur toy&#10;&#10;Description automatically generated">
            <a:extLst>
              <a:ext uri="{FF2B5EF4-FFF2-40B4-BE49-F238E27FC236}">
                <a16:creationId xmlns:a16="http://schemas.microsoft.com/office/drawing/2014/main" id="{D5A1D6A2-B3B5-E8E7-7969-3BC8CB673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63" y="3902075"/>
            <a:ext cx="4038600" cy="2603500"/>
          </a:xfrm>
          <a:prstGeom prst="rect">
            <a:avLst/>
          </a:prstGeom>
        </p:spPr>
      </p:pic>
      <p:pic>
        <p:nvPicPr>
          <p:cNvPr id="11" name="Picture 10" descr="A cartoon dinosaur with a white background&#10;&#10;Description automatically generated">
            <a:extLst>
              <a:ext uri="{FF2B5EF4-FFF2-40B4-BE49-F238E27FC236}">
                <a16:creationId xmlns:a16="http://schemas.microsoft.com/office/drawing/2014/main" id="{34DDD15D-04E3-8620-F6DA-71BA00FB4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200" y="4005768"/>
            <a:ext cx="2501900" cy="2667000"/>
          </a:xfrm>
          <a:prstGeom prst="rect">
            <a:avLst/>
          </a:prstGeom>
        </p:spPr>
      </p:pic>
      <p:pic>
        <p:nvPicPr>
          <p:cNvPr id="13" name="Picture 12" descr="A green dinosaur with a big mouth&#10;&#10;Description automatically generated">
            <a:extLst>
              <a:ext uri="{FF2B5EF4-FFF2-40B4-BE49-F238E27FC236}">
                <a16:creationId xmlns:a16="http://schemas.microsoft.com/office/drawing/2014/main" id="{43825978-4A4B-F2AD-D6CA-5E25582F9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902075"/>
            <a:ext cx="3619500" cy="2590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E252F3C-81CE-6916-0217-1EE37AD5539B}"/>
              </a:ext>
            </a:extLst>
          </p:cNvPr>
          <p:cNvSpPr/>
          <p:nvPr/>
        </p:nvSpPr>
        <p:spPr>
          <a:xfrm>
            <a:off x="2424545" y="5203825"/>
            <a:ext cx="263237" cy="2548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463C2C-694E-860C-E9C0-20D38F8669BC}"/>
              </a:ext>
            </a:extLst>
          </p:cNvPr>
          <p:cNvCxnSpPr/>
          <p:nvPr/>
        </p:nvCxnSpPr>
        <p:spPr>
          <a:xfrm flipV="1">
            <a:off x="4724400" y="540327"/>
            <a:ext cx="2565400" cy="2791691"/>
          </a:xfrm>
          <a:prstGeom prst="line">
            <a:avLst/>
          </a:prstGeom>
          <a:ln w="63500"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5946C3-C65B-4B0D-A6A8-92D0C2ED8CBE}"/>
              </a:ext>
            </a:extLst>
          </p:cNvPr>
          <p:cNvCxnSpPr>
            <a:cxnSpLocks/>
          </p:cNvCxnSpPr>
          <p:nvPr/>
        </p:nvCxnSpPr>
        <p:spPr>
          <a:xfrm flipV="1">
            <a:off x="5708072" y="185232"/>
            <a:ext cx="299028" cy="3425934"/>
          </a:xfrm>
          <a:prstGeom prst="line">
            <a:avLst/>
          </a:prstGeom>
          <a:ln w="63500"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B2346D-8F06-0CB1-4C50-487BA401C5FF}"/>
              </a:ext>
            </a:extLst>
          </p:cNvPr>
          <p:cNvCxnSpPr>
            <a:cxnSpLocks/>
          </p:cNvCxnSpPr>
          <p:nvPr/>
        </p:nvCxnSpPr>
        <p:spPr>
          <a:xfrm flipV="1">
            <a:off x="4167331" y="1197768"/>
            <a:ext cx="3380509" cy="1740551"/>
          </a:xfrm>
          <a:prstGeom prst="line">
            <a:avLst/>
          </a:prstGeom>
          <a:ln w="63500">
            <a:solidFill>
              <a:srgbClr val="7030A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724089-1B9F-CBC9-3BAB-9EBAF13396EF}"/>
              </a:ext>
            </a:extLst>
          </p:cNvPr>
          <p:cNvCxnSpPr>
            <a:cxnSpLocks/>
          </p:cNvCxnSpPr>
          <p:nvPr/>
        </p:nvCxnSpPr>
        <p:spPr>
          <a:xfrm>
            <a:off x="4902200" y="5346845"/>
            <a:ext cx="2593110" cy="0"/>
          </a:xfrm>
          <a:prstGeom prst="line">
            <a:avLst/>
          </a:prstGeom>
          <a:ln w="63500"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9EB0C0-D0B5-D415-77EC-9352BD3F652F}"/>
              </a:ext>
            </a:extLst>
          </p:cNvPr>
          <p:cNvCxnSpPr>
            <a:cxnSpLocks/>
          </p:cNvCxnSpPr>
          <p:nvPr/>
        </p:nvCxnSpPr>
        <p:spPr>
          <a:xfrm flipV="1">
            <a:off x="4583834" y="5458691"/>
            <a:ext cx="2820266" cy="195371"/>
          </a:xfrm>
          <a:prstGeom prst="line">
            <a:avLst/>
          </a:prstGeom>
          <a:ln w="63500">
            <a:solidFill>
              <a:srgbClr val="7030A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99319E-D1A7-DA84-2A63-5C69B922E052}"/>
              </a:ext>
            </a:extLst>
          </p:cNvPr>
          <p:cNvCxnSpPr>
            <a:cxnSpLocks/>
          </p:cNvCxnSpPr>
          <p:nvPr/>
        </p:nvCxnSpPr>
        <p:spPr>
          <a:xfrm>
            <a:off x="8866909" y="5199352"/>
            <a:ext cx="2854038" cy="267349"/>
          </a:xfrm>
          <a:prstGeom prst="line">
            <a:avLst/>
          </a:prstGeom>
          <a:ln w="63500">
            <a:solidFill>
              <a:srgbClr val="FF000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E635E23-6033-4AA0-8A21-4D57EA4C2CD7}"/>
              </a:ext>
            </a:extLst>
          </p:cNvPr>
          <p:cNvCxnSpPr>
            <a:cxnSpLocks/>
          </p:cNvCxnSpPr>
          <p:nvPr/>
        </p:nvCxnSpPr>
        <p:spPr>
          <a:xfrm>
            <a:off x="8952344" y="4909380"/>
            <a:ext cx="2768603" cy="657045"/>
          </a:xfrm>
          <a:prstGeom prst="line">
            <a:avLst/>
          </a:prstGeom>
          <a:ln w="63500"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274AA39-9CE6-666B-5C56-AE248E1A96E5}"/>
              </a:ext>
            </a:extLst>
          </p:cNvPr>
          <p:cNvCxnSpPr>
            <a:cxnSpLocks/>
          </p:cNvCxnSpPr>
          <p:nvPr/>
        </p:nvCxnSpPr>
        <p:spPr>
          <a:xfrm flipH="1" flipV="1">
            <a:off x="1814511" y="4295488"/>
            <a:ext cx="1545504" cy="1592695"/>
          </a:xfrm>
          <a:prstGeom prst="line">
            <a:avLst/>
          </a:prstGeom>
          <a:ln w="63500">
            <a:solidFill>
              <a:srgbClr val="7030A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F85CE90-61DB-D1C6-2B48-7496170F67EF}"/>
              </a:ext>
            </a:extLst>
          </p:cNvPr>
          <p:cNvCxnSpPr>
            <a:cxnSpLocks/>
          </p:cNvCxnSpPr>
          <p:nvPr/>
        </p:nvCxnSpPr>
        <p:spPr>
          <a:xfrm flipH="1">
            <a:off x="929190" y="5126761"/>
            <a:ext cx="3238141" cy="0"/>
          </a:xfrm>
          <a:prstGeom prst="line">
            <a:avLst/>
          </a:prstGeom>
          <a:ln w="63500"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D2D4E02-8A7E-D95E-233F-00D29B1A3BB6}"/>
              </a:ext>
            </a:extLst>
          </p:cNvPr>
          <p:cNvSpPr/>
          <p:nvPr/>
        </p:nvSpPr>
        <p:spPr>
          <a:xfrm>
            <a:off x="10214841" y="5311559"/>
            <a:ext cx="263237" cy="25486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F776D8-DF17-7A40-7D62-F157BA7B9DD8}"/>
              </a:ext>
            </a:extLst>
          </p:cNvPr>
          <p:cNvSpPr/>
          <p:nvPr/>
        </p:nvSpPr>
        <p:spPr>
          <a:xfrm>
            <a:off x="5857586" y="5211835"/>
            <a:ext cx="263237" cy="25486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3197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4832</TotalTime>
  <Words>609</Words>
  <Application>Microsoft Macintosh PowerPoint</Application>
  <PresentationFormat>Widescreen</PresentationFormat>
  <Paragraphs>86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-apple-system</vt:lpstr>
      <vt:lpstr>Aptos</vt:lpstr>
      <vt:lpstr>Aptos Display</vt:lpstr>
      <vt:lpstr>Arial</vt:lpstr>
      <vt:lpstr>Cambria Math</vt:lpstr>
      <vt:lpstr>Office Theme</vt:lpstr>
      <vt:lpstr>Lecture 15 Pose estimation  and  3D reconstruction</vt:lpstr>
      <vt:lpstr>PowerPoint Presentation</vt:lpstr>
      <vt:lpstr>PowerPoint Presentation</vt:lpstr>
      <vt:lpstr>Two frame stucture from motion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Tomasi-Kanade Factorization</vt:lpstr>
      <vt:lpstr>Tomasi-Kanade Factorization</vt:lpstr>
      <vt:lpstr>Tomasi-Kanade Factorization</vt:lpstr>
      <vt:lpstr>Prospective-n-Point (PnP)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COLMAP</vt:lpstr>
      <vt:lpstr>PowerPoint Presentation</vt:lpstr>
      <vt:lpstr>PowerPoint Presentation</vt:lpstr>
      <vt:lpstr>PowerPoint Presentation</vt:lpstr>
      <vt:lpstr>Essential matrix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Ted Huppert</cp:lastModifiedBy>
  <cp:revision>29</cp:revision>
  <dcterms:created xsi:type="dcterms:W3CDTF">2024-07-14T13:25:54Z</dcterms:created>
  <dcterms:modified xsi:type="dcterms:W3CDTF">2024-10-21T19:51:11Z</dcterms:modified>
</cp:coreProperties>
</file>