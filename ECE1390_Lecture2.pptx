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3"/>
  </p:notesMasterIdLst>
  <p:sldIdLst>
    <p:sldId id="256" r:id="rId2"/>
    <p:sldId id="322" r:id="rId3"/>
    <p:sldId id="274" r:id="rId4"/>
    <p:sldId id="275" r:id="rId5"/>
    <p:sldId id="345" r:id="rId6"/>
    <p:sldId id="277" r:id="rId7"/>
    <p:sldId id="346" r:id="rId8"/>
    <p:sldId id="347" r:id="rId9"/>
    <p:sldId id="348" r:id="rId10"/>
    <p:sldId id="349" r:id="rId11"/>
    <p:sldId id="350" r:id="rId12"/>
    <p:sldId id="353" r:id="rId13"/>
    <p:sldId id="335" r:id="rId14"/>
    <p:sldId id="337" r:id="rId15"/>
    <p:sldId id="338" r:id="rId16"/>
    <p:sldId id="339" r:id="rId17"/>
    <p:sldId id="340" r:id="rId18"/>
    <p:sldId id="351" r:id="rId19"/>
    <p:sldId id="352" r:id="rId20"/>
    <p:sldId id="283" r:id="rId21"/>
    <p:sldId id="320" r:id="rId2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31348"/>
    <p:restoredTop sz="94795"/>
  </p:normalViewPr>
  <p:slideViewPr>
    <p:cSldViewPr snapToGrid="0">
      <p:cViewPr varScale="1">
        <p:scale>
          <a:sx n="118" d="100"/>
          <a:sy n="118" d="100"/>
        </p:scale>
        <p:origin x="216" y="72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60182BA-D6B2-8C4C-A437-30BC8B3E8EFF}" type="datetimeFigureOut">
              <a:rPr lang="en-US" smtClean="0"/>
              <a:t>8/14/24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4B5C116-8FE2-EF4A-B3C0-8D058563571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306431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4B5C116-8FE2-EF4A-B3C0-8D058563571F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8544074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9FC13D-C485-B9D3-99EA-D80E4E9A91B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2ED7B23-2526-2A0B-6932-F92267ADD5A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6094BDB-E7E5-9910-C3EE-41DBC544A8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E9B49C-C8FD-4344-8CD3-ED4C91409D68}" type="datetimeFigureOut">
              <a:rPr lang="en-US" smtClean="0"/>
              <a:t>8/14/24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9803192-56E2-5809-7472-0D7F875DE8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5BB67CD-EF3F-F857-D34F-777CACF3B4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0BFA93-80F6-FA45-A2F9-95A3BC2EC4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814834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697195-1EBD-7BCB-3B5A-91AACBD3F0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98F9648-3F9A-316C-87DB-7EE7798CA12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73FCF31-6117-AB6E-42EC-0CB56F2D81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E9B49C-C8FD-4344-8CD3-ED4C91409D68}" type="datetimeFigureOut">
              <a:rPr lang="en-US" smtClean="0"/>
              <a:t>8/14/24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F54C68E-F23A-A75B-5E8F-82B7E01358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1667C07-39A5-0102-8B7C-D54FFEEAB9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0BFA93-80F6-FA45-A2F9-95A3BC2EC4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125048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10FBF1-3B26-85B7-5B23-196D6D7AC7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4EF26AA-12EA-8ABD-6EFD-D08F49B2D0E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598597-67E3-8944-18DE-66DCE81A5F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E9B49C-C8FD-4344-8CD3-ED4C91409D68}" type="datetimeFigureOut">
              <a:rPr lang="en-US" smtClean="0"/>
              <a:t>8/14/24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6A04062-2D0B-BCFF-2512-CEB2B699E4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D1F9974-00DC-799D-5A39-8C4455F5E4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0BFA93-80F6-FA45-A2F9-95A3BC2EC4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4366604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2BE502-6CAF-3BF5-BD6B-065D6AAC92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A3FD2C5-EA3F-B247-6115-694CB50A279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F8C6E22-BDC4-EA3F-0157-4E70E0CA8A6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E755765-826E-C08A-B1AE-7D0450E76A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E9B49C-C8FD-4344-8CD3-ED4C91409D68}" type="datetimeFigureOut">
              <a:rPr lang="en-US" smtClean="0"/>
              <a:t>8/14/24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4F0ED42-71C9-96FD-9AC7-BBBB1E8052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1298970-A713-3810-1656-9A49740562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0BFA93-80F6-FA45-A2F9-95A3BC2EC4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981972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7AEFE3-7F3D-1B88-EFDA-38CEB24904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A19FB26-F14D-71C1-7811-FFF97C32054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7BA1E4B-1C15-4FB7-4E18-041EB41BCE7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C7C11D1-5A46-1743-FF30-5B7AA771497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239A520-D677-A0EC-79D6-F04D6C48472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423BA99-897A-0500-AE48-09E7B8C2CC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E9B49C-C8FD-4344-8CD3-ED4C91409D68}" type="datetimeFigureOut">
              <a:rPr lang="en-US" smtClean="0"/>
              <a:t>8/14/24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2E3C3F4-F2F2-C2AF-D951-2143C2AC1A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3081BF2-C18C-5BCE-8867-97369A7EA5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0BFA93-80F6-FA45-A2F9-95A3BC2EC4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386188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0D803A-82FE-540F-04AD-04E5BC92E5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22AE2E6-A597-C016-7335-DDE3857CEB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E9B49C-C8FD-4344-8CD3-ED4C91409D68}" type="datetimeFigureOut">
              <a:rPr lang="en-US" smtClean="0"/>
              <a:t>8/14/24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616C399-5561-EB63-F9FA-82FD2E4F85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3B7DC75-D761-8046-6EA3-3C54C66027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0BFA93-80F6-FA45-A2F9-95A3BC2EC4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294680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40F3204-AE45-9D32-CF50-26F1909D70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E9B49C-C8FD-4344-8CD3-ED4C91409D68}" type="datetimeFigureOut">
              <a:rPr lang="en-US" smtClean="0"/>
              <a:t>8/14/24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1BD95A8-B2D5-EADB-1C47-FFB1926049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C30A1BD-7287-A602-D01E-2E738D412D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0BFA93-80F6-FA45-A2F9-95A3BC2EC4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998670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86E0CD-2F46-6818-C3F0-CCADAB2C1B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7DADD57-4C79-D6D0-FB66-51CEFBADB70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2EB58AD-4B41-DA2A-70C5-3099BAA4B8E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773F0C8-41B5-BA77-0536-8BA68ED08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E9B49C-C8FD-4344-8CD3-ED4C91409D68}" type="datetimeFigureOut">
              <a:rPr lang="en-US" smtClean="0"/>
              <a:t>8/14/24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EB776A6-8636-3E77-9BE8-DADC09DBE3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F36611F-C2E8-BD14-00A5-38A56CB298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0BFA93-80F6-FA45-A2F9-95A3BC2EC4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06702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60ACF2-120D-5B4B-92E9-D6DDDB6E05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8334234-27D3-8B30-B909-03E904DB242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DFF481E-39C7-E276-5FEC-6132C3F16BA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CA7F9A7-9755-B9B9-95CC-5F76F16D5F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E9B49C-C8FD-4344-8CD3-ED4C91409D68}" type="datetimeFigureOut">
              <a:rPr lang="en-US" smtClean="0"/>
              <a:t>8/14/24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1E77145-B00A-818B-C157-539D33965D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589EE6A-0692-79C1-4E2E-81960BE4ED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0BFA93-80F6-FA45-A2F9-95A3BC2EC4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995557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A67BE6-9453-29ED-002A-FEE3A328C8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6068097-9D96-7737-81FC-C8D04570D20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594BA2E-E4E4-9C71-BA90-B81529C5FC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E9B49C-C8FD-4344-8CD3-ED4C91409D68}" type="datetimeFigureOut">
              <a:rPr lang="en-US" smtClean="0"/>
              <a:t>8/14/24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AC99529-4F7C-0023-1CBA-378E4F29F3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A9C889C-7082-9C58-C006-A02D0F0ECC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0BFA93-80F6-FA45-A2F9-95A3BC2EC4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13245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0DCA38A-5858-C061-82D2-23AB59B0EAB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91AB83F-1485-4E39-161D-4AD3FF88333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507C601-0843-EE91-EFA1-39AC6035BC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E9B49C-C8FD-4344-8CD3-ED4C91409D68}" type="datetimeFigureOut">
              <a:rPr lang="en-US" smtClean="0"/>
              <a:t>8/14/24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DB99449-2C62-2B36-2F54-8C14C84FA5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E6EBC43-AC1F-1AFF-9D37-9D0514CA73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0BFA93-80F6-FA45-A2F9-95A3BC2EC4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431419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DDBBABD-0DF4-6ADE-361D-4FAE2F6C4C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FF65B5A-9A96-CA1E-DE77-1E1269C1B2F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BCB0F49-17FE-CF85-22D1-CF2C4773390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3E9B49C-C8FD-4344-8CD3-ED4C91409D68}" type="datetimeFigureOut">
              <a:rPr lang="en-US" smtClean="0"/>
              <a:t>8/14/24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5E5ABE4-2438-57F3-F77E-B272A49E8A5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5EF92FD-D28C-396F-E86B-DDBB7E4D475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C0BFA93-80F6-FA45-A2F9-95A3BC2EC4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769727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7.png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.png"/><Relationship Id="rId13" Type="http://schemas.openxmlformats.org/officeDocument/2006/relationships/image" Target="../media/image29.png"/><Relationship Id="rId3" Type="http://schemas.openxmlformats.org/officeDocument/2006/relationships/image" Target="../media/image19.png"/><Relationship Id="rId7" Type="http://schemas.openxmlformats.org/officeDocument/2006/relationships/image" Target="../media/image23.png"/><Relationship Id="rId12" Type="http://schemas.openxmlformats.org/officeDocument/2006/relationships/image" Target="../media/image28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2.png"/><Relationship Id="rId11" Type="http://schemas.openxmlformats.org/officeDocument/2006/relationships/image" Target="../media/image27.png"/><Relationship Id="rId5" Type="http://schemas.openxmlformats.org/officeDocument/2006/relationships/image" Target="../media/image21.png"/><Relationship Id="rId10" Type="http://schemas.openxmlformats.org/officeDocument/2006/relationships/image" Target="../media/image26.png"/><Relationship Id="rId4" Type="http://schemas.openxmlformats.org/officeDocument/2006/relationships/image" Target="../media/image20.png"/><Relationship Id="rId9" Type="http://schemas.openxmlformats.org/officeDocument/2006/relationships/image" Target="../media/image25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2.png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0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7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EC80CB-850D-B57D-2885-24D9CC95091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0"/>
            <a:ext cx="9144000" cy="2387600"/>
          </a:xfrm>
        </p:spPr>
        <p:txBody>
          <a:bodyPr>
            <a:normAutofit/>
          </a:bodyPr>
          <a:lstStyle/>
          <a:p>
            <a:r>
              <a:rPr lang="en-US" dirty="0"/>
              <a:t>Lecture 2</a:t>
            </a:r>
            <a:br>
              <a:rPr lang="en-US" dirty="0"/>
            </a:br>
            <a:r>
              <a:rPr lang="en-US" dirty="0"/>
              <a:t>Operations on Images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A3925AB-516E-BA4C-6AB2-FAA041E78BF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2601119"/>
            <a:ext cx="9144000" cy="1655762"/>
          </a:xfrm>
        </p:spPr>
        <p:txBody>
          <a:bodyPr>
            <a:normAutofit/>
          </a:bodyPr>
          <a:lstStyle/>
          <a:p>
            <a:r>
              <a:rPr lang="en-US" sz="3200" dirty="0"/>
              <a:t>ECE 1360/2360</a:t>
            </a:r>
          </a:p>
        </p:txBody>
      </p:sp>
      <p:sp>
        <p:nvSpPr>
          <p:cNvPr id="4" name="Subtitle 2">
            <a:extLst>
              <a:ext uri="{FF2B5EF4-FFF2-40B4-BE49-F238E27FC236}">
                <a16:creationId xmlns:a16="http://schemas.microsoft.com/office/drawing/2014/main" id="{5B0A0098-675E-E0C4-8109-2166A249C06F}"/>
              </a:ext>
            </a:extLst>
          </p:cNvPr>
          <p:cNvSpPr txBox="1">
            <a:spLocks/>
          </p:cNvSpPr>
          <p:nvPr/>
        </p:nvSpPr>
        <p:spPr>
          <a:xfrm>
            <a:off x="660981" y="3745468"/>
            <a:ext cx="9144000" cy="2223531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sz="3200" dirty="0"/>
              <a:t>Learning Objectives:</a:t>
            </a:r>
          </a:p>
          <a:p>
            <a:pPr marL="457200" indent="-457200" algn="l">
              <a:buFont typeface="Arial" panose="020B0604020202020204" pitchFamily="34" charset="0"/>
              <a:buChar char="•"/>
            </a:pPr>
            <a:r>
              <a:rPr lang="en-US" sz="3200" dirty="0"/>
              <a:t>Mathematical operations</a:t>
            </a:r>
          </a:p>
          <a:p>
            <a:pPr marL="457200" indent="-457200" algn="l">
              <a:buFont typeface="Arial" panose="020B0604020202020204" pitchFamily="34" charset="0"/>
              <a:buChar char="•"/>
            </a:pPr>
            <a:r>
              <a:rPr lang="en-US" sz="3200" dirty="0"/>
              <a:t>Bitwise/Logical operations</a:t>
            </a:r>
          </a:p>
          <a:p>
            <a:pPr marL="457200" indent="-457200" algn="l">
              <a:buFont typeface="Arial" panose="020B0604020202020204" pitchFamily="34" charset="0"/>
              <a:buChar char="•"/>
            </a:pPr>
            <a:r>
              <a:rPr lang="en-US" sz="3200" dirty="0"/>
              <a:t>Dealing with overflow</a:t>
            </a:r>
          </a:p>
          <a:p>
            <a:pPr marL="457200" indent="-457200" algn="l">
              <a:buFont typeface="Arial" panose="020B0604020202020204" pitchFamily="34" charset="0"/>
              <a:buChar char="•"/>
            </a:pPr>
            <a:r>
              <a:rPr lang="en-US" sz="3200" dirty="0"/>
              <a:t>Masking and thresholding</a:t>
            </a:r>
          </a:p>
          <a:p>
            <a:pPr marL="457200" indent="-457200" algn="l">
              <a:buFont typeface="Arial" panose="020B0604020202020204" pitchFamily="34" charset="0"/>
              <a:buChar char="•"/>
            </a:pPr>
            <a:endParaRPr lang="en-US" sz="3200" dirty="0"/>
          </a:p>
          <a:p>
            <a:pPr marL="457200" indent="-457200" algn="l">
              <a:buFont typeface="Arial" panose="020B0604020202020204" pitchFamily="34" charset="0"/>
              <a:buChar char="•"/>
            </a:pPr>
            <a:endParaRPr lang="en-US" sz="3200" dirty="0"/>
          </a:p>
        </p:txBody>
      </p:sp>
    </p:spTree>
    <p:extLst>
      <p:ext uri="{BB962C8B-B14F-4D97-AF65-F5344CB8AC3E}">
        <p14:creationId xmlns:p14="http://schemas.microsoft.com/office/powerpoint/2010/main" val="307313642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1" name="Group 30">
            <a:extLst>
              <a:ext uri="{FF2B5EF4-FFF2-40B4-BE49-F238E27FC236}">
                <a16:creationId xmlns:a16="http://schemas.microsoft.com/office/drawing/2014/main" id="{435ADF8D-9061-59CB-A8B9-8E2D299B93DF}"/>
              </a:ext>
            </a:extLst>
          </p:cNvPr>
          <p:cNvGrpSpPr/>
          <p:nvPr/>
        </p:nvGrpSpPr>
        <p:grpSpPr>
          <a:xfrm>
            <a:off x="406400" y="3575538"/>
            <a:ext cx="2817446" cy="2664396"/>
            <a:chOff x="2489200" y="1701800"/>
            <a:chExt cx="4572000" cy="4572000"/>
          </a:xfrm>
          <a:solidFill>
            <a:schemeClr val="bg1">
              <a:alpha val="58000"/>
            </a:schemeClr>
          </a:solidFill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A20C68E5-799C-57BF-59F3-05369C211417}"/>
                </a:ext>
              </a:extLst>
            </p:cNvPr>
            <p:cNvSpPr/>
            <p:nvPr/>
          </p:nvSpPr>
          <p:spPr>
            <a:xfrm>
              <a:off x="2489200" y="1701800"/>
              <a:ext cx="4572000" cy="4572000"/>
            </a:xfrm>
            <a:prstGeom prst="rect">
              <a:avLst/>
            </a:prstGeom>
            <a:grpFill/>
            <a:ln w="508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E9C4B233-2CB0-2910-E42A-63E0DBA2FE0F}"/>
                </a:ext>
              </a:extLst>
            </p:cNvPr>
            <p:cNvGrpSpPr/>
            <p:nvPr/>
          </p:nvGrpSpPr>
          <p:grpSpPr>
            <a:xfrm>
              <a:off x="2980267" y="1701800"/>
              <a:ext cx="3522133" cy="4572000"/>
              <a:chOff x="2980267" y="1701800"/>
              <a:chExt cx="3522133" cy="4572000"/>
            </a:xfrm>
            <a:grpFill/>
          </p:grpSpPr>
          <p:cxnSp>
            <p:nvCxnSpPr>
              <p:cNvPr id="7" name="Straight Connector 6">
                <a:extLst>
                  <a:ext uri="{FF2B5EF4-FFF2-40B4-BE49-F238E27FC236}">
                    <a16:creationId xmlns:a16="http://schemas.microsoft.com/office/drawing/2014/main" id="{08A5CDDD-1211-A80D-6CA9-1CFB090924F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741333" y="1701800"/>
                <a:ext cx="0" cy="4572000"/>
              </a:xfrm>
              <a:prstGeom prst="line">
                <a:avLst/>
              </a:prstGeom>
              <a:grpFill/>
              <a:ln w="50800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" name="Straight Connector 15">
                <a:extLst>
                  <a:ext uri="{FF2B5EF4-FFF2-40B4-BE49-F238E27FC236}">
                    <a16:creationId xmlns:a16="http://schemas.microsoft.com/office/drawing/2014/main" id="{2208C081-A874-F414-922C-20380A1DE6B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915377" y="1701800"/>
                <a:ext cx="0" cy="4572000"/>
              </a:xfrm>
              <a:prstGeom prst="line">
                <a:avLst/>
              </a:prstGeom>
              <a:grpFill/>
              <a:ln w="50800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" name="Straight Connector 16">
                <a:extLst>
                  <a:ext uri="{FF2B5EF4-FFF2-40B4-BE49-F238E27FC236}">
                    <a16:creationId xmlns:a16="http://schemas.microsoft.com/office/drawing/2014/main" id="{79FB0789-8130-4144-0256-4089AF96993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328355" y="1701800"/>
                <a:ext cx="0" cy="4572000"/>
              </a:xfrm>
              <a:prstGeom prst="line">
                <a:avLst/>
              </a:prstGeom>
              <a:grpFill/>
              <a:ln w="50800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" name="Straight Connector 17">
                <a:extLst>
                  <a:ext uri="{FF2B5EF4-FFF2-40B4-BE49-F238E27FC236}">
                    <a16:creationId xmlns:a16="http://schemas.microsoft.com/office/drawing/2014/main" id="{2055E2CE-A5C3-B548-766E-8016CAD1ED5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502400" y="1701800"/>
                <a:ext cx="0" cy="4572000"/>
              </a:xfrm>
              <a:prstGeom prst="line">
                <a:avLst/>
              </a:prstGeom>
              <a:grpFill/>
              <a:ln w="50800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" name="Straight Connector 18">
                <a:extLst>
                  <a:ext uri="{FF2B5EF4-FFF2-40B4-BE49-F238E27FC236}">
                    <a16:creationId xmlns:a16="http://schemas.microsoft.com/office/drawing/2014/main" id="{A410E995-D649-4DA5-0A9E-D0ABB54402F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567289" y="1701800"/>
                <a:ext cx="0" cy="4572000"/>
              </a:xfrm>
              <a:prstGeom prst="line">
                <a:avLst/>
              </a:prstGeom>
              <a:grpFill/>
              <a:ln w="50800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" name="Straight Connector 19">
                <a:extLst>
                  <a:ext uri="{FF2B5EF4-FFF2-40B4-BE49-F238E27FC236}">
                    <a16:creationId xmlns:a16="http://schemas.microsoft.com/office/drawing/2014/main" id="{3E968A86-B1BC-9A7D-15B9-A1DA2C047BE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980267" y="1701800"/>
                <a:ext cx="0" cy="4572000"/>
              </a:xfrm>
              <a:prstGeom prst="line">
                <a:avLst/>
              </a:prstGeom>
              <a:grpFill/>
              <a:ln w="50800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" name="Straight Connector 20">
                <a:extLst>
                  <a:ext uri="{FF2B5EF4-FFF2-40B4-BE49-F238E27FC236}">
                    <a16:creationId xmlns:a16="http://schemas.microsoft.com/office/drawing/2014/main" id="{F4D851CD-F325-DBBB-5BA6-9763C98D2AE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154311" y="1701800"/>
                <a:ext cx="0" cy="4572000"/>
              </a:xfrm>
              <a:prstGeom prst="line">
                <a:avLst/>
              </a:prstGeom>
              <a:grpFill/>
              <a:ln w="50800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3" name="Group 22">
              <a:extLst>
                <a:ext uri="{FF2B5EF4-FFF2-40B4-BE49-F238E27FC236}">
                  <a16:creationId xmlns:a16="http://schemas.microsoft.com/office/drawing/2014/main" id="{63928570-A9E3-4287-F690-22240F574A7A}"/>
                </a:ext>
              </a:extLst>
            </p:cNvPr>
            <p:cNvGrpSpPr/>
            <p:nvPr/>
          </p:nvGrpSpPr>
          <p:grpSpPr>
            <a:xfrm rot="5400000">
              <a:off x="3014133" y="1701800"/>
              <a:ext cx="3522133" cy="4572000"/>
              <a:chOff x="2980267" y="1701800"/>
              <a:chExt cx="3522133" cy="4572000"/>
            </a:xfrm>
            <a:grpFill/>
          </p:grpSpPr>
          <p:cxnSp>
            <p:nvCxnSpPr>
              <p:cNvPr id="24" name="Straight Connector 23">
                <a:extLst>
                  <a:ext uri="{FF2B5EF4-FFF2-40B4-BE49-F238E27FC236}">
                    <a16:creationId xmlns:a16="http://schemas.microsoft.com/office/drawing/2014/main" id="{0142D0C0-8245-8D12-9A47-7EC76413F64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741333" y="1701800"/>
                <a:ext cx="0" cy="4572000"/>
              </a:xfrm>
              <a:prstGeom prst="line">
                <a:avLst/>
              </a:prstGeom>
              <a:grpFill/>
              <a:ln w="50800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5" name="Straight Connector 24">
                <a:extLst>
                  <a:ext uri="{FF2B5EF4-FFF2-40B4-BE49-F238E27FC236}">
                    <a16:creationId xmlns:a16="http://schemas.microsoft.com/office/drawing/2014/main" id="{9761388D-DB73-10AF-715B-5010E0C4D2F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915377" y="1701800"/>
                <a:ext cx="0" cy="4572000"/>
              </a:xfrm>
              <a:prstGeom prst="line">
                <a:avLst/>
              </a:prstGeom>
              <a:grpFill/>
              <a:ln w="50800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" name="Straight Connector 25">
                <a:extLst>
                  <a:ext uri="{FF2B5EF4-FFF2-40B4-BE49-F238E27FC236}">
                    <a16:creationId xmlns:a16="http://schemas.microsoft.com/office/drawing/2014/main" id="{7025BBCD-9523-F17C-82DE-EC1BBE54D34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328355" y="1701800"/>
                <a:ext cx="0" cy="4572000"/>
              </a:xfrm>
              <a:prstGeom prst="line">
                <a:avLst/>
              </a:prstGeom>
              <a:grpFill/>
              <a:ln w="50800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" name="Straight Connector 26">
                <a:extLst>
                  <a:ext uri="{FF2B5EF4-FFF2-40B4-BE49-F238E27FC236}">
                    <a16:creationId xmlns:a16="http://schemas.microsoft.com/office/drawing/2014/main" id="{67030FF5-06BD-B3C3-7DE5-401C1D00CEA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502400" y="1701800"/>
                <a:ext cx="0" cy="4572000"/>
              </a:xfrm>
              <a:prstGeom prst="line">
                <a:avLst/>
              </a:prstGeom>
              <a:grpFill/>
              <a:ln w="50800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8" name="Straight Connector 27">
                <a:extLst>
                  <a:ext uri="{FF2B5EF4-FFF2-40B4-BE49-F238E27FC236}">
                    <a16:creationId xmlns:a16="http://schemas.microsoft.com/office/drawing/2014/main" id="{2B021C3F-883B-7357-6FF3-48E8785767D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567289" y="1701800"/>
                <a:ext cx="0" cy="4572000"/>
              </a:xfrm>
              <a:prstGeom prst="line">
                <a:avLst/>
              </a:prstGeom>
              <a:grpFill/>
              <a:ln w="50800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9" name="Straight Connector 28">
                <a:extLst>
                  <a:ext uri="{FF2B5EF4-FFF2-40B4-BE49-F238E27FC236}">
                    <a16:creationId xmlns:a16="http://schemas.microsoft.com/office/drawing/2014/main" id="{900A883F-F13C-7E48-6132-97CB53F9B40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980267" y="1701800"/>
                <a:ext cx="0" cy="4572000"/>
              </a:xfrm>
              <a:prstGeom prst="line">
                <a:avLst/>
              </a:prstGeom>
              <a:grpFill/>
              <a:ln w="50800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0" name="Straight Connector 29">
                <a:extLst>
                  <a:ext uri="{FF2B5EF4-FFF2-40B4-BE49-F238E27FC236}">
                    <a16:creationId xmlns:a16="http://schemas.microsoft.com/office/drawing/2014/main" id="{109BDC4F-45ED-6838-43B5-76C07777DE6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154311" y="1701800"/>
                <a:ext cx="0" cy="4572000"/>
              </a:xfrm>
              <a:prstGeom prst="line">
                <a:avLst/>
              </a:prstGeom>
              <a:grpFill/>
              <a:ln w="50800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88BF8EAC-F92B-A334-876F-9C8F8F08D88D}"/>
              </a:ext>
            </a:extLst>
          </p:cNvPr>
          <p:cNvSpPr txBox="1"/>
          <p:nvPr/>
        </p:nvSpPr>
        <p:spPr>
          <a:xfrm>
            <a:off x="406400" y="739311"/>
            <a:ext cx="607255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An image is a matrix of information (tensor for color images)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7E7F7F2-0A33-5504-888E-BCDD8C8CDF96}"/>
              </a:ext>
            </a:extLst>
          </p:cNvPr>
          <p:cNvSpPr txBox="1"/>
          <p:nvPr/>
        </p:nvSpPr>
        <p:spPr>
          <a:xfrm>
            <a:off x="4642476" y="1254953"/>
            <a:ext cx="257775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Math based operations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84C98B3B-C218-AE66-1820-BAF5D878C451}"/>
                  </a:ext>
                </a:extLst>
              </p:cNvPr>
              <p:cNvSpPr txBox="1"/>
              <p:nvPr/>
            </p:nvSpPr>
            <p:spPr>
              <a:xfrm>
                <a:off x="1662915" y="2840683"/>
                <a:ext cx="493084" cy="67710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4400" b="0" i="1" smtClean="0">
                          <a:latin typeface="Cambria Math" panose="02040503050406030204" pitchFamily="18" charset="0"/>
                        </a:rPr>
                        <m:t>𝑋</m:t>
                      </m:r>
                    </m:oMath>
                  </m:oMathPara>
                </a14:m>
                <a:endParaRPr lang="en-US" sz="44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84C98B3B-C218-AE66-1820-BAF5D878C45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62915" y="2840683"/>
                <a:ext cx="493084" cy="677108"/>
              </a:xfrm>
              <a:prstGeom prst="rect">
                <a:avLst/>
              </a:prstGeom>
              <a:blipFill>
                <a:blip r:embed="rId2"/>
                <a:stretch>
                  <a:fillRect l="-28205" r="-23077" b="-555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E83DF14D-7FF1-FA86-E27E-2D333919BA69}"/>
                  </a:ext>
                </a:extLst>
              </p:cNvPr>
              <p:cNvSpPr txBox="1"/>
              <p:nvPr/>
            </p:nvSpPr>
            <p:spPr>
              <a:xfrm>
                <a:off x="5856514" y="1611710"/>
                <a:ext cx="2433038" cy="67710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4400" b="0" i="1" smtClean="0">
                          <a:latin typeface="Cambria Math" panose="02040503050406030204" pitchFamily="18" charset="0"/>
                        </a:rPr>
                        <m:t>𝑌</m:t>
                      </m:r>
                      <m:r>
                        <a:rPr lang="en-US" sz="44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4400" b="0" i="1" smtClean="0"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US" sz="4400" b="0" i="1" smtClean="0">
                          <a:latin typeface="Cambria Math" panose="02040503050406030204" pitchFamily="18" charset="0"/>
                        </a:rPr>
                        <m:t>∗</m:t>
                      </m:r>
                      <m:r>
                        <a:rPr lang="en-US" sz="4400" b="0" i="1" smtClean="0">
                          <a:latin typeface="Cambria Math" panose="02040503050406030204" pitchFamily="18" charset="0"/>
                        </a:rPr>
                        <m:t>𝑋</m:t>
                      </m:r>
                    </m:oMath>
                  </m:oMathPara>
                </a14:m>
                <a:endParaRPr lang="en-US" sz="4400" dirty="0"/>
              </a:p>
            </p:txBody>
          </p:sp>
        </mc:Choice>
        <mc:Fallback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E83DF14D-7FF1-FA86-E27E-2D333919BA6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56514" y="1611710"/>
                <a:ext cx="2433038" cy="677108"/>
              </a:xfrm>
              <a:prstGeom prst="rect">
                <a:avLst/>
              </a:prstGeom>
              <a:blipFill>
                <a:blip r:embed="rId3"/>
                <a:stretch>
                  <a:fillRect l="-5208" r="-4167" b="-555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3FFD7A3A-8A1A-0495-F33C-77A8E93B77FE}"/>
                  </a:ext>
                </a:extLst>
              </p:cNvPr>
              <p:cNvSpPr txBox="1"/>
              <p:nvPr/>
            </p:nvSpPr>
            <p:spPr>
              <a:xfrm>
                <a:off x="5774784" y="2288818"/>
                <a:ext cx="2694199" cy="67710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4400" b="0" i="1" smtClean="0">
                          <a:latin typeface="Cambria Math" panose="02040503050406030204" pitchFamily="18" charset="0"/>
                        </a:rPr>
                        <m:t>𝑌</m:t>
                      </m:r>
                      <m:r>
                        <a:rPr lang="en-US" sz="44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4400" b="0" i="1" smtClean="0">
                          <a:latin typeface="Cambria Math" panose="02040503050406030204" pitchFamily="18" charset="0"/>
                        </a:rPr>
                        <m:t>𝑓𝑛</m:t>
                      </m:r>
                      <m:r>
                        <a:rPr lang="en-US" sz="44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4400" b="0" i="1" smtClean="0">
                          <a:latin typeface="Cambria Math" panose="02040503050406030204" pitchFamily="18" charset="0"/>
                        </a:rPr>
                        <m:t>𝑋</m:t>
                      </m:r>
                      <m:r>
                        <a:rPr lang="en-US" sz="44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4400" dirty="0"/>
              </a:p>
            </p:txBody>
          </p:sp>
        </mc:Choice>
        <mc:Fallback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3FFD7A3A-8A1A-0495-F33C-77A8E93B77F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74784" y="2288818"/>
                <a:ext cx="2694199" cy="677108"/>
              </a:xfrm>
              <a:prstGeom prst="rect">
                <a:avLst/>
              </a:prstGeom>
              <a:blipFill>
                <a:blip r:embed="rId4"/>
                <a:stretch>
                  <a:fillRect l="-4225" t="-1852" r="-7512" b="-3518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42173EBC-36FF-E08D-3DFB-AC84B94AC41B}"/>
                  </a:ext>
                </a:extLst>
              </p:cNvPr>
              <p:cNvSpPr txBox="1"/>
              <p:nvPr/>
            </p:nvSpPr>
            <p:spPr>
              <a:xfrm>
                <a:off x="5774784" y="3004794"/>
                <a:ext cx="3611566" cy="67710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4400" b="0" i="1" smtClean="0">
                          <a:latin typeface="Cambria Math" panose="02040503050406030204" pitchFamily="18" charset="0"/>
                        </a:rPr>
                        <m:t>𝑌</m:t>
                      </m:r>
                      <m:r>
                        <a:rPr lang="en-US" sz="44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4400" b="0" i="1" smtClean="0">
                          <a:latin typeface="Cambria Math" panose="02040503050406030204" pitchFamily="18" charset="0"/>
                        </a:rPr>
                        <m:t>𝐻</m:t>
                      </m:r>
                      <m:r>
                        <a:rPr lang="en-US" sz="4400" b="0" i="1" smtClean="0">
                          <a:latin typeface="Cambria Math" panose="02040503050406030204" pitchFamily="18" charset="0"/>
                        </a:rPr>
                        <m:t>∗</m:t>
                      </m:r>
                      <m:r>
                        <a:rPr lang="en-US" sz="4400" b="0" i="1" smtClean="0">
                          <a:latin typeface="Cambria Math" panose="02040503050406030204" pitchFamily="18" charset="0"/>
                        </a:rPr>
                        <m:t>𝑋</m:t>
                      </m:r>
                      <m:r>
                        <a:rPr lang="en-US" sz="4400" b="0" i="1" smtClean="0">
                          <a:latin typeface="Cambria Math" panose="02040503050406030204" pitchFamily="18" charset="0"/>
                        </a:rPr>
                        <m:t>∗</m:t>
                      </m:r>
                      <m:r>
                        <a:rPr lang="en-US" sz="4400" b="0" i="1" smtClean="0">
                          <a:latin typeface="Cambria Math" panose="02040503050406030204" pitchFamily="18" charset="0"/>
                        </a:rPr>
                        <m:t>𝐻</m:t>
                      </m:r>
                      <m:r>
                        <a:rPr lang="en-US" sz="4400" b="0" i="1" smtClean="0">
                          <a:latin typeface="Cambria Math" panose="02040503050406030204" pitchFamily="18" charset="0"/>
                        </a:rPr>
                        <m:t>′</m:t>
                      </m:r>
                    </m:oMath>
                  </m:oMathPara>
                </a14:m>
                <a:endParaRPr lang="en-US" sz="4400" dirty="0"/>
              </a:p>
            </p:txBody>
          </p:sp>
        </mc:Choice>
        <mc:Fallback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42173EBC-36FF-E08D-3DFB-AC84B94AC41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74784" y="3004794"/>
                <a:ext cx="3611566" cy="677108"/>
              </a:xfrm>
              <a:prstGeom prst="rect">
                <a:avLst/>
              </a:prstGeom>
              <a:blipFill>
                <a:blip r:embed="rId5"/>
                <a:stretch>
                  <a:fillRect l="-3147" t="-3704" r="-3846" b="-925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TextBox 9">
            <a:extLst>
              <a:ext uri="{FF2B5EF4-FFF2-40B4-BE49-F238E27FC236}">
                <a16:creationId xmlns:a16="http://schemas.microsoft.com/office/drawing/2014/main" id="{1F487C66-A8F4-1306-0A4A-CFA37674957D}"/>
              </a:ext>
            </a:extLst>
          </p:cNvPr>
          <p:cNvSpPr txBox="1"/>
          <p:nvPr/>
        </p:nvSpPr>
        <p:spPr>
          <a:xfrm>
            <a:off x="4716321" y="3752511"/>
            <a:ext cx="28642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Morphological operations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15569D7-D2CB-A019-3D30-3A28C33B9FCB}"/>
              </a:ext>
            </a:extLst>
          </p:cNvPr>
          <p:cNvSpPr txBox="1"/>
          <p:nvPr/>
        </p:nvSpPr>
        <p:spPr>
          <a:xfrm>
            <a:off x="6788570" y="5094152"/>
            <a:ext cx="4332669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/>
              <a:t>For (</a:t>
            </a:r>
            <a:r>
              <a:rPr lang="en-US" sz="3200" dirty="0" err="1"/>
              <a:t>i</a:t>
            </a:r>
            <a:r>
              <a:rPr lang="en-US" sz="3200" dirty="0"/>
              <a:t>=0; </a:t>
            </a:r>
            <a:r>
              <a:rPr lang="en-US" sz="3200" dirty="0" err="1"/>
              <a:t>i</a:t>
            </a:r>
            <a:r>
              <a:rPr lang="en-US" sz="3200" dirty="0"/>
              <a:t>&lt;n; </a:t>
            </a:r>
            <a:r>
              <a:rPr lang="en-US" sz="3200" dirty="0" err="1"/>
              <a:t>i</a:t>
            </a:r>
            <a:r>
              <a:rPr lang="en-US" sz="3200" dirty="0"/>
              <a:t>++)</a:t>
            </a:r>
          </a:p>
          <a:p>
            <a:r>
              <a:rPr lang="en-US" sz="3200" dirty="0"/>
              <a:t>	do something</a:t>
            </a:r>
          </a:p>
          <a:p>
            <a:r>
              <a:rPr lang="en-US" sz="3200" dirty="0"/>
              <a:t>end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CFBFC58-FEB9-0117-BBF1-1EC8B73256D2}"/>
              </a:ext>
            </a:extLst>
          </p:cNvPr>
          <p:cNvSpPr txBox="1"/>
          <p:nvPr/>
        </p:nvSpPr>
        <p:spPr>
          <a:xfrm>
            <a:off x="5856514" y="4192452"/>
            <a:ext cx="4728789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dirty="0"/>
              <a:t>E.g. Dilate/Erode</a:t>
            </a:r>
          </a:p>
        </p:txBody>
      </p:sp>
    </p:spTree>
    <p:extLst>
      <p:ext uri="{BB962C8B-B14F-4D97-AF65-F5344CB8AC3E}">
        <p14:creationId xmlns:p14="http://schemas.microsoft.com/office/powerpoint/2010/main" val="64879251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71FBA0-E79A-4C76-216D-9ED72F448B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Brightness</a:t>
            </a:r>
          </a:p>
        </p:txBody>
      </p:sp>
      <p:pic>
        <p:nvPicPr>
          <p:cNvPr id="4" name="Picture 3" descr="A foggy landscape of a beach&#10;&#10;Description automatically generated with medium confidence">
            <a:extLst>
              <a:ext uri="{FF2B5EF4-FFF2-40B4-BE49-F238E27FC236}">
                <a16:creationId xmlns:a16="http://schemas.microsoft.com/office/drawing/2014/main" id="{B8C8D461-A14E-C812-570D-24B77545DD2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96000" y="3429000"/>
            <a:ext cx="4117848" cy="2941446"/>
          </a:xfrm>
          <a:prstGeom prst="rect">
            <a:avLst/>
          </a:prstGeom>
          <a:noFill/>
          <a:ln>
            <a:noFill/>
          </a:ln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2F5C75C3-FA33-8D03-97B6-502183CCD43E}"/>
                  </a:ext>
                </a:extLst>
              </p:cNvPr>
              <p:cNvSpPr txBox="1"/>
              <p:nvPr/>
            </p:nvSpPr>
            <p:spPr>
              <a:xfrm>
                <a:off x="1535723" y="1544182"/>
                <a:ext cx="2582117" cy="67710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4400" b="0" i="1" smtClean="0">
                          <a:latin typeface="Cambria Math" panose="02040503050406030204" pitchFamily="18" charset="0"/>
                        </a:rPr>
                        <m:t>𝑌</m:t>
                      </m:r>
                      <m:r>
                        <a:rPr lang="en-US" sz="44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4400" b="0" i="1" smtClean="0">
                          <a:latin typeface="Cambria Math" panose="02040503050406030204" pitchFamily="18" charset="0"/>
                        </a:rPr>
                        <m:t>𝑋</m:t>
                      </m:r>
                      <m:r>
                        <a:rPr lang="en-US" sz="4400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4400" b="0" i="1" smtClean="0">
                          <a:latin typeface="Cambria Math" panose="02040503050406030204" pitchFamily="18" charset="0"/>
                        </a:rPr>
                        <m:t>𝑎</m:t>
                      </m:r>
                    </m:oMath>
                  </m:oMathPara>
                </a14:m>
                <a:endParaRPr lang="en-US" sz="4400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2F5C75C3-FA33-8D03-97B6-502183CCD4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35723" y="1544182"/>
                <a:ext cx="2582117" cy="677108"/>
              </a:xfrm>
              <a:prstGeom prst="rect">
                <a:avLst/>
              </a:prstGeom>
              <a:blipFill>
                <a:blip r:embed="rId3"/>
                <a:stretch>
                  <a:fillRect l="-4412" r="-2451" b="-555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TextBox 7">
            <a:extLst>
              <a:ext uri="{FF2B5EF4-FFF2-40B4-BE49-F238E27FC236}">
                <a16:creationId xmlns:a16="http://schemas.microsoft.com/office/drawing/2014/main" id="{16DCD608-A425-67EF-17AF-F4804BAD7B4E}"/>
              </a:ext>
            </a:extLst>
          </p:cNvPr>
          <p:cNvSpPr txBox="1"/>
          <p:nvPr/>
        </p:nvSpPr>
        <p:spPr>
          <a:xfrm>
            <a:off x="738553" y="2546579"/>
            <a:ext cx="570913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Changing the brightness of an image means adding/subtracting a scalar from the image </a:t>
            </a:r>
          </a:p>
        </p:txBody>
      </p:sp>
    </p:spTree>
    <p:extLst>
      <p:ext uri="{BB962C8B-B14F-4D97-AF65-F5344CB8AC3E}">
        <p14:creationId xmlns:p14="http://schemas.microsoft.com/office/powerpoint/2010/main" val="380865664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292" name="Picture 46" descr="A view of a beach and a rocky shore&#10;&#10;Description automatically generated with medium confidence">
            <a:extLst>
              <a:ext uri="{FF2B5EF4-FFF2-40B4-BE49-F238E27FC236}">
                <a16:creationId xmlns:a16="http://schemas.microsoft.com/office/drawing/2014/main" id="{B3AADC51-573A-CFB4-9C1F-6422EB958B9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7832" y="4079635"/>
            <a:ext cx="10393542" cy="257617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90CA073C-5B30-7E84-B6F0-C25D5C8C8690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1930400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0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F872468-40CB-13A6-ADF9-002F284C0DF8}"/>
              </a:ext>
            </a:extLst>
          </p:cNvPr>
          <p:cNvSpPr txBox="1"/>
          <p:nvPr/>
        </p:nvSpPr>
        <p:spPr>
          <a:xfrm>
            <a:off x="980626" y="399107"/>
            <a:ext cx="8733692" cy="3970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Arial" panose="020B0604020202020204" pitchFamily="34" charset="0"/>
                <a:cs typeface="Arial" panose="020B0604020202020204" pitchFamily="34" charset="0"/>
              </a:rPr>
              <a:t>From Lecture1/04_Image_Enhancement.ipnb</a:t>
            </a:r>
          </a:p>
          <a:p>
            <a:endParaRPr lang="en-US" dirty="0">
              <a:solidFill>
                <a:srgbClr val="000000"/>
              </a:solidFill>
              <a:highlight>
                <a:srgbClr val="FFFFFF"/>
              </a:highlight>
              <a:latin typeface="Menlo" panose="020B0609030804020204" pitchFamily="49" charset="0"/>
            </a:endParaRPr>
          </a:p>
          <a:p>
            <a:r>
              <a:rPr lang="en-US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matrix = </a:t>
            </a:r>
            <a:r>
              <a:rPr lang="en-US" b="0" dirty="0" err="1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np.ones</a:t>
            </a:r>
            <a:r>
              <a:rPr lang="en-US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(</a:t>
            </a:r>
            <a:r>
              <a:rPr lang="en-US" b="0" dirty="0" err="1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img_rgb.shape</a:t>
            </a:r>
            <a:r>
              <a:rPr lang="en-US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, </a:t>
            </a:r>
            <a:r>
              <a:rPr lang="en-US" b="0" dirty="0" err="1">
                <a:solidFill>
                  <a:srgbClr val="00108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dtype</a:t>
            </a:r>
            <a:r>
              <a:rPr lang="en-US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=</a:t>
            </a:r>
            <a:r>
              <a:rPr lang="en-US" b="0" dirty="0">
                <a:solidFill>
                  <a:srgbClr val="A31515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"uint8"</a:t>
            </a:r>
            <a:r>
              <a:rPr lang="en-US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) * </a:t>
            </a:r>
            <a:r>
              <a:rPr lang="en-US" b="0" dirty="0">
                <a:solidFill>
                  <a:srgbClr val="098658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50</a:t>
            </a:r>
            <a:endParaRPr lang="en-US" b="0" dirty="0">
              <a:solidFill>
                <a:srgbClr val="000000"/>
              </a:solidFill>
              <a:effectLst/>
              <a:highlight>
                <a:srgbClr val="FFFFFF"/>
              </a:highlight>
              <a:latin typeface="Menlo" panose="020B0609030804020204" pitchFamily="49" charset="0"/>
            </a:endParaRPr>
          </a:p>
          <a:p>
            <a:r>
              <a:rPr lang="en-US" b="0" dirty="0" err="1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img_rgb_brighter</a:t>
            </a:r>
            <a:r>
              <a:rPr lang="en-US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 = cv2.add(</a:t>
            </a:r>
            <a:r>
              <a:rPr lang="en-US" b="0" dirty="0" err="1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img_rgb</a:t>
            </a:r>
            <a:r>
              <a:rPr lang="en-US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, matrix)</a:t>
            </a:r>
          </a:p>
          <a:p>
            <a:r>
              <a:rPr lang="en-US" b="0" dirty="0" err="1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img_rgb_darker</a:t>
            </a:r>
            <a:r>
              <a:rPr lang="en-US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 = cv2.subtract(</a:t>
            </a:r>
            <a:r>
              <a:rPr lang="en-US" b="0" dirty="0" err="1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img_rgb</a:t>
            </a:r>
            <a:r>
              <a:rPr lang="en-US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, matrix)</a:t>
            </a:r>
          </a:p>
          <a:p>
            <a:br>
              <a:rPr lang="en-US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</a:br>
            <a:r>
              <a:rPr lang="en-US" b="0" dirty="0">
                <a:solidFill>
                  <a:srgbClr val="008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# Show the images</a:t>
            </a:r>
            <a:endParaRPr lang="en-US" b="0" dirty="0">
              <a:solidFill>
                <a:srgbClr val="000000"/>
              </a:solidFill>
              <a:effectLst/>
              <a:highlight>
                <a:srgbClr val="FFFFFF"/>
              </a:highlight>
              <a:latin typeface="Menlo" panose="020B0609030804020204" pitchFamily="49" charset="0"/>
            </a:endParaRPr>
          </a:p>
          <a:p>
            <a:r>
              <a:rPr lang="en-US" b="0" dirty="0" err="1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plt.figure</a:t>
            </a:r>
            <a:r>
              <a:rPr lang="en-US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(</a:t>
            </a:r>
            <a:r>
              <a:rPr lang="en-US" b="0" dirty="0" err="1">
                <a:solidFill>
                  <a:srgbClr val="00108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figsize</a:t>
            </a:r>
            <a:r>
              <a:rPr lang="en-US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=[</a:t>
            </a:r>
            <a:r>
              <a:rPr lang="en-US" b="0" dirty="0">
                <a:solidFill>
                  <a:srgbClr val="098658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18</a:t>
            </a:r>
            <a:r>
              <a:rPr lang="en-US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, </a:t>
            </a:r>
            <a:r>
              <a:rPr lang="en-US" b="0" dirty="0">
                <a:solidFill>
                  <a:srgbClr val="098658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5</a:t>
            </a:r>
            <a:r>
              <a:rPr lang="en-US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])</a:t>
            </a:r>
          </a:p>
          <a:p>
            <a:r>
              <a:rPr lang="en-US" b="0" dirty="0" err="1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plt.subplot</a:t>
            </a:r>
            <a:r>
              <a:rPr lang="en-US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(</a:t>
            </a:r>
            <a:r>
              <a:rPr lang="en-US" b="0" dirty="0">
                <a:solidFill>
                  <a:srgbClr val="098658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131</a:t>
            </a:r>
            <a:r>
              <a:rPr lang="en-US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); </a:t>
            </a:r>
            <a:r>
              <a:rPr lang="en-US" b="0" dirty="0" err="1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plt.imshow</a:t>
            </a:r>
            <a:r>
              <a:rPr lang="en-US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(</a:t>
            </a:r>
            <a:r>
              <a:rPr lang="en-US" b="0" dirty="0" err="1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img_rgb_darker</a:t>
            </a:r>
            <a:r>
              <a:rPr lang="en-US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); </a:t>
            </a:r>
            <a:r>
              <a:rPr lang="en-US" b="0" dirty="0" err="1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plt.title</a:t>
            </a:r>
            <a:r>
              <a:rPr lang="en-US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(</a:t>
            </a:r>
            <a:r>
              <a:rPr lang="en-US" b="0" dirty="0">
                <a:solidFill>
                  <a:srgbClr val="A31515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"Darker"</a:t>
            </a:r>
            <a:r>
              <a:rPr lang="en-US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)</a:t>
            </a:r>
            <a:r>
              <a:rPr lang="en-US" b="0" dirty="0">
                <a:solidFill>
                  <a:srgbClr val="CD3131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;</a:t>
            </a:r>
            <a:endParaRPr lang="en-US" b="0" dirty="0">
              <a:solidFill>
                <a:srgbClr val="000000"/>
              </a:solidFill>
              <a:effectLst/>
              <a:highlight>
                <a:srgbClr val="FFFFFF"/>
              </a:highlight>
              <a:latin typeface="Menlo" panose="020B0609030804020204" pitchFamily="49" charset="0"/>
            </a:endParaRPr>
          </a:p>
          <a:p>
            <a:r>
              <a:rPr lang="en-US" b="0" dirty="0" err="1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plt.subplot</a:t>
            </a:r>
            <a:r>
              <a:rPr lang="en-US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(</a:t>
            </a:r>
            <a:r>
              <a:rPr lang="en-US" b="0" dirty="0">
                <a:solidFill>
                  <a:srgbClr val="098658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132</a:t>
            </a:r>
            <a:r>
              <a:rPr lang="en-US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); </a:t>
            </a:r>
            <a:r>
              <a:rPr lang="en-US" b="0" dirty="0" err="1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plt.imshow</a:t>
            </a:r>
            <a:r>
              <a:rPr lang="en-US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(</a:t>
            </a:r>
            <a:r>
              <a:rPr lang="en-US" b="0" dirty="0" err="1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img_rgb</a:t>
            </a:r>
            <a:r>
              <a:rPr lang="en-US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); </a:t>
            </a:r>
            <a:r>
              <a:rPr lang="en-US" b="0" dirty="0" err="1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plt.title</a:t>
            </a:r>
            <a:r>
              <a:rPr lang="en-US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(</a:t>
            </a:r>
            <a:r>
              <a:rPr lang="en-US" b="0" dirty="0">
                <a:solidFill>
                  <a:srgbClr val="A31515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"Original"</a:t>
            </a:r>
            <a:r>
              <a:rPr lang="en-US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)</a:t>
            </a:r>
            <a:r>
              <a:rPr lang="en-US" b="0" dirty="0">
                <a:solidFill>
                  <a:srgbClr val="CD3131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;</a:t>
            </a:r>
            <a:endParaRPr lang="en-US" b="0" dirty="0">
              <a:solidFill>
                <a:srgbClr val="000000"/>
              </a:solidFill>
              <a:effectLst/>
              <a:highlight>
                <a:srgbClr val="FFFFFF"/>
              </a:highlight>
              <a:latin typeface="Menlo" panose="020B0609030804020204" pitchFamily="49" charset="0"/>
            </a:endParaRPr>
          </a:p>
          <a:p>
            <a:r>
              <a:rPr lang="en-US" b="0" dirty="0" err="1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plt.subplot</a:t>
            </a:r>
            <a:r>
              <a:rPr lang="en-US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(</a:t>
            </a:r>
            <a:r>
              <a:rPr lang="en-US" b="0" dirty="0">
                <a:solidFill>
                  <a:srgbClr val="098658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133</a:t>
            </a:r>
            <a:r>
              <a:rPr lang="en-US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); </a:t>
            </a:r>
            <a:r>
              <a:rPr lang="en-US" b="0" dirty="0" err="1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plt.imshow</a:t>
            </a:r>
            <a:r>
              <a:rPr lang="en-US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(</a:t>
            </a:r>
            <a:r>
              <a:rPr lang="en-US" b="0" dirty="0" err="1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img_rgb_brighter</a:t>
            </a:r>
            <a:r>
              <a:rPr lang="en-US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);</a:t>
            </a:r>
            <a:r>
              <a:rPr lang="en-US" b="0" dirty="0" err="1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plt.title</a:t>
            </a:r>
            <a:r>
              <a:rPr lang="en-US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(</a:t>
            </a:r>
            <a:r>
              <a:rPr lang="en-US" b="0" dirty="0">
                <a:solidFill>
                  <a:srgbClr val="A31515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"Brighter"</a:t>
            </a:r>
            <a:r>
              <a:rPr lang="en-US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)</a:t>
            </a:r>
            <a:r>
              <a:rPr lang="en-US" b="0" dirty="0">
                <a:solidFill>
                  <a:srgbClr val="CD3131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;</a:t>
            </a:r>
            <a:endParaRPr lang="en-US" b="0" dirty="0">
              <a:solidFill>
                <a:srgbClr val="000000"/>
              </a:solidFill>
              <a:effectLst/>
              <a:highlight>
                <a:srgbClr val="FFFFFF"/>
              </a:highlight>
              <a:latin typeface="Menlo" panose="020B0609030804020204" pitchFamily="49" charset="0"/>
            </a:endParaRPr>
          </a:p>
          <a:p>
            <a:endParaRPr lang="en-US" b="0" dirty="0">
              <a:solidFill>
                <a:srgbClr val="CCCCCC"/>
              </a:solidFill>
              <a:effectLst/>
              <a:highlight>
                <a:srgbClr val="1F1F1F"/>
              </a:highlight>
              <a:latin typeface="Menlo" panose="020B060903080402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6613345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71FBA0-E79A-4C76-216D-9ED72F448B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Contrast</a:t>
            </a:r>
          </a:p>
        </p:txBody>
      </p:sp>
      <p:pic>
        <p:nvPicPr>
          <p:cNvPr id="4" name="Picture 3" descr="A foggy landscape of a beach&#10;&#10;Description automatically generated with medium confidence">
            <a:extLst>
              <a:ext uri="{FF2B5EF4-FFF2-40B4-BE49-F238E27FC236}">
                <a16:creationId xmlns:a16="http://schemas.microsoft.com/office/drawing/2014/main" id="{B8C8D461-A14E-C812-570D-24B77545DD2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96000" y="3429000"/>
            <a:ext cx="4117848" cy="2941446"/>
          </a:xfrm>
          <a:prstGeom prst="rect">
            <a:avLst/>
          </a:prstGeom>
          <a:noFill/>
          <a:ln>
            <a:noFill/>
          </a:ln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2F5C75C3-FA33-8D03-97B6-502183CCD43E}"/>
                  </a:ext>
                </a:extLst>
              </p:cNvPr>
              <p:cNvSpPr txBox="1"/>
              <p:nvPr/>
            </p:nvSpPr>
            <p:spPr>
              <a:xfrm>
                <a:off x="1535723" y="1544182"/>
                <a:ext cx="2433038" cy="67710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4400" b="0" i="1" smtClean="0">
                          <a:latin typeface="Cambria Math" panose="02040503050406030204" pitchFamily="18" charset="0"/>
                        </a:rPr>
                        <m:t>𝑌</m:t>
                      </m:r>
                      <m:r>
                        <a:rPr lang="en-US" sz="44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4400" b="0" i="1" smtClean="0"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US" sz="4400" b="0" i="1" smtClean="0">
                          <a:latin typeface="Cambria Math" panose="02040503050406030204" pitchFamily="18" charset="0"/>
                        </a:rPr>
                        <m:t>∗</m:t>
                      </m:r>
                      <m:r>
                        <a:rPr lang="en-US" sz="4400" b="0" i="1" smtClean="0">
                          <a:latin typeface="Cambria Math" panose="02040503050406030204" pitchFamily="18" charset="0"/>
                        </a:rPr>
                        <m:t>𝑋</m:t>
                      </m:r>
                    </m:oMath>
                  </m:oMathPara>
                </a14:m>
                <a:endParaRPr lang="en-US" sz="4400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2F5C75C3-FA33-8D03-97B6-502183CCD4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35723" y="1544182"/>
                <a:ext cx="2433038" cy="677108"/>
              </a:xfrm>
              <a:prstGeom prst="rect">
                <a:avLst/>
              </a:prstGeom>
              <a:blipFill>
                <a:blip r:embed="rId3"/>
                <a:stretch>
                  <a:fillRect l="-4663" r="-4145" b="-555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TextBox 7">
            <a:extLst>
              <a:ext uri="{FF2B5EF4-FFF2-40B4-BE49-F238E27FC236}">
                <a16:creationId xmlns:a16="http://schemas.microsoft.com/office/drawing/2014/main" id="{16DCD608-A425-67EF-17AF-F4804BAD7B4E}"/>
              </a:ext>
            </a:extLst>
          </p:cNvPr>
          <p:cNvSpPr txBox="1"/>
          <p:nvPr/>
        </p:nvSpPr>
        <p:spPr>
          <a:xfrm>
            <a:off x="738553" y="2546579"/>
            <a:ext cx="570913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Contrast is the range of values in the image. So multiplying by a scalar changes the contrast</a:t>
            </a:r>
          </a:p>
        </p:txBody>
      </p:sp>
    </p:spTree>
    <p:extLst>
      <p:ext uri="{BB962C8B-B14F-4D97-AF65-F5344CB8AC3E}">
        <p14:creationId xmlns:p14="http://schemas.microsoft.com/office/powerpoint/2010/main" val="194341873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view of a beach and a rocky shore&#10;&#10;Description automatically generated with medium confidence">
            <a:extLst>
              <a:ext uri="{FF2B5EF4-FFF2-40B4-BE49-F238E27FC236}">
                <a16:creationId xmlns:a16="http://schemas.microsoft.com/office/drawing/2014/main" id="{4C925452-3BF5-CDCA-865F-81635946FA9F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9789" y="4290645"/>
            <a:ext cx="10623687" cy="2321629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D3C18994-DF9B-6BA5-58C5-91C30ABBF420}"/>
              </a:ext>
            </a:extLst>
          </p:cNvPr>
          <p:cNvSpPr txBox="1"/>
          <p:nvPr/>
        </p:nvSpPr>
        <p:spPr>
          <a:xfrm>
            <a:off x="489789" y="476523"/>
            <a:ext cx="11479473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Arial" panose="020B0604020202020204" pitchFamily="34" charset="0"/>
                <a:cs typeface="Arial" panose="020B0604020202020204" pitchFamily="34" charset="0"/>
              </a:rPr>
              <a:t>From Lecture1/04_Image_Enhancement.ipnb</a:t>
            </a:r>
          </a:p>
          <a:p>
            <a:endParaRPr lang="en-US" b="0" dirty="0">
              <a:solidFill>
                <a:srgbClr val="000000"/>
              </a:solidFill>
              <a:effectLst/>
              <a:highlight>
                <a:srgbClr val="FFFFFF"/>
              </a:highlight>
              <a:latin typeface="Menlo" panose="020B0609030804020204" pitchFamily="49" charset="0"/>
            </a:endParaRPr>
          </a:p>
          <a:p>
            <a:r>
              <a:rPr lang="en-US" b="0" dirty="0" err="1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matrix_low_contrast</a:t>
            </a:r>
            <a:r>
              <a:rPr lang="en-US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 = </a:t>
            </a:r>
            <a:r>
              <a:rPr lang="en-US" b="0" dirty="0" err="1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np.ones</a:t>
            </a:r>
            <a:r>
              <a:rPr lang="en-US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(</a:t>
            </a:r>
            <a:r>
              <a:rPr lang="en-US" b="0" dirty="0" err="1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img_rgb.shape</a:t>
            </a:r>
            <a:r>
              <a:rPr lang="en-US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) * </a:t>
            </a:r>
            <a:r>
              <a:rPr lang="en-US" b="0" dirty="0">
                <a:solidFill>
                  <a:srgbClr val="098658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0.8</a:t>
            </a:r>
            <a:endParaRPr lang="en-US" b="0" dirty="0">
              <a:solidFill>
                <a:srgbClr val="000000"/>
              </a:solidFill>
              <a:effectLst/>
              <a:highlight>
                <a:srgbClr val="FFFFFF"/>
              </a:highlight>
              <a:latin typeface="Menlo" panose="020B0609030804020204" pitchFamily="49" charset="0"/>
            </a:endParaRPr>
          </a:p>
          <a:p>
            <a:r>
              <a:rPr lang="en-US" b="0" dirty="0" err="1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matrix_high_contast</a:t>
            </a:r>
            <a:r>
              <a:rPr lang="en-US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 = </a:t>
            </a:r>
            <a:r>
              <a:rPr lang="en-US" b="0" dirty="0" err="1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np.ones</a:t>
            </a:r>
            <a:r>
              <a:rPr lang="en-US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(</a:t>
            </a:r>
            <a:r>
              <a:rPr lang="en-US" b="0" dirty="0" err="1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img_rgb.shape</a:t>
            </a:r>
            <a:r>
              <a:rPr lang="en-US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) * </a:t>
            </a:r>
            <a:r>
              <a:rPr lang="en-US" b="0" dirty="0">
                <a:solidFill>
                  <a:srgbClr val="098658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1.2</a:t>
            </a:r>
            <a:br>
              <a:rPr lang="en-US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</a:br>
            <a:r>
              <a:rPr lang="en-US" b="0" dirty="0" err="1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img_rgb_darker</a:t>
            </a:r>
            <a:r>
              <a:rPr lang="en-US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 = np.uint8(cv2.multiply(np.float64(</a:t>
            </a:r>
            <a:r>
              <a:rPr lang="en-US" b="0" dirty="0" err="1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img_rgb</a:t>
            </a:r>
            <a:r>
              <a:rPr lang="en-US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), </a:t>
            </a:r>
            <a:r>
              <a:rPr lang="en-US" b="0" dirty="0" err="1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matrix_low_contrast</a:t>
            </a:r>
            <a:r>
              <a:rPr lang="en-US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))</a:t>
            </a:r>
          </a:p>
          <a:p>
            <a:r>
              <a:rPr lang="en-US" b="0" dirty="0" err="1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img_rgb_brighter</a:t>
            </a:r>
            <a:r>
              <a:rPr lang="en-US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 = np.uint8(cv2.multiply(np.float64(</a:t>
            </a:r>
            <a:r>
              <a:rPr lang="en-US" b="0" dirty="0" err="1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img_rgb</a:t>
            </a:r>
            <a:r>
              <a:rPr lang="en-US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), </a:t>
            </a:r>
            <a:r>
              <a:rPr lang="en-US" b="0" dirty="0" err="1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matrix_high_contast</a:t>
            </a:r>
            <a:r>
              <a:rPr lang="en-US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))</a:t>
            </a:r>
          </a:p>
          <a:p>
            <a:br>
              <a:rPr lang="en-US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</a:br>
            <a:r>
              <a:rPr lang="en-US" b="0" dirty="0">
                <a:solidFill>
                  <a:srgbClr val="008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# Show the images</a:t>
            </a:r>
            <a:endParaRPr lang="en-US" b="0" dirty="0">
              <a:solidFill>
                <a:srgbClr val="000000"/>
              </a:solidFill>
              <a:effectLst/>
              <a:highlight>
                <a:srgbClr val="FFFFFF"/>
              </a:highlight>
              <a:latin typeface="Menlo" panose="020B0609030804020204" pitchFamily="49" charset="0"/>
            </a:endParaRPr>
          </a:p>
          <a:p>
            <a:r>
              <a:rPr lang="en-US" b="0" dirty="0" err="1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plt.figure</a:t>
            </a:r>
            <a:r>
              <a:rPr lang="en-US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(</a:t>
            </a:r>
            <a:r>
              <a:rPr lang="en-US" b="0" dirty="0" err="1">
                <a:solidFill>
                  <a:srgbClr val="00108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figsize</a:t>
            </a:r>
            <a:r>
              <a:rPr lang="en-US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=[</a:t>
            </a:r>
            <a:r>
              <a:rPr lang="en-US" b="0" dirty="0">
                <a:solidFill>
                  <a:srgbClr val="098658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18</a:t>
            </a:r>
            <a:r>
              <a:rPr lang="en-US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,</a:t>
            </a:r>
            <a:r>
              <a:rPr lang="en-US" b="0" dirty="0">
                <a:solidFill>
                  <a:srgbClr val="098658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5</a:t>
            </a:r>
            <a:r>
              <a:rPr lang="en-US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])</a:t>
            </a:r>
          </a:p>
          <a:p>
            <a:r>
              <a:rPr lang="en-US" b="0" dirty="0" err="1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plt.subplot</a:t>
            </a:r>
            <a:r>
              <a:rPr lang="en-US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(</a:t>
            </a:r>
            <a:r>
              <a:rPr lang="en-US" b="0" dirty="0">
                <a:solidFill>
                  <a:srgbClr val="098658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131</a:t>
            </a:r>
            <a:r>
              <a:rPr lang="en-US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); </a:t>
            </a:r>
            <a:r>
              <a:rPr lang="en-US" b="0" dirty="0" err="1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plt.imshow</a:t>
            </a:r>
            <a:r>
              <a:rPr lang="en-US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(</a:t>
            </a:r>
            <a:r>
              <a:rPr lang="en-US" b="0" dirty="0" err="1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img_rgb_darker</a:t>
            </a:r>
            <a:r>
              <a:rPr lang="en-US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); </a:t>
            </a:r>
            <a:r>
              <a:rPr lang="en-US" b="0" dirty="0" err="1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plt.title</a:t>
            </a:r>
            <a:r>
              <a:rPr lang="en-US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(</a:t>
            </a:r>
            <a:r>
              <a:rPr lang="en-US" b="0" dirty="0">
                <a:solidFill>
                  <a:srgbClr val="A31515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"Lower Contrast"</a:t>
            </a:r>
            <a:r>
              <a:rPr lang="en-US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)</a:t>
            </a:r>
            <a:r>
              <a:rPr lang="en-US" b="0" dirty="0">
                <a:solidFill>
                  <a:srgbClr val="CD3131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;</a:t>
            </a:r>
            <a:endParaRPr lang="en-US" b="0" dirty="0">
              <a:solidFill>
                <a:srgbClr val="000000"/>
              </a:solidFill>
              <a:effectLst/>
              <a:highlight>
                <a:srgbClr val="FFFFFF"/>
              </a:highlight>
              <a:latin typeface="Menlo" panose="020B0609030804020204" pitchFamily="49" charset="0"/>
            </a:endParaRPr>
          </a:p>
          <a:p>
            <a:r>
              <a:rPr lang="en-US" b="0" dirty="0" err="1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plt.subplot</a:t>
            </a:r>
            <a:r>
              <a:rPr lang="en-US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(</a:t>
            </a:r>
            <a:r>
              <a:rPr lang="en-US" b="0" dirty="0">
                <a:solidFill>
                  <a:srgbClr val="098658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132</a:t>
            </a:r>
            <a:r>
              <a:rPr lang="en-US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); </a:t>
            </a:r>
            <a:r>
              <a:rPr lang="en-US" b="0" dirty="0" err="1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plt.imshow</a:t>
            </a:r>
            <a:r>
              <a:rPr lang="en-US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(</a:t>
            </a:r>
            <a:r>
              <a:rPr lang="en-US" b="0" dirty="0" err="1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img_rgb</a:t>
            </a:r>
            <a:r>
              <a:rPr lang="en-US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); </a:t>
            </a:r>
            <a:r>
              <a:rPr lang="en-US" b="0" dirty="0" err="1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plt.title</a:t>
            </a:r>
            <a:r>
              <a:rPr lang="en-US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(</a:t>
            </a:r>
            <a:r>
              <a:rPr lang="en-US" b="0" dirty="0">
                <a:solidFill>
                  <a:srgbClr val="A31515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"Original"</a:t>
            </a:r>
            <a:r>
              <a:rPr lang="en-US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)</a:t>
            </a:r>
            <a:r>
              <a:rPr lang="en-US" b="0" dirty="0">
                <a:solidFill>
                  <a:srgbClr val="CD3131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;</a:t>
            </a:r>
            <a:endParaRPr lang="en-US" b="0" dirty="0">
              <a:solidFill>
                <a:srgbClr val="000000"/>
              </a:solidFill>
              <a:effectLst/>
              <a:highlight>
                <a:srgbClr val="FFFFFF"/>
              </a:highlight>
              <a:latin typeface="Menlo" panose="020B0609030804020204" pitchFamily="49" charset="0"/>
            </a:endParaRPr>
          </a:p>
          <a:p>
            <a:r>
              <a:rPr lang="en-US" b="0" dirty="0" err="1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plt.subplot</a:t>
            </a:r>
            <a:r>
              <a:rPr lang="en-US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(</a:t>
            </a:r>
            <a:r>
              <a:rPr lang="en-US" b="0" dirty="0">
                <a:solidFill>
                  <a:srgbClr val="098658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133</a:t>
            </a:r>
            <a:r>
              <a:rPr lang="en-US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); </a:t>
            </a:r>
            <a:r>
              <a:rPr lang="en-US" b="0" dirty="0" err="1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plt.imshow</a:t>
            </a:r>
            <a:r>
              <a:rPr lang="en-US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(</a:t>
            </a:r>
            <a:r>
              <a:rPr lang="en-US" b="0" dirty="0" err="1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img_rgb_brighter</a:t>
            </a:r>
            <a:r>
              <a:rPr lang="en-US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);</a:t>
            </a:r>
            <a:r>
              <a:rPr lang="en-US" b="0" dirty="0" err="1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plt.title</a:t>
            </a:r>
            <a:r>
              <a:rPr lang="en-US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(</a:t>
            </a:r>
            <a:r>
              <a:rPr lang="en-US" b="0" dirty="0">
                <a:solidFill>
                  <a:srgbClr val="A31515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"Higher Contrast"</a:t>
            </a:r>
            <a:r>
              <a:rPr lang="en-US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)</a:t>
            </a:r>
            <a:r>
              <a:rPr lang="en-US" b="0" dirty="0">
                <a:solidFill>
                  <a:srgbClr val="CD3131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;</a:t>
            </a:r>
            <a:endParaRPr lang="en-US" b="0" dirty="0">
              <a:solidFill>
                <a:srgbClr val="000000"/>
              </a:solidFill>
              <a:effectLst/>
              <a:highlight>
                <a:srgbClr val="FFFFFF"/>
              </a:highlight>
              <a:latin typeface="Menlo" panose="020B060903080402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0483623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4205F114-F11A-4FC9-995E-94D205E4C5AA}"/>
                  </a:ext>
                </a:extLst>
              </p:cNvPr>
              <p:cNvSpPr txBox="1"/>
              <p:nvPr/>
            </p:nvSpPr>
            <p:spPr>
              <a:xfrm>
                <a:off x="838200" y="238619"/>
                <a:ext cx="3611566" cy="67710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4400" b="0" i="1" smtClean="0">
                          <a:latin typeface="Cambria Math" panose="02040503050406030204" pitchFamily="18" charset="0"/>
                        </a:rPr>
                        <m:t>𝑌</m:t>
                      </m:r>
                      <m:r>
                        <a:rPr lang="en-US" sz="44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4400" b="0" i="1" smtClean="0">
                          <a:latin typeface="Cambria Math" panose="02040503050406030204" pitchFamily="18" charset="0"/>
                        </a:rPr>
                        <m:t>𝐻</m:t>
                      </m:r>
                      <m:r>
                        <a:rPr lang="en-US" sz="4400" b="0" i="1" smtClean="0">
                          <a:latin typeface="Cambria Math" panose="02040503050406030204" pitchFamily="18" charset="0"/>
                        </a:rPr>
                        <m:t>∗</m:t>
                      </m:r>
                      <m:r>
                        <a:rPr lang="en-US" sz="4400" b="0" i="1" smtClean="0">
                          <a:latin typeface="Cambria Math" panose="02040503050406030204" pitchFamily="18" charset="0"/>
                        </a:rPr>
                        <m:t>𝑋</m:t>
                      </m:r>
                      <m:r>
                        <a:rPr lang="en-US" sz="4400" b="0" i="1" smtClean="0">
                          <a:latin typeface="Cambria Math" panose="02040503050406030204" pitchFamily="18" charset="0"/>
                        </a:rPr>
                        <m:t>∗</m:t>
                      </m:r>
                      <m:r>
                        <a:rPr lang="en-US" sz="4400" b="0" i="1" smtClean="0">
                          <a:latin typeface="Cambria Math" panose="02040503050406030204" pitchFamily="18" charset="0"/>
                        </a:rPr>
                        <m:t>𝐻</m:t>
                      </m:r>
                      <m:r>
                        <a:rPr lang="en-US" sz="4400" b="0" i="1" smtClean="0">
                          <a:latin typeface="Cambria Math" panose="02040503050406030204" pitchFamily="18" charset="0"/>
                        </a:rPr>
                        <m:t>′</m:t>
                      </m:r>
                    </m:oMath>
                  </m:oMathPara>
                </a14:m>
                <a:endParaRPr lang="en-US" sz="4400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4205F114-F11A-4FC9-995E-94D205E4C5A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238619"/>
                <a:ext cx="3611566" cy="677108"/>
              </a:xfrm>
              <a:prstGeom prst="rect">
                <a:avLst/>
              </a:prstGeom>
              <a:blipFill>
                <a:blip r:embed="rId2"/>
                <a:stretch>
                  <a:fillRect l="-3158" t="-1852" r="-3860" b="-925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TextBox 4">
            <a:extLst>
              <a:ext uri="{FF2B5EF4-FFF2-40B4-BE49-F238E27FC236}">
                <a16:creationId xmlns:a16="http://schemas.microsoft.com/office/drawing/2014/main" id="{03210803-3123-F78D-B7CD-C82CF941E461}"/>
              </a:ext>
            </a:extLst>
          </p:cNvPr>
          <p:cNvSpPr txBox="1"/>
          <p:nvPr/>
        </p:nvSpPr>
        <p:spPr>
          <a:xfrm>
            <a:off x="3338257" y="1511166"/>
            <a:ext cx="275774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Point Spread Function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0A709072-FFE3-E17B-A2AF-B784B92F13B0}"/>
                  </a:ext>
                </a:extLst>
              </p:cNvPr>
              <p:cNvSpPr txBox="1"/>
              <p:nvPr/>
            </p:nvSpPr>
            <p:spPr>
              <a:xfrm>
                <a:off x="5130265" y="2285756"/>
                <a:ext cx="1796710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h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𝑏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0A709072-FFE3-E17B-A2AF-B784B92F13B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30265" y="2285756"/>
                <a:ext cx="1796710" cy="430887"/>
              </a:xfrm>
              <a:prstGeom prst="rect">
                <a:avLst/>
              </a:prstGeom>
              <a:blipFill>
                <a:blip r:embed="rId3"/>
                <a:stretch>
                  <a:fillRect l="-4930" t="-2857" r="-6338" b="-3142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BA36D7B2-C551-4A60-A240-096F03FF6D96}"/>
                  </a:ext>
                </a:extLst>
              </p:cNvPr>
              <p:cNvSpPr txBox="1"/>
              <p:nvPr/>
            </p:nvSpPr>
            <p:spPr>
              <a:xfrm>
                <a:off x="5130265" y="4135842"/>
                <a:ext cx="2384050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h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𝑏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BA36D7B2-C551-4A60-A240-096F03FF6D9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30265" y="4135842"/>
                <a:ext cx="2384050" cy="430887"/>
              </a:xfrm>
              <a:prstGeom prst="rect">
                <a:avLst/>
              </a:prstGeom>
              <a:blipFill>
                <a:blip r:embed="rId4"/>
                <a:stretch>
                  <a:fillRect l="-3723" t="-2857" r="-4787" b="-3428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TextBox 7">
            <a:extLst>
              <a:ext uri="{FF2B5EF4-FFF2-40B4-BE49-F238E27FC236}">
                <a16:creationId xmlns:a16="http://schemas.microsoft.com/office/drawing/2014/main" id="{2F4B592C-5F33-281B-D617-51CAD0E314AC}"/>
              </a:ext>
            </a:extLst>
          </p:cNvPr>
          <p:cNvSpPr txBox="1"/>
          <p:nvPr/>
        </p:nvSpPr>
        <p:spPr>
          <a:xfrm>
            <a:off x="4307027" y="3686477"/>
            <a:ext cx="164647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Shift invariant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63EBA52-E86E-64D4-78B2-B100E9B11D65}"/>
              </a:ext>
            </a:extLst>
          </p:cNvPr>
          <p:cNvSpPr txBox="1"/>
          <p:nvPr/>
        </p:nvSpPr>
        <p:spPr>
          <a:xfrm>
            <a:off x="4345528" y="1851146"/>
            <a:ext cx="10129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General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A1500C6-E243-364E-7B58-CBF9FFDFB017}"/>
              </a:ext>
            </a:extLst>
          </p:cNvPr>
          <p:cNvSpPr txBox="1"/>
          <p:nvPr/>
        </p:nvSpPr>
        <p:spPr>
          <a:xfrm>
            <a:off x="5358498" y="2839453"/>
            <a:ext cx="65524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Operation varies depending on which position (</a:t>
            </a:r>
            <a:r>
              <a:rPr lang="en-US" dirty="0" err="1"/>
              <a:t>x,y</a:t>
            </a:r>
            <a:r>
              <a:rPr lang="en-US" dirty="0"/>
              <a:t>) in the image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12FE83B-F31E-1BF8-7CE5-2C2167F2E958}"/>
              </a:ext>
            </a:extLst>
          </p:cNvPr>
          <p:cNvSpPr txBox="1"/>
          <p:nvPr/>
        </p:nvSpPr>
        <p:spPr>
          <a:xfrm>
            <a:off x="5493252" y="4798200"/>
            <a:ext cx="581107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Operation is independent of the position (</a:t>
            </a:r>
            <a:r>
              <a:rPr lang="en-US" dirty="0" err="1"/>
              <a:t>x,y</a:t>
            </a:r>
            <a:r>
              <a:rPr lang="en-US" dirty="0"/>
              <a:t>) in the image</a:t>
            </a: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EC93AFF7-4EB4-0DC0-4345-72BE99A66D53}"/>
              </a:ext>
            </a:extLst>
          </p:cNvPr>
          <p:cNvGrpSpPr/>
          <p:nvPr/>
        </p:nvGrpSpPr>
        <p:grpSpPr>
          <a:xfrm>
            <a:off x="281003" y="2424339"/>
            <a:ext cx="2539975" cy="2743193"/>
            <a:chOff x="2489200" y="1701800"/>
            <a:chExt cx="4572000" cy="4572000"/>
          </a:xfrm>
          <a:solidFill>
            <a:schemeClr val="bg1">
              <a:alpha val="58000"/>
            </a:schemeClr>
          </a:solidFill>
        </p:grpSpPr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98B1E443-656F-FE89-550F-94F02EEE65DD}"/>
                </a:ext>
              </a:extLst>
            </p:cNvPr>
            <p:cNvSpPr/>
            <p:nvPr/>
          </p:nvSpPr>
          <p:spPr>
            <a:xfrm>
              <a:off x="2489200" y="1701800"/>
              <a:ext cx="4572000" cy="4572000"/>
            </a:xfrm>
            <a:prstGeom prst="rect">
              <a:avLst/>
            </a:prstGeom>
            <a:grpFill/>
            <a:ln w="508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69C0E143-0D21-9D70-C805-14033F0AFA74}"/>
                </a:ext>
              </a:extLst>
            </p:cNvPr>
            <p:cNvGrpSpPr/>
            <p:nvPr/>
          </p:nvGrpSpPr>
          <p:grpSpPr>
            <a:xfrm>
              <a:off x="2980267" y="1701800"/>
              <a:ext cx="3522133" cy="4572000"/>
              <a:chOff x="2980267" y="1701800"/>
              <a:chExt cx="3522133" cy="4572000"/>
            </a:xfrm>
            <a:grpFill/>
          </p:grpSpPr>
          <p:cxnSp>
            <p:nvCxnSpPr>
              <p:cNvPr id="23" name="Straight Connector 22">
                <a:extLst>
                  <a:ext uri="{FF2B5EF4-FFF2-40B4-BE49-F238E27FC236}">
                    <a16:creationId xmlns:a16="http://schemas.microsoft.com/office/drawing/2014/main" id="{1136A38C-C7E8-E8E7-65D0-6096CFD84F3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741333" y="1701800"/>
                <a:ext cx="0" cy="4572000"/>
              </a:xfrm>
              <a:prstGeom prst="line">
                <a:avLst/>
              </a:prstGeom>
              <a:grpFill/>
              <a:ln w="50800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4" name="Straight Connector 23">
                <a:extLst>
                  <a:ext uri="{FF2B5EF4-FFF2-40B4-BE49-F238E27FC236}">
                    <a16:creationId xmlns:a16="http://schemas.microsoft.com/office/drawing/2014/main" id="{5785EBC8-C222-6AC4-14A2-3B64DA999A0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915377" y="1701800"/>
                <a:ext cx="0" cy="4572000"/>
              </a:xfrm>
              <a:prstGeom prst="line">
                <a:avLst/>
              </a:prstGeom>
              <a:grpFill/>
              <a:ln w="50800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5" name="Straight Connector 24">
                <a:extLst>
                  <a:ext uri="{FF2B5EF4-FFF2-40B4-BE49-F238E27FC236}">
                    <a16:creationId xmlns:a16="http://schemas.microsoft.com/office/drawing/2014/main" id="{17424C71-0245-C941-C265-81B3974DB0B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328355" y="1701800"/>
                <a:ext cx="0" cy="4572000"/>
              </a:xfrm>
              <a:prstGeom prst="line">
                <a:avLst/>
              </a:prstGeom>
              <a:grpFill/>
              <a:ln w="50800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" name="Straight Connector 25">
                <a:extLst>
                  <a:ext uri="{FF2B5EF4-FFF2-40B4-BE49-F238E27FC236}">
                    <a16:creationId xmlns:a16="http://schemas.microsoft.com/office/drawing/2014/main" id="{A021A35C-E96A-7898-68AE-9BE4CE0E60C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502400" y="1701800"/>
                <a:ext cx="0" cy="4572000"/>
              </a:xfrm>
              <a:prstGeom prst="line">
                <a:avLst/>
              </a:prstGeom>
              <a:grpFill/>
              <a:ln w="50800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" name="Straight Connector 26">
                <a:extLst>
                  <a:ext uri="{FF2B5EF4-FFF2-40B4-BE49-F238E27FC236}">
                    <a16:creationId xmlns:a16="http://schemas.microsoft.com/office/drawing/2014/main" id="{4F2AC8BF-0539-74B2-1483-61F0C0F93B1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567289" y="1701800"/>
                <a:ext cx="0" cy="4572000"/>
              </a:xfrm>
              <a:prstGeom prst="line">
                <a:avLst/>
              </a:prstGeom>
              <a:grpFill/>
              <a:ln w="50800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8" name="Straight Connector 27">
                <a:extLst>
                  <a:ext uri="{FF2B5EF4-FFF2-40B4-BE49-F238E27FC236}">
                    <a16:creationId xmlns:a16="http://schemas.microsoft.com/office/drawing/2014/main" id="{8E843F69-29D5-6F97-C5C3-A180D9EC637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980267" y="1701800"/>
                <a:ext cx="0" cy="4572000"/>
              </a:xfrm>
              <a:prstGeom prst="line">
                <a:avLst/>
              </a:prstGeom>
              <a:grpFill/>
              <a:ln w="50800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9" name="Straight Connector 28">
                <a:extLst>
                  <a:ext uri="{FF2B5EF4-FFF2-40B4-BE49-F238E27FC236}">
                    <a16:creationId xmlns:a16="http://schemas.microsoft.com/office/drawing/2014/main" id="{21068300-F9D6-6DB2-0537-36D05E74297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154311" y="1701800"/>
                <a:ext cx="0" cy="4572000"/>
              </a:xfrm>
              <a:prstGeom prst="line">
                <a:avLst/>
              </a:prstGeom>
              <a:grpFill/>
              <a:ln w="50800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6958389A-EC0D-AB65-3267-4FEC75B9FB48}"/>
                </a:ext>
              </a:extLst>
            </p:cNvPr>
            <p:cNvGrpSpPr/>
            <p:nvPr/>
          </p:nvGrpSpPr>
          <p:grpSpPr>
            <a:xfrm rot="5400000">
              <a:off x="3014133" y="1701800"/>
              <a:ext cx="3522133" cy="4572000"/>
              <a:chOff x="2980267" y="1701800"/>
              <a:chExt cx="3522133" cy="4572000"/>
            </a:xfrm>
            <a:grpFill/>
          </p:grpSpPr>
          <p:cxnSp>
            <p:nvCxnSpPr>
              <p:cNvPr id="16" name="Straight Connector 15">
                <a:extLst>
                  <a:ext uri="{FF2B5EF4-FFF2-40B4-BE49-F238E27FC236}">
                    <a16:creationId xmlns:a16="http://schemas.microsoft.com/office/drawing/2014/main" id="{7EB93441-FCAE-E9A6-5276-1EAB5778F5A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741333" y="1701800"/>
                <a:ext cx="0" cy="4572000"/>
              </a:xfrm>
              <a:prstGeom prst="line">
                <a:avLst/>
              </a:prstGeom>
              <a:grpFill/>
              <a:ln w="50800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" name="Straight Connector 16">
                <a:extLst>
                  <a:ext uri="{FF2B5EF4-FFF2-40B4-BE49-F238E27FC236}">
                    <a16:creationId xmlns:a16="http://schemas.microsoft.com/office/drawing/2014/main" id="{4C8E1B46-FA76-5D8E-CAF1-0F52431B930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915377" y="1701800"/>
                <a:ext cx="0" cy="4572000"/>
              </a:xfrm>
              <a:prstGeom prst="line">
                <a:avLst/>
              </a:prstGeom>
              <a:grpFill/>
              <a:ln w="50800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" name="Straight Connector 17">
                <a:extLst>
                  <a:ext uri="{FF2B5EF4-FFF2-40B4-BE49-F238E27FC236}">
                    <a16:creationId xmlns:a16="http://schemas.microsoft.com/office/drawing/2014/main" id="{22DE5504-DDF2-0092-C301-FCAA91AC572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328355" y="1701800"/>
                <a:ext cx="0" cy="4572000"/>
              </a:xfrm>
              <a:prstGeom prst="line">
                <a:avLst/>
              </a:prstGeom>
              <a:grpFill/>
              <a:ln w="50800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" name="Straight Connector 18">
                <a:extLst>
                  <a:ext uri="{FF2B5EF4-FFF2-40B4-BE49-F238E27FC236}">
                    <a16:creationId xmlns:a16="http://schemas.microsoft.com/office/drawing/2014/main" id="{15A26F9E-FCB9-637A-88F1-0EFEFC72AAF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502400" y="1701800"/>
                <a:ext cx="0" cy="4572000"/>
              </a:xfrm>
              <a:prstGeom prst="line">
                <a:avLst/>
              </a:prstGeom>
              <a:grpFill/>
              <a:ln w="50800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" name="Straight Connector 19">
                <a:extLst>
                  <a:ext uri="{FF2B5EF4-FFF2-40B4-BE49-F238E27FC236}">
                    <a16:creationId xmlns:a16="http://schemas.microsoft.com/office/drawing/2014/main" id="{3A2F69A8-32FA-B4FF-D611-0C23797E010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567289" y="1701800"/>
                <a:ext cx="0" cy="4572000"/>
              </a:xfrm>
              <a:prstGeom prst="line">
                <a:avLst/>
              </a:prstGeom>
              <a:grpFill/>
              <a:ln w="50800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" name="Straight Connector 20">
                <a:extLst>
                  <a:ext uri="{FF2B5EF4-FFF2-40B4-BE49-F238E27FC236}">
                    <a16:creationId xmlns:a16="http://schemas.microsoft.com/office/drawing/2014/main" id="{680D549A-3155-915C-59DC-81BC7F82DFC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980267" y="1701800"/>
                <a:ext cx="0" cy="4572000"/>
              </a:xfrm>
              <a:prstGeom prst="line">
                <a:avLst/>
              </a:prstGeom>
              <a:grpFill/>
              <a:ln w="50800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" name="Straight Connector 21">
                <a:extLst>
                  <a:ext uri="{FF2B5EF4-FFF2-40B4-BE49-F238E27FC236}">
                    <a16:creationId xmlns:a16="http://schemas.microsoft.com/office/drawing/2014/main" id="{101CC20D-69BB-10EE-65C0-CA93FF16F64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154311" y="1701800"/>
                <a:ext cx="0" cy="4572000"/>
              </a:xfrm>
              <a:prstGeom prst="line">
                <a:avLst/>
              </a:prstGeom>
              <a:grpFill/>
              <a:ln w="50800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30" name="TextBox 29">
            <a:extLst>
              <a:ext uri="{FF2B5EF4-FFF2-40B4-BE49-F238E27FC236}">
                <a16:creationId xmlns:a16="http://schemas.microsoft.com/office/drawing/2014/main" id="{23431B99-5A86-7962-CD70-7F7F1A752708}"/>
              </a:ext>
            </a:extLst>
          </p:cNvPr>
          <p:cNvSpPr txBox="1"/>
          <p:nvPr/>
        </p:nvSpPr>
        <p:spPr>
          <a:xfrm>
            <a:off x="1328873" y="3371523"/>
            <a:ext cx="70570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srgbClr val="FF0000"/>
                </a:solidFill>
              </a:rPr>
              <a:t>(</a:t>
            </a:r>
            <a:r>
              <a:rPr lang="en-US" sz="2400" dirty="0" err="1">
                <a:solidFill>
                  <a:srgbClr val="FF0000"/>
                </a:solidFill>
              </a:rPr>
              <a:t>x,y</a:t>
            </a:r>
            <a:r>
              <a:rPr lang="en-US" sz="2400" dirty="0">
                <a:solidFill>
                  <a:srgbClr val="FF0000"/>
                </a:solidFill>
              </a:rPr>
              <a:t>)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CF7AB1BC-6E33-AC1C-12D9-C78B5D5138DE}"/>
              </a:ext>
            </a:extLst>
          </p:cNvPr>
          <p:cNvSpPr txBox="1"/>
          <p:nvPr/>
        </p:nvSpPr>
        <p:spPr>
          <a:xfrm>
            <a:off x="2156952" y="3371522"/>
            <a:ext cx="34817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srgbClr val="FF0000"/>
                </a:solidFill>
              </a:rPr>
              <a:t>a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20034F06-AA61-14F8-808A-AA83387B2DD8}"/>
              </a:ext>
            </a:extLst>
          </p:cNvPr>
          <p:cNvSpPr txBox="1"/>
          <p:nvPr/>
        </p:nvSpPr>
        <p:spPr>
          <a:xfrm>
            <a:off x="2143500" y="2646617"/>
            <a:ext cx="35779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srgbClr val="FF0000"/>
                </a:solidFill>
              </a:rPr>
              <a:t>b</a:t>
            </a:r>
          </a:p>
        </p:txBody>
      </p: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6924D4D2-7635-08C6-EB59-3B38F692FD91}"/>
              </a:ext>
            </a:extLst>
          </p:cNvPr>
          <p:cNvCxnSpPr/>
          <p:nvPr/>
        </p:nvCxnSpPr>
        <p:spPr>
          <a:xfrm>
            <a:off x="1709923" y="3795935"/>
            <a:ext cx="649312" cy="0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D4D5EDF5-87E9-A2E1-101A-D754E8CB1816}"/>
              </a:ext>
            </a:extLst>
          </p:cNvPr>
          <p:cNvCxnSpPr>
            <a:cxnSpLocks/>
          </p:cNvCxnSpPr>
          <p:nvPr/>
        </p:nvCxnSpPr>
        <p:spPr>
          <a:xfrm flipV="1">
            <a:off x="2510536" y="2877449"/>
            <a:ext cx="0" cy="809028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9234219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1AEC2D-22ED-0C9F-1BBB-6AD77A915D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49300" y="195355"/>
            <a:ext cx="10515600" cy="1325563"/>
          </a:xfrm>
        </p:spPr>
        <p:txBody>
          <a:bodyPr/>
          <a:lstStyle/>
          <a:p>
            <a:r>
              <a:rPr lang="en-US" dirty="0"/>
              <a:t>2D convolution as a matrix operation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9C4DBDED-50E6-1DD6-1925-AC82F67BF7AC}"/>
                  </a:ext>
                </a:extLst>
              </p:cNvPr>
              <p:cNvSpPr txBox="1"/>
              <p:nvPr/>
            </p:nvSpPr>
            <p:spPr>
              <a:xfrm>
                <a:off x="4114800" y="2131738"/>
                <a:ext cx="892872" cy="73257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m>
                        <m:mPr>
                          <m:mcs>
                            <m:mc>
                              <m:mcPr>
                                <m:count m:val="3"/>
                                <m:mcJc m:val="center"/>
                              </m:mcPr>
                            </m:mc>
                          </m:mcs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mPr>
                        <m:mr>
                          <m:e>
                            <m:r>
                              <m:rPr>
                                <m:brk m:alnAt="7"/>
                              </m:rP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e>
                        </m:mr>
                        <m:m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4</m:t>
                            </m:r>
                          </m:e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5</m:t>
                            </m:r>
                          </m:e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6</m:t>
                            </m:r>
                          </m:e>
                        </m:mr>
                        <m:m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7</m:t>
                            </m:r>
                          </m:e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8</m:t>
                            </m:r>
                          </m:e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9</m:t>
                            </m:r>
                          </m:e>
                        </m:mr>
                      </m:m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9C4DBDED-50E6-1DD6-1925-AC82F67BF7A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14800" y="2131738"/>
                <a:ext cx="892872" cy="732573"/>
              </a:xfrm>
              <a:prstGeom prst="rect">
                <a:avLst/>
              </a:prstGeom>
              <a:blipFill>
                <a:blip r:embed="rId2"/>
                <a:stretch>
                  <a:fillRect l="-7042" t="-1724" r="-5634" b="-862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C0D73F16-E290-942C-C65C-DFCCBB64E5C4}"/>
                  </a:ext>
                </a:extLst>
              </p:cNvPr>
              <p:cNvSpPr txBox="1"/>
              <p:nvPr/>
            </p:nvSpPr>
            <p:spPr>
              <a:xfrm>
                <a:off x="838200" y="1690688"/>
                <a:ext cx="2470228" cy="161467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m>
                        <m:mPr>
                          <m:mcs>
                            <m:mc>
                              <m:mcPr>
                                <m:count m:val="6"/>
                                <m:mcJc m:val="center"/>
                              </m:mcPr>
                            </m:mc>
                          </m:mcs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mPr>
                        <m:mr>
                          <m:e>
                            <m:r>
                              <m:rPr>
                                <m:brk m:alnAt="7"/>
                              </m:rP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𝑏</m:t>
                            </m:r>
                          </m:e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𝑐</m:t>
                            </m:r>
                          </m:e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𝑑</m:t>
                            </m:r>
                          </m:e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</m:mr>
                        <m:m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𝑔</m:t>
                            </m:r>
                          </m:e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…</m:t>
                            </m:r>
                          </m:e>
                          <m:e/>
                          <m:e/>
                          <m:e/>
                        </m:mr>
                        <m:mr>
                          <m:e/>
                          <m:e/>
                          <m:e/>
                          <m:e/>
                          <m:e/>
                          <m:e/>
                        </m:mr>
                        <m:mr>
                          <m:e/>
                          <m:e/>
                          <m:e/>
                          <m:e/>
                          <m:e/>
                          <m:e/>
                        </m:mr>
                        <m:mr>
                          <m:e/>
                          <m:e/>
                          <m:e/>
                          <m:e/>
                          <m:e/>
                          <m:e/>
                        </m:mr>
                        <m:mr>
                          <m:e/>
                          <m:e/>
                          <m:e/>
                          <m:e/>
                          <m:e/>
                          <m:e/>
                        </m:mr>
                      </m:m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C0D73F16-E290-942C-C65C-DFCCBB64E5C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1690688"/>
                <a:ext cx="2470228" cy="1614673"/>
              </a:xfrm>
              <a:prstGeom prst="rect">
                <a:avLst/>
              </a:prstGeom>
              <a:blipFill>
                <a:blip r:embed="rId3"/>
                <a:stretch>
                  <a:fillRect l="-513" t="-775" r="-10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extBox 5">
            <a:extLst>
              <a:ext uri="{FF2B5EF4-FFF2-40B4-BE49-F238E27FC236}">
                <a16:creationId xmlns:a16="http://schemas.microsoft.com/office/drawing/2014/main" id="{1078A284-57B3-0CEA-4DD6-A69B1DF4CA32}"/>
              </a:ext>
            </a:extLst>
          </p:cNvPr>
          <p:cNvSpPr txBox="1"/>
          <p:nvPr/>
        </p:nvSpPr>
        <p:spPr>
          <a:xfrm>
            <a:off x="1384300" y="3644900"/>
            <a:ext cx="9669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&lt; 6 x 6 &gt;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14DDA19-3687-1BC6-AF6C-5BFB1FCE632B}"/>
              </a:ext>
            </a:extLst>
          </p:cNvPr>
          <p:cNvSpPr txBox="1"/>
          <p:nvPr/>
        </p:nvSpPr>
        <p:spPr>
          <a:xfrm>
            <a:off x="4114800" y="3624358"/>
            <a:ext cx="9669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&lt; 3 x 3 &gt;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CEFEE129-AEF6-67C6-AECC-E14994748330}"/>
                  </a:ext>
                </a:extLst>
              </p:cNvPr>
              <p:cNvSpPr txBox="1"/>
              <p:nvPr/>
            </p:nvSpPr>
            <p:spPr>
              <a:xfrm>
                <a:off x="7184330" y="2621135"/>
                <a:ext cx="1970091" cy="1003223"/>
              </a:xfrm>
              <a:prstGeom prst="rect">
                <a:avLst/>
              </a:prstGeom>
              <a:noFill/>
              <a:ln>
                <a:solidFill>
                  <a:srgbClr val="C00000"/>
                </a:solidFill>
              </a:ln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m>
                        <m:mPr>
                          <m:mcs>
                            <m:mc>
                              <m:mcPr>
                                <m:count m:val="6"/>
                                <m:mcJc m:val="center"/>
                              </m:mcPr>
                            </m:mc>
                          </m:mcs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mPr>
                        <m:mr>
                          <m:e>
                            <m:r>
                              <m:rPr>
                                <m:brk m:alnAt="7"/>
                              </m:rP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e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</m:mr>
                        <m:m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e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</m:mr>
                        <m:m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e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</m:mr>
                        <m:m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e>
                        </m:mr>
                      </m:m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CEFEE129-AEF6-67C6-AECC-E1499474833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84330" y="2621135"/>
                <a:ext cx="1970091" cy="1003223"/>
              </a:xfrm>
              <a:prstGeom prst="rect">
                <a:avLst/>
              </a:prstGeom>
              <a:blipFill>
                <a:blip r:embed="rId4"/>
                <a:stretch>
                  <a:fillRect l="-2548" r="-1911" b="-7317"/>
                </a:stretch>
              </a:blipFill>
              <a:ln>
                <a:solidFill>
                  <a:srgbClr val="C00000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617A96D6-229B-4BFF-5E85-A2EB9466EC11}"/>
                  </a:ext>
                </a:extLst>
              </p:cNvPr>
              <p:cNvSpPr txBox="1"/>
              <p:nvPr/>
            </p:nvSpPr>
            <p:spPr>
              <a:xfrm>
                <a:off x="7184330" y="3860243"/>
                <a:ext cx="1970091" cy="1008866"/>
              </a:xfrm>
              <a:prstGeom prst="rect">
                <a:avLst/>
              </a:prstGeom>
              <a:noFill/>
              <a:ln>
                <a:solidFill>
                  <a:schemeClr val="tx2">
                    <a:lumMod val="75000"/>
                    <a:lumOff val="25000"/>
                  </a:schemeClr>
                </a:solidFill>
              </a:ln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m>
                        <m:mPr>
                          <m:mcs>
                            <m:mc>
                              <m:mcPr>
                                <m:count m:val="6"/>
                                <m:mcJc m:val="center"/>
                              </m:mcPr>
                            </m:mc>
                          </m:mcs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mPr>
                        <m:mr>
                          <m:e>
                            <m:r>
                              <m:rPr>
                                <m:brk m:alnAt="7"/>
                              </m:rPr>
                              <a:rPr lang="en-US" b="0" i="1" smtClean="0">
                                <a:latin typeface="Cambria Math" panose="02040503050406030204" pitchFamily="18" charset="0"/>
                              </a:rPr>
                              <m:t>4</m:t>
                            </m:r>
                          </m:e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5</m:t>
                            </m:r>
                          </m:e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6</m:t>
                            </m:r>
                          </m:e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</m:mr>
                        <m:m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4</m:t>
                            </m:r>
                          </m:e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5</m:t>
                            </m:r>
                          </m:e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6</m:t>
                            </m:r>
                          </m:e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</m:mr>
                        <m:m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4</m:t>
                            </m:r>
                          </m:e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5</m:t>
                            </m:r>
                          </m:e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6</m:t>
                            </m:r>
                          </m:e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</m:mr>
                        <m:m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5</m:t>
                            </m:r>
                          </m:e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6</m:t>
                            </m:r>
                          </m:e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7</m:t>
                            </m:r>
                          </m:e>
                        </m:mr>
                      </m:m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617A96D6-229B-4BFF-5E85-A2EB9466EC1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84330" y="3860243"/>
                <a:ext cx="1970091" cy="1008866"/>
              </a:xfrm>
              <a:prstGeom prst="rect">
                <a:avLst/>
              </a:prstGeom>
              <a:blipFill>
                <a:blip r:embed="rId5"/>
                <a:stretch>
                  <a:fillRect l="-2548" t="-1235" r="-1911" b="-6173"/>
                </a:stretch>
              </a:blipFill>
              <a:ln>
                <a:solidFill>
                  <a:schemeClr val="tx2">
                    <a:lumMod val="75000"/>
                    <a:lumOff val="25000"/>
                  </a:schemeClr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FCCA7B4C-06B7-ED03-6E3B-673F4F76197F}"/>
                  </a:ext>
                </a:extLst>
              </p:cNvPr>
              <p:cNvSpPr txBox="1"/>
              <p:nvPr/>
            </p:nvSpPr>
            <p:spPr>
              <a:xfrm>
                <a:off x="7184330" y="5215660"/>
                <a:ext cx="1970091" cy="1003223"/>
              </a:xfrm>
              <a:prstGeom prst="rect">
                <a:avLst/>
              </a:prstGeom>
              <a:noFill/>
              <a:ln>
                <a:solidFill>
                  <a:schemeClr val="accent6"/>
                </a:solidFill>
              </a:ln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m>
                        <m:mPr>
                          <m:mcs>
                            <m:mc>
                              <m:mcPr>
                                <m:count m:val="6"/>
                                <m:mcJc m:val="center"/>
                              </m:mcPr>
                            </m:mc>
                          </m:mcs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mPr>
                        <m:mr>
                          <m:e>
                            <m:r>
                              <m:rPr>
                                <m:brk m:alnAt="7"/>
                              </m:rPr>
                              <a:rPr lang="en-US" b="0" i="1" smtClean="0">
                                <a:latin typeface="Cambria Math" panose="02040503050406030204" pitchFamily="18" charset="0"/>
                              </a:rPr>
                              <m:t>7</m:t>
                            </m:r>
                          </m:e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8</m:t>
                            </m:r>
                          </m:e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9</m:t>
                            </m:r>
                          </m:e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</m:mr>
                        <m:m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7</m:t>
                            </m:r>
                          </m:e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8</m:t>
                            </m:r>
                          </m:e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9</m:t>
                            </m:r>
                          </m:e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</m:mr>
                        <m:m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7</m:t>
                            </m:r>
                          </m:e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8</m:t>
                            </m:r>
                          </m:e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9</m:t>
                            </m:r>
                          </m:e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</m:mr>
                        <m:m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7</m:t>
                            </m:r>
                          </m:e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8</m:t>
                            </m:r>
                          </m:e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9</m:t>
                            </m:r>
                          </m:e>
                        </m:mr>
                      </m:m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FCCA7B4C-06B7-ED03-6E3B-673F4F76197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84330" y="5215660"/>
                <a:ext cx="1970091" cy="1003223"/>
              </a:xfrm>
              <a:prstGeom prst="rect">
                <a:avLst/>
              </a:prstGeom>
              <a:blipFill>
                <a:blip r:embed="rId6"/>
                <a:stretch>
                  <a:fillRect l="-2548" r="-1911" b="-7407"/>
                </a:stretch>
              </a:blipFill>
              <a:ln>
                <a:solidFill>
                  <a:schemeClr val="accent6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TextBox 10">
            <a:extLst>
              <a:ext uri="{FF2B5EF4-FFF2-40B4-BE49-F238E27FC236}">
                <a16:creationId xmlns:a16="http://schemas.microsoft.com/office/drawing/2014/main" id="{2A00D44E-E434-9749-8D6A-BEFC40FC493E}"/>
              </a:ext>
            </a:extLst>
          </p:cNvPr>
          <p:cNvSpPr txBox="1"/>
          <p:nvPr/>
        </p:nvSpPr>
        <p:spPr>
          <a:xfrm>
            <a:off x="9813408" y="2857984"/>
            <a:ext cx="271532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n = (6 – 3) +1</a:t>
            </a:r>
          </a:p>
        </p:txBody>
      </p:sp>
      <p:sp>
        <p:nvSpPr>
          <p:cNvPr id="12" name="Left Brace 11">
            <a:extLst>
              <a:ext uri="{FF2B5EF4-FFF2-40B4-BE49-F238E27FC236}">
                <a16:creationId xmlns:a16="http://schemas.microsoft.com/office/drawing/2014/main" id="{8C85F88C-6476-8A06-5AB8-457690BADCD5}"/>
              </a:ext>
            </a:extLst>
          </p:cNvPr>
          <p:cNvSpPr/>
          <p:nvPr/>
        </p:nvSpPr>
        <p:spPr>
          <a:xfrm rot="10800000">
            <a:off x="9372700" y="2680625"/>
            <a:ext cx="406400" cy="884241"/>
          </a:xfrm>
          <a:prstGeom prst="lef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4042256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1AEC2D-22ED-0C9F-1BBB-6AD77A915D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49300" y="195355"/>
            <a:ext cx="10515600" cy="1325563"/>
          </a:xfrm>
        </p:spPr>
        <p:txBody>
          <a:bodyPr/>
          <a:lstStyle/>
          <a:p>
            <a:r>
              <a:rPr lang="en-US" dirty="0"/>
              <a:t>2D convolution as a matrix operation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71CD305E-8FC6-8D2A-A965-81E932202480}"/>
                  </a:ext>
                </a:extLst>
              </p:cNvPr>
              <p:cNvSpPr txBox="1"/>
              <p:nvPr/>
            </p:nvSpPr>
            <p:spPr>
              <a:xfrm>
                <a:off x="368300" y="1720702"/>
                <a:ext cx="1750479" cy="891783"/>
              </a:xfrm>
              <a:prstGeom prst="rect">
                <a:avLst/>
              </a:prstGeom>
              <a:noFill/>
              <a:ln>
                <a:solidFill>
                  <a:srgbClr val="C00000"/>
                </a:solidFill>
              </a:ln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m>
                        <m:mPr>
                          <m:mcs>
                            <m:mc>
                              <m:mcPr>
                                <m:count m:val="6"/>
                                <m:mcJc m:val="center"/>
                              </m:mcPr>
                            </m:mc>
                          </m:mcs>
                          <m:ctrlPr>
                            <a:rPr lang="en-US" sz="1600" b="0" i="1" smtClean="0">
                              <a:latin typeface="Cambria Math" panose="02040503050406030204" pitchFamily="18" charset="0"/>
                            </a:rPr>
                          </m:ctrlPr>
                        </m:mPr>
                        <m:mr>
                          <m:e>
                            <m:r>
                              <m:rPr>
                                <m:brk m:alnAt="7"/>
                              </m:rP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</m:mr>
                        <m:mr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</m:mr>
                        <m:mr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</m:mr>
                        <m:mr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e>
                        </m:mr>
                      </m:m>
                    </m:oMath>
                  </m:oMathPara>
                </a14:m>
                <a:endParaRPr lang="en-US" sz="1600" dirty="0"/>
              </a:p>
            </p:txBody>
          </p:sp>
        </mc:Choice>
        <mc:Fallback xmlns="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71CD305E-8FC6-8D2A-A965-81E93220248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8300" y="1720702"/>
                <a:ext cx="1750479" cy="891783"/>
              </a:xfrm>
              <a:prstGeom prst="rect">
                <a:avLst/>
              </a:prstGeom>
              <a:blipFill>
                <a:blip r:embed="rId2"/>
                <a:stretch>
                  <a:fillRect l="-2143" r="-2143" b="-6849"/>
                </a:stretch>
              </a:blipFill>
              <a:ln>
                <a:solidFill>
                  <a:srgbClr val="C00000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4D01049E-6E3B-BA8F-CD0F-710A62980DBF}"/>
                  </a:ext>
                </a:extLst>
              </p:cNvPr>
              <p:cNvSpPr txBox="1"/>
              <p:nvPr/>
            </p:nvSpPr>
            <p:spPr>
              <a:xfrm>
                <a:off x="2209800" y="1732436"/>
                <a:ext cx="1750479" cy="896784"/>
              </a:xfrm>
              <a:prstGeom prst="rect">
                <a:avLst/>
              </a:prstGeom>
              <a:noFill/>
              <a:ln>
                <a:solidFill>
                  <a:schemeClr val="tx2">
                    <a:lumMod val="75000"/>
                    <a:lumOff val="25000"/>
                  </a:schemeClr>
                </a:solidFill>
              </a:ln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m>
                        <m:mPr>
                          <m:mcs>
                            <m:mc>
                              <m:mcPr>
                                <m:count m:val="6"/>
                                <m:mcJc m:val="center"/>
                              </m:mcPr>
                            </m:mc>
                          </m:mcs>
                          <m:ctrlPr>
                            <a:rPr lang="en-US" sz="1600" b="0" i="1" smtClean="0">
                              <a:latin typeface="Cambria Math" panose="02040503050406030204" pitchFamily="18" charset="0"/>
                            </a:rPr>
                          </m:ctrlPr>
                        </m:mPr>
                        <m:mr>
                          <m:e>
                            <m:r>
                              <m:rPr>
                                <m:brk m:alnAt="7"/>
                              </m:rP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4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5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6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</m:mr>
                        <m:mr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4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5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6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</m:mr>
                        <m:mr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4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5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6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</m:mr>
                        <m:mr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5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6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7</m:t>
                            </m:r>
                          </m:e>
                        </m:mr>
                      </m:m>
                    </m:oMath>
                  </m:oMathPara>
                </a14:m>
                <a:endParaRPr lang="en-US" sz="1600" dirty="0"/>
              </a:p>
            </p:txBody>
          </p:sp>
        </mc:Choice>
        <mc:Fallback xmlns="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4D01049E-6E3B-BA8F-CD0F-710A62980DB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09800" y="1732436"/>
                <a:ext cx="1750479" cy="896784"/>
              </a:xfrm>
              <a:prstGeom prst="rect">
                <a:avLst/>
              </a:prstGeom>
              <a:blipFill>
                <a:blip r:embed="rId3"/>
                <a:stretch>
                  <a:fillRect l="-2143" r="-2143" b="-6849"/>
                </a:stretch>
              </a:blipFill>
              <a:ln>
                <a:solidFill>
                  <a:schemeClr val="tx2">
                    <a:lumMod val="75000"/>
                    <a:lumOff val="25000"/>
                  </a:schemeClr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080D712E-FB5C-0353-0BE7-434BF4A82D91}"/>
                  </a:ext>
                </a:extLst>
              </p:cNvPr>
              <p:cNvSpPr txBox="1"/>
              <p:nvPr/>
            </p:nvSpPr>
            <p:spPr>
              <a:xfrm>
                <a:off x="4051300" y="1734936"/>
                <a:ext cx="1750479" cy="891783"/>
              </a:xfrm>
              <a:prstGeom prst="rect">
                <a:avLst/>
              </a:prstGeom>
              <a:noFill/>
              <a:ln>
                <a:solidFill>
                  <a:schemeClr val="accent6"/>
                </a:solidFill>
              </a:ln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m>
                        <m:mPr>
                          <m:mcs>
                            <m:mc>
                              <m:mcPr>
                                <m:count m:val="6"/>
                                <m:mcJc m:val="center"/>
                              </m:mcPr>
                            </m:mc>
                          </m:mcs>
                          <m:ctrlPr>
                            <a:rPr lang="en-US" sz="1600" b="0" i="1" smtClean="0">
                              <a:latin typeface="Cambria Math" panose="02040503050406030204" pitchFamily="18" charset="0"/>
                            </a:rPr>
                          </m:ctrlPr>
                        </m:mPr>
                        <m:mr>
                          <m:e>
                            <m:r>
                              <m:rPr>
                                <m:brk m:alnAt="7"/>
                              </m:rP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7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8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9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</m:mr>
                        <m:mr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7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8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9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</m:mr>
                        <m:mr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7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8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9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</m:mr>
                        <m:mr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7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8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9</m:t>
                            </m:r>
                          </m:e>
                        </m:mr>
                      </m:m>
                    </m:oMath>
                  </m:oMathPara>
                </a14:m>
                <a:endParaRPr lang="en-US" sz="1600" dirty="0"/>
              </a:p>
            </p:txBody>
          </p:sp>
        </mc:Choice>
        <mc:Fallback xmlns=""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080D712E-FB5C-0353-0BE7-434BF4A82D9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51300" y="1734936"/>
                <a:ext cx="1750479" cy="891783"/>
              </a:xfrm>
              <a:prstGeom prst="rect">
                <a:avLst/>
              </a:prstGeom>
              <a:blipFill>
                <a:blip r:embed="rId4"/>
                <a:stretch>
                  <a:fillRect l="-2143" r="-2143" b="-6944"/>
                </a:stretch>
              </a:blipFill>
              <a:ln>
                <a:solidFill>
                  <a:schemeClr val="accent6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90094FF6-F790-7343-C2EE-53BD72521B18}"/>
                  </a:ext>
                </a:extLst>
              </p:cNvPr>
              <p:cNvSpPr txBox="1"/>
              <p:nvPr/>
            </p:nvSpPr>
            <p:spPr>
              <a:xfrm>
                <a:off x="2209800" y="2840737"/>
                <a:ext cx="1750479" cy="891783"/>
              </a:xfrm>
              <a:prstGeom prst="rect">
                <a:avLst/>
              </a:prstGeom>
              <a:noFill/>
              <a:ln>
                <a:solidFill>
                  <a:srgbClr val="C00000"/>
                </a:solidFill>
              </a:ln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m>
                        <m:mPr>
                          <m:mcs>
                            <m:mc>
                              <m:mcPr>
                                <m:count m:val="6"/>
                                <m:mcJc m:val="center"/>
                              </m:mcPr>
                            </m:mc>
                          </m:mcs>
                          <m:ctrlPr>
                            <a:rPr lang="en-US" sz="1600" b="0" i="1" smtClean="0">
                              <a:latin typeface="Cambria Math" panose="02040503050406030204" pitchFamily="18" charset="0"/>
                            </a:rPr>
                          </m:ctrlPr>
                        </m:mPr>
                        <m:mr>
                          <m:e>
                            <m:r>
                              <m:rPr>
                                <m:brk m:alnAt="7"/>
                              </m:rP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</m:mr>
                        <m:mr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</m:mr>
                        <m:mr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</m:mr>
                        <m:mr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e>
                        </m:mr>
                      </m:m>
                    </m:oMath>
                  </m:oMathPara>
                </a14:m>
                <a:endParaRPr lang="en-US" sz="1600" dirty="0"/>
              </a:p>
            </p:txBody>
          </p:sp>
        </mc:Choice>
        <mc:Fallback xmlns=""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90094FF6-F790-7343-C2EE-53BD72521B1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09800" y="2840737"/>
                <a:ext cx="1750479" cy="891783"/>
              </a:xfrm>
              <a:prstGeom prst="rect">
                <a:avLst/>
              </a:prstGeom>
              <a:blipFill>
                <a:blip r:embed="rId5"/>
                <a:stretch>
                  <a:fillRect l="-2143" r="-2143" b="-6944"/>
                </a:stretch>
              </a:blipFill>
              <a:ln>
                <a:solidFill>
                  <a:srgbClr val="C00000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8" name="TextBox 47">
                <a:extLst>
                  <a:ext uri="{FF2B5EF4-FFF2-40B4-BE49-F238E27FC236}">
                    <a16:creationId xmlns:a16="http://schemas.microsoft.com/office/drawing/2014/main" id="{EB55414E-5E6C-1AB2-1F24-1F78BB9A70E9}"/>
                  </a:ext>
                </a:extLst>
              </p:cNvPr>
              <p:cNvSpPr txBox="1"/>
              <p:nvPr/>
            </p:nvSpPr>
            <p:spPr>
              <a:xfrm>
                <a:off x="4051300" y="2852471"/>
                <a:ext cx="1750479" cy="896784"/>
              </a:xfrm>
              <a:prstGeom prst="rect">
                <a:avLst/>
              </a:prstGeom>
              <a:noFill/>
              <a:ln>
                <a:solidFill>
                  <a:schemeClr val="tx2">
                    <a:lumMod val="75000"/>
                    <a:lumOff val="25000"/>
                  </a:schemeClr>
                </a:solidFill>
              </a:ln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m>
                        <m:mPr>
                          <m:mcs>
                            <m:mc>
                              <m:mcPr>
                                <m:count m:val="6"/>
                                <m:mcJc m:val="center"/>
                              </m:mcPr>
                            </m:mc>
                          </m:mcs>
                          <m:ctrlPr>
                            <a:rPr lang="en-US" sz="1600" b="0" i="1" smtClean="0">
                              <a:latin typeface="Cambria Math" panose="02040503050406030204" pitchFamily="18" charset="0"/>
                            </a:rPr>
                          </m:ctrlPr>
                        </m:mPr>
                        <m:mr>
                          <m:e>
                            <m:r>
                              <m:rPr>
                                <m:brk m:alnAt="7"/>
                              </m:rP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4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5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6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</m:mr>
                        <m:mr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4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5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6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</m:mr>
                        <m:mr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4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5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6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</m:mr>
                        <m:mr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5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6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7</m:t>
                            </m:r>
                          </m:e>
                        </m:mr>
                      </m:m>
                    </m:oMath>
                  </m:oMathPara>
                </a14:m>
                <a:endParaRPr lang="en-US" sz="1600" dirty="0"/>
              </a:p>
            </p:txBody>
          </p:sp>
        </mc:Choice>
        <mc:Fallback xmlns="">
          <p:sp>
            <p:nvSpPr>
              <p:cNvPr id="48" name="TextBox 47">
                <a:extLst>
                  <a:ext uri="{FF2B5EF4-FFF2-40B4-BE49-F238E27FC236}">
                    <a16:creationId xmlns:a16="http://schemas.microsoft.com/office/drawing/2014/main" id="{EB55414E-5E6C-1AB2-1F24-1F78BB9A70E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51300" y="2852471"/>
                <a:ext cx="1750479" cy="896784"/>
              </a:xfrm>
              <a:prstGeom prst="rect">
                <a:avLst/>
              </a:prstGeom>
              <a:blipFill>
                <a:blip r:embed="rId6"/>
                <a:stretch>
                  <a:fillRect l="-2143" r="-2143" b="-6944"/>
                </a:stretch>
              </a:blipFill>
              <a:ln>
                <a:solidFill>
                  <a:schemeClr val="tx2">
                    <a:lumMod val="75000"/>
                    <a:lumOff val="25000"/>
                  </a:schemeClr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E84775CE-4723-7253-EDE6-8256FD4AA3A7}"/>
                  </a:ext>
                </a:extLst>
              </p:cNvPr>
              <p:cNvSpPr txBox="1"/>
              <p:nvPr/>
            </p:nvSpPr>
            <p:spPr>
              <a:xfrm>
                <a:off x="5892800" y="2854971"/>
                <a:ext cx="1750479" cy="891783"/>
              </a:xfrm>
              <a:prstGeom prst="rect">
                <a:avLst/>
              </a:prstGeom>
              <a:noFill/>
              <a:ln>
                <a:solidFill>
                  <a:schemeClr val="accent6"/>
                </a:solidFill>
              </a:ln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m>
                        <m:mPr>
                          <m:mcs>
                            <m:mc>
                              <m:mcPr>
                                <m:count m:val="6"/>
                                <m:mcJc m:val="center"/>
                              </m:mcPr>
                            </m:mc>
                          </m:mcs>
                          <m:ctrlPr>
                            <a:rPr lang="en-US" sz="1600" b="0" i="1" smtClean="0">
                              <a:latin typeface="Cambria Math" panose="02040503050406030204" pitchFamily="18" charset="0"/>
                            </a:rPr>
                          </m:ctrlPr>
                        </m:mPr>
                        <m:mr>
                          <m:e>
                            <m:r>
                              <m:rPr>
                                <m:brk m:alnAt="7"/>
                              </m:rP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7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8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9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</m:mr>
                        <m:mr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7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8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9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</m:mr>
                        <m:mr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7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8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9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</m:mr>
                        <m:mr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7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8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9</m:t>
                            </m:r>
                          </m:e>
                        </m:mr>
                      </m:m>
                    </m:oMath>
                  </m:oMathPara>
                </a14:m>
                <a:endParaRPr lang="en-US" sz="1600" dirty="0"/>
              </a:p>
            </p:txBody>
          </p:sp>
        </mc:Choice>
        <mc:Fallback xmlns=""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E84775CE-4723-7253-EDE6-8256FD4AA3A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92800" y="2854971"/>
                <a:ext cx="1750479" cy="891783"/>
              </a:xfrm>
              <a:prstGeom prst="rect">
                <a:avLst/>
              </a:prstGeom>
              <a:blipFill>
                <a:blip r:embed="rId7"/>
                <a:stretch>
                  <a:fillRect l="-2143" r="-2143" b="-6944"/>
                </a:stretch>
              </a:blipFill>
              <a:ln>
                <a:solidFill>
                  <a:schemeClr val="accent6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59E7C084-99CF-F9FF-3248-08EF5F22EDF3}"/>
                  </a:ext>
                </a:extLst>
              </p:cNvPr>
              <p:cNvSpPr txBox="1"/>
              <p:nvPr/>
            </p:nvSpPr>
            <p:spPr>
              <a:xfrm>
                <a:off x="4051300" y="3946538"/>
                <a:ext cx="1750479" cy="891783"/>
              </a:xfrm>
              <a:prstGeom prst="rect">
                <a:avLst/>
              </a:prstGeom>
              <a:noFill/>
              <a:ln>
                <a:solidFill>
                  <a:srgbClr val="C00000"/>
                </a:solidFill>
              </a:ln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m>
                        <m:mPr>
                          <m:mcs>
                            <m:mc>
                              <m:mcPr>
                                <m:count m:val="6"/>
                                <m:mcJc m:val="center"/>
                              </m:mcPr>
                            </m:mc>
                          </m:mcs>
                          <m:ctrlPr>
                            <a:rPr lang="en-US" sz="1600" b="0" i="1" smtClean="0">
                              <a:latin typeface="Cambria Math" panose="02040503050406030204" pitchFamily="18" charset="0"/>
                            </a:rPr>
                          </m:ctrlPr>
                        </m:mPr>
                        <m:mr>
                          <m:e>
                            <m:r>
                              <m:rPr>
                                <m:brk m:alnAt="7"/>
                              </m:rP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</m:mr>
                        <m:mr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</m:mr>
                        <m:mr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</m:mr>
                        <m:mr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e>
                        </m:mr>
                      </m:m>
                    </m:oMath>
                  </m:oMathPara>
                </a14:m>
                <a:endParaRPr lang="en-US" sz="1600" dirty="0"/>
              </a:p>
            </p:txBody>
          </p:sp>
        </mc:Choice>
        <mc:Fallback xmlns=""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59E7C084-99CF-F9FF-3248-08EF5F22EDF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51300" y="3946538"/>
                <a:ext cx="1750479" cy="891783"/>
              </a:xfrm>
              <a:prstGeom prst="rect">
                <a:avLst/>
              </a:prstGeom>
              <a:blipFill>
                <a:blip r:embed="rId8"/>
                <a:stretch>
                  <a:fillRect l="-2143" r="-2143" b="-6944"/>
                </a:stretch>
              </a:blipFill>
              <a:ln>
                <a:solidFill>
                  <a:srgbClr val="C00000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12244528-09BA-ABB9-CFFD-14618D85609C}"/>
                  </a:ext>
                </a:extLst>
              </p:cNvPr>
              <p:cNvSpPr txBox="1"/>
              <p:nvPr/>
            </p:nvSpPr>
            <p:spPr>
              <a:xfrm>
                <a:off x="5892800" y="3958272"/>
                <a:ext cx="1750479" cy="896784"/>
              </a:xfrm>
              <a:prstGeom prst="rect">
                <a:avLst/>
              </a:prstGeom>
              <a:noFill/>
              <a:ln>
                <a:solidFill>
                  <a:schemeClr val="tx2">
                    <a:lumMod val="75000"/>
                    <a:lumOff val="25000"/>
                  </a:schemeClr>
                </a:solidFill>
              </a:ln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m>
                        <m:mPr>
                          <m:mcs>
                            <m:mc>
                              <m:mcPr>
                                <m:count m:val="6"/>
                                <m:mcJc m:val="center"/>
                              </m:mcPr>
                            </m:mc>
                          </m:mcs>
                          <m:ctrlPr>
                            <a:rPr lang="en-US" sz="1600" b="0" i="1" smtClean="0">
                              <a:latin typeface="Cambria Math" panose="02040503050406030204" pitchFamily="18" charset="0"/>
                            </a:rPr>
                          </m:ctrlPr>
                        </m:mPr>
                        <m:mr>
                          <m:e>
                            <m:r>
                              <m:rPr>
                                <m:brk m:alnAt="7"/>
                              </m:rP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4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5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6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</m:mr>
                        <m:mr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4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5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6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</m:mr>
                        <m:mr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4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5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6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</m:mr>
                        <m:mr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5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6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7</m:t>
                            </m:r>
                          </m:e>
                        </m:mr>
                      </m:m>
                    </m:oMath>
                  </m:oMathPara>
                </a14:m>
                <a:endParaRPr lang="en-US" sz="1600" dirty="0"/>
              </a:p>
            </p:txBody>
          </p:sp>
        </mc:Choice>
        <mc:Fallback xmlns=""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12244528-09BA-ABB9-CFFD-14618D85609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92800" y="3958272"/>
                <a:ext cx="1750479" cy="896784"/>
              </a:xfrm>
              <a:prstGeom prst="rect">
                <a:avLst/>
              </a:prstGeom>
              <a:blipFill>
                <a:blip r:embed="rId9"/>
                <a:stretch>
                  <a:fillRect l="-2143" r="-2143" b="-6944"/>
                </a:stretch>
              </a:blipFill>
              <a:ln>
                <a:solidFill>
                  <a:schemeClr val="tx2">
                    <a:lumMod val="75000"/>
                    <a:lumOff val="25000"/>
                  </a:schemeClr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4F90B6B2-05C4-3E39-7352-47CD04AF86DF}"/>
                  </a:ext>
                </a:extLst>
              </p:cNvPr>
              <p:cNvSpPr txBox="1"/>
              <p:nvPr/>
            </p:nvSpPr>
            <p:spPr>
              <a:xfrm>
                <a:off x="7734300" y="3960772"/>
                <a:ext cx="1750479" cy="891783"/>
              </a:xfrm>
              <a:prstGeom prst="rect">
                <a:avLst/>
              </a:prstGeom>
              <a:noFill/>
              <a:ln>
                <a:solidFill>
                  <a:schemeClr val="accent6"/>
                </a:solidFill>
              </a:ln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m>
                        <m:mPr>
                          <m:mcs>
                            <m:mc>
                              <m:mcPr>
                                <m:count m:val="6"/>
                                <m:mcJc m:val="center"/>
                              </m:mcPr>
                            </m:mc>
                          </m:mcs>
                          <m:ctrlPr>
                            <a:rPr lang="en-US" sz="1600" b="0" i="1" smtClean="0">
                              <a:latin typeface="Cambria Math" panose="02040503050406030204" pitchFamily="18" charset="0"/>
                            </a:rPr>
                          </m:ctrlPr>
                        </m:mPr>
                        <m:mr>
                          <m:e>
                            <m:r>
                              <m:rPr>
                                <m:brk m:alnAt="7"/>
                              </m:rP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7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8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9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</m:mr>
                        <m:mr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7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8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9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</m:mr>
                        <m:mr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7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8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9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</m:mr>
                        <m:mr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7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8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9</m:t>
                            </m:r>
                          </m:e>
                        </m:mr>
                      </m:m>
                    </m:oMath>
                  </m:oMathPara>
                </a14:m>
                <a:endParaRPr lang="en-US" sz="1600" dirty="0"/>
              </a:p>
            </p:txBody>
          </p:sp>
        </mc:Choice>
        <mc:Fallback xmlns=""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4F90B6B2-05C4-3E39-7352-47CD04AF86D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34300" y="3960772"/>
                <a:ext cx="1750479" cy="891783"/>
              </a:xfrm>
              <a:prstGeom prst="rect">
                <a:avLst/>
              </a:prstGeom>
              <a:blipFill>
                <a:blip r:embed="rId10"/>
                <a:stretch>
                  <a:fillRect l="-2143" r="-2143" b="-6944"/>
                </a:stretch>
              </a:blipFill>
              <a:ln>
                <a:solidFill>
                  <a:schemeClr val="accent6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FBF90B52-DE0A-75DB-0F04-60832C567216}"/>
                  </a:ext>
                </a:extLst>
              </p:cNvPr>
              <p:cNvSpPr txBox="1"/>
              <p:nvPr/>
            </p:nvSpPr>
            <p:spPr>
              <a:xfrm>
                <a:off x="6007100" y="5052340"/>
                <a:ext cx="1750479" cy="891783"/>
              </a:xfrm>
              <a:prstGeom prst="rect">
                <a:avLst/>
              </a:prstGeom>
              <a:noFill/>
              <a:ln>
                <a:solidFill>
                  <a:srgbClr val="C00000"/>
                </a:solidFill>
              </a:ln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m>
                        <m:mPr>
                          <m:mcs>
                            <m:mc>
                              <m:mcPr>
                                <m:count m:val="6"/>
                                <m:mcJc m:val="center"/>
                              </m:mcPr>
                            </m:mc>
                          </m:mcs>
                          <m:ctrlPr>
                            <a:rPr lang="en-US" sz="1600" b="0" i="1" smtClean="0">
                              <a:latin typeface="Cambria Math" panose="02040503050406030204" pitchFamily="18" charset="0"/>
                            </a:rPr>
                          </m:ctrlPr>
                        </m:mPr>
                        <m:mr>
                          <m:e>
                            <m:r>
                              <m:rPr>
                                <m:brk m:alnAt="7"/>
                              </m:rP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</m:mr>
                        <m:mr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</m:mr>
                        <m:mr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</m:mr>
                        <m:mr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e>
                        </m:mr>
                      </m:m>
                    </m:oMath>
                  </m:oMathPara>
                </a14:m>
                <a:endParaRPr lang="en-US" sz="1600" dirty="0"/>
              </a:p>
            </p:txBody>
          </p:sp>
        </mc:Choice>
        <mc:Fallback xmlns=""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FBF90B52-DE0A-75DB-0F04-60832C56721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07100" y="5052340"/>
                <a:ext cx="1750479" cy="891783"/>
              </a:xfrm>
              <a:prstGeom prst="rect">
                <a:avLst/>
              </a:prstGeom>
              <a:blipFill>
                <a:blip r:embed="rId11"/>
                <a:stretch>
                  <a:fillRect l="-2143" r="-2143" b="-6944"/>
                </a:stretch>
              </a:blipFill>
              <a:ln>
                <a:solidFill>
                  <a:srgbClr val="C00000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A7EC1FF4-C0D1-D0D6-D69E-0D6374C650D5}"/>
                  </a:ext>
                </a:extLst>
              </p:cNvPr>
              <p:cNvSpPr txBox="1"/>
              <p:nvPr/>
            </p:nvSpPr>
            <p:spPr>
              <a:xfrm>
                <a:off x="7848600" y="5064074"/>
                <a:ext cx="1750479" cy="896784"/>
              </a:xfrm>
              <a:prstGeom prst="rect">
                <a:avLst/>
              </a:prstGeom>
              <a:noFill/>
              <a:ln>
                <a:solidFill>
                  <a:schemeClr val="tx2">
                    <a:lumMod val="75000"/>
                    <a:lumOff val="25000"/>
                  </a:schemeClr>
                </a:solidFill>
              </a:ln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m>
                        <m:mPr>
                          <m:mcs>
                            <m:mc>
                              <m:mcPr>
                                <m:count m:val="6"/>
                                <m:mcJc m:val="center"/>
                              </m:mcPr>
                            </m:mc>
                          </m:mcs>
                          <m:ctrlPr>
                            <a:rPr lang="en-US" sz="1600" b="0" i="1" smtClean="0">
                              <a:latin typeface="Cambria Math" panose="02040503050406030204" pitchFamily="18" charset="0"/>
                            </a:rPr>
                          </m:ctrlPr>
                        </m:mPr>
                        <m:mr>
                          <m:e>
                            <m:r>
                              <m:rPr>
                                <m:brk m:alnAt="7"/>
                              </m:rP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4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5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6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</m:mr>
                        <m:mr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4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5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6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</m:mr>
                        <m:mr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4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5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6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</m:mr>
                        <m:mr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5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6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7</m:t>
                            </m:r>
                          </m:e>
                        </m:mr>
                      </m:m>
                    </m:oMath>
                  </m:oMathPara>
                </a14:m>
                <a:endParaRPr lang="en-US" sz="1600" dirty="0"/>
              </a:p>
            </p:txBody>
          </p:sp>
        </mc:Choice>
        <mc:Fallback xmlns=""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A7EC1FF4-C0D1-D0D6-D69E-0D6374C650D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48600" y="5064074"/>
                <a:ext cx="1750479" cy="896784"/>
              </a:xfrm>
              <a:prstGeom prst="rect">
                <a:avLst/>
              </a:prstGeom>
              <a:blipFill>
                <a:blip r:embed="rId12"/>
                <a:stretch>
                  <a:fillRect l="-2143" r="-2143" b="-6944"/>
                </a:stretch>
              </a:blipFill>
              <a:ln>
                <a:solidFill>
                  <a:schemeClr val="tx2">
                    <a:lumMod val="75000"/>
                    <a:lumOff val="25000"/>
                  </a:schemeClr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27767A6C-9DBC-7D73-0566-29D892CAC402}"/>
                  </a:ext>
                </a:extLst>
              </p:cNvPr>
              <p:cNvSpPr txBox="1"/>
              <p:nvPr/>
            </p:nvSpPr>
            <p:spPr>
              <a:xfrm>
                <a:off x="9690100" y="5066574"/>
                <a:ext cx="1750479" cy="891783"/>
              </a:xfrm>
              <a:prstGeom prst="rect">
                <a:avLst/>
              </a:prstGeom>
              <a:noFill/>
              <a:ln>
                <a:solidFill>
                  <a:schemeClr val="accent6"/>
                </a:solidFill>
              </a:ln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m>
                        <m:mPr>
                          <m:mcs>
                            <m:mc>
                              <m:mcPr>
                                <m:count m:val="6"/>
                                <m:mcJc m:val="center"/>
                              </m:mcPr>
                            </m:mc>
                          </m:mcs>
                          <m:ctrlPr>
                            <a:rPr lang="en-US" sz="1600" b="0" i="1" smtClean="0">
                              <a:latin typeface="Cambria Math" panose="02040503050406030204" pitchFamily="18" charset="0"/>
                            </a:rPr>
                          </m:ctrlPr>
                        </m:mPr>
                        <m:mr>
                          <m:e>
                            <m:r>
                              <m:rPr>
                                <m:brk m:alnAt="7"/>
                              </m:rP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7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8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9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</m:mr>
                        <m:mr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7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8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9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</m:mr>
                        <m:mr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7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8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9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</m:mr>
                        <m:mr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7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8</m:t>
                            </m:r>
                          </m: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9</m:t>
                            </m:r>
                          </m:e>
                        </m:mr>
                      </m:m>
                    </m:oMath>
                  </m:oMathPara>
                </a14:m>
                <a:endParaRPr lang="en-US" sz="1600" dirty="0"/>
              </a:p>
            </p:txBody>
          </p:sp>
        </mc:Choice>
        <mc:Fallback xmlns=""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27767A6C-9DBC-7D73-0566-29D892CAC40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90100" y="5066574"/>
                <a:ext cx="1750479" cy="891783"/>
              </a:xfrm>
              <a:prstGeom prst="rect">
                <a:avLst/>
              </a:prstGeom>
              <a:blipFill>
                <a:blip r:embed="rId13"/>
                <a:stretch>
                  <a:fillRect l="-2143" r="-2143" b="-6944"/>
                </a:stretch>
              </a:blipFill>
              <a:ln>
                <a:solidFill>
                  <a:schemeClr val="accent6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6" name="TextBox 55">
            <a:extLst>
              <a:ext uri="{FF2B5EF4-FFF2-40B4-BE49-F238E27FC236}">
                <a16:creationId xmlns:a16="http://schemas.microsoft.com/office/drawing/2014/main" id="{A36A51BB-FCB0-BBD0-9514-CA3B06C8B6B5}"/>
              </a:ext>
            </a:extLst>
          </p:cNvPr>
          <p:cNvSpPr txBox="1"/>
          <p:nvPr/>
        </p:nvSpPr>
        <p:spPr>
          <a:xfrm>
            <a:off x="9484779" y="1856565"/>
            <a:ext cx="925253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/>
              <a:t>= H</a:t>
            </a:r>
          </a:p>
        </p:txBody>
      </p:sp>
    </p:spTree>
    <p:extLst>
      <p:ext uri="{BB962C8B-B14F-4D97-AF65-F5344CB8AC3E}">
        <p14:creationId xmlns:p14="http://schemas.microsoft.com/office/powerpoint/2010/main" val="276372833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1AEC2D-22ED-0C9F-1BBB-6AD77A915D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49300" y="195355"/>
            <a:ext cx="10515600" cy="1325563"/>
          </a:xfrm>
        </p:spPr>
        <p:txBody>
          <a:bodyPr/>
          <a:lstStyle/>
          <a:p>
            <a:r>
              <a:rPr lang="en-US" dirty="0"/>
              <a:t>2D convolution as a matrix operation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D49D1B48-2D9F-AE5B-D605-82A622661732}"/>
                  </a:ext>
                </a:extLst>
              </p:cNvPr>
              <p:cNvSpPr txBox="1"/>
              <p:nvPr/>
            </p:nvSpPr>
            <p:spPr>
              <a:xfrm>
                <a:off x="596900" y="2068980"/>
                <a:ext cx="1219200" cy="2720040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m>
                        <m:mPr>
                          <m:mcs>
                            <m:mc>
                              <m:mcPr>
                                <m:count m:val="1"/>
                                <m:mcJc m:val="center"/>
                              </m:mcPr>
                            </m:mc>
                          </m:mcs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mPr>
                        <m:mr>
                          <m:e>
                            <m:r>
                              <m:rPr>
                                <m:brk m:alnAt="7"/>
                              </m:rP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</m:mr>
                        <m:mr>
                          <m:e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𝑏</m:t>
                            </m:r>
                          </m:e>
                        </m:mr>
                        <m:mr>
                          <m:e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𝑐</m:t>
                            </m:r>
                          </m:e>
                        </m:mr>
                        <m:mr>
                          <m:e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𝑑</m:t>
                            </m:r>
                          </m:e>
                        </m:mr>
                        <m:mr>
                          <m:e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</m:mr>
                        <m:mr>
                          <m:e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</m:mr>
                        <m:mr>
                          <m:e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𝑔</m:t>
                            </m:r>
                          </m:e>
                        </m:mr>
                        <m:mr>
                          <m:e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⋮</m:t>
                            </m:r>
                          </m:e>
                        </m:mr>
                      </m:m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D49D1B48-2D9F-AE5B-D605-82A62266173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6900" y="2068980"/>
                <a:ext cx="1219200" cy="2720040"/>
              </a:xfrm>
              <a:prstGeom prst="rect">
                <a:avLst/>
              </a:prstGeom>
              <a:blipFill>
                <a:blip r:embed="rId2"/>
                <a:stretch>
                  <a:fillRect b="-277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B707A0AE-88E0-DFD7-6BED-ED51E4C9DEE8}"/>
                  </a:ext>
                </a:extLst>
              </p:cNvPr>
              <p:cNvSpPr txBox="1"/>
              <p:nvPr/>
            </p:nvSpPr>
            <p:spPr>
              <a:xfrm>
                <a:off x="5323777" y="3146132"/>
                <a:ext cx="1922449" cy="49244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𝐻</m:t>
                      </m:r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∗</m:t>
                      </m:r>
                      <m:sSup>
                        <m:sSupPr>
                          <m:ctrlPr>
                            <a:rPr lang="en-US" sz="32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𝑔</m:t>
                          </m:r>
                        </m:e>
                        <m:sup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en-US" sz="3200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B707A0AE-88E0-DFD7-6BED-ED51E4C9DEE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23777" y="3146132"/>
                <a:ext cx="1922449" cy="492443"/>
              </a:xfrm>
              <a:prstGeom prst="rect">
                <a:avLst/>
              </a:prstGeom>
              <a:blipFill>
                <a:blip r:embed="rId3"/>
                <a:stretch>
                  <a:fillRect l="-4605" r="-1974" b="-25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TextBox 4">
            <a:extLst>
              <a:ext uri="{FF2B5EF4-FFF2-40B4-BE49-F238E27FC236}">
                <a16:creationId xmlns:a16="http://schemas.microsoft.com/office/drawing/2014/main" id="{2A5F2C10-2F0B-2AE4-FDE6-F5425263722C}"/>
              </a:ext>
            </a:extLst>
          </p:cNvPr>
          <p:cNvSpPr txBox="1"/>
          <p:nvPr/>
        </p:nvSpPr>
        <p:spPr>
          <a:xfrm>
            <a:off x="4740123" y="2093889"/>
            <a:ext cx="116730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&lt;16 x 36 &gt;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51E5DB4-2CEC-C8D3-2B62-BA9696D691BC}"/>
              </a:ext>
            </a:extLst>
          </p:cNvPr>
          <p:cNvSpPr txBox="1"/>
          <p:nvPr/>
        </p:nvSpPr>
        <p:spPr>
          <a:xfrm>
            <a:off x="5907430" y="2093889"/>
            <a:ext cx="104387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&lt;36 x 1 &gt;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6974FF80-3986-37E1-CA58-CC5DB056BB00}"/>
                  </a:ext>
                </a:extLst>
              </p:cNvPr>
              <p:cNvSpPr txBox="1"/>
              <p:nvPr/>
            </p:nvSpPr>
            <p:spPr>
              <a:xfrm>
                <a:off x="4904677" y="3983929"/>
                <a:ext cx="6096000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𝑟𝑒𝑠h𝑎𝑝𝑒</m:t>
                      </m:r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→ &lt;4 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 4&gt;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6974FF80-3986-37E1-CA58-CC5DB056BB0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04677" y="3983929"/>
                <a:ext cx="6096000" cy="461665"/>
              </a:xfrm>
              <a:prstGeom prst="rect">
                <a:avLst/>
              </a:prstGeom>
              <a:blipFill>
                <a:blip r:embed="rId4"/>
                <a:stretch>
                  <a:fillRect b="-1891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TextBox 8">
            <a:extLst>
              <a:ext uri="{FF2B5EF4-FFF2-40B4-BE49-F238E27FC236}">
                <a16:creationId xmlns:a16="http://schemas.microsoft.com/office/drawing/2014/main" id="{4520772E-8619-48AF-DFDA-0DF91C92FE60}"/>
              </a:ext>
            </a:extLst>
          </p:cNvPr>
          <p:cNvSpPr txBox="1"/>
          <p:nvPr/>
        </p:nvSpPr>
        <p:spPr>
          <a:xfrm>
            <a:off x="1353473" y="2936557"/>
            <a:ext cx="811441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/>
              <a:t>= g</a:t>
            </a:r>
          </a:p>
        </p:txBody>
      </p:sp>
    </p:spTree>
    <p:extLst>
      <p:ext uri="{BB962C8B-B14F-4D97-AF65-F5344CB8AC3E}">
        <p14:creationId xmlns:p14="http://schemas.microsoft.com/office/powerpoint/2010/main" val="122999632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82B09A46-F4CE-4944-3862-2162CF3EBB92}"/>
              </a:ext>
            </a:extLst>
          </p:cNvPr>
          <p:cNvSpPr txBox="1"/>
          <p:nvPr/>
        </p:nvSpPr>
        <p:spPr>
          <a:xfrm>
            <a:off x="520700" y="2190512"/>
            <a:ext cx="6096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/>
              <a:t>In MATLAB:   conv2(</a:t>
            </a:r>
            <a:r>
              <a:rPr lang="en-US" sz="2400" dirty="0" err="1"/>
              <a:t>B,A,'valid</a:t>
            </a:r>
            <a:r>
              <a:rPr lang="en-US" sz="2400" dirty="0"/>
              <a:t>')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A26D196-5FA6-2C71-D0C9-7BB450F2546F}"/>
              </a:ext>
            </a:extLst>
          </p:cNvPr>
          <p:cNvSpPr txBox="1"/>
          <p:nvPr/>
        </p:nvSpPr>
        <p:spPr>
          <a:xfrm>
            <a:off x="520700" y="3454400"/>
            <a:ext cx="5066515" cy="138499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H = </a:t>
            </a:r>
            <a:r>
              <a:rPr lang="en-US" sz="2800" dirty="0" err="1"/>
              <a:t>kron</a:t>
            </a:r>
            <a:r>
              <a:rPr lang="en-US" sz="2800" dirty="0"/>
              <a:t>(eye(N),reshape(A’,1,[] )</a:t>
            </a:r>
          </a:p>
          <a:p>
            <a:r>
              <a:rPr lang="en-US" sz="2800" dirty="0"/>
              <a:t>g =  reshape(B’,1,[] )</a:t>
            </a:r>
          </a:p>
          <a:p>
            <a:r>
              <a:rPr lang="en-US" sz="2800" dirty="0"/>
              <a:t>x = reshape(H*g’ , N, N )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EA7163A-0DEA-9D62-7F70-798EBC47A3AC}"/>
              </a:ext>
            </a:extLst>
          </p:cNvPr>
          <p:cNvSpPr txBox="1"/>
          <p:nvPr/>
        </p:nvSpPr>
        <p:spPr>
          <a:xfrm>
            <a:off x="7159108" y="2421344"/>
            <a:ext cx="271532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N = (6 – 3) +1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411C143-D39E-87ED-E730-09517118F1F5}"/>
              </a:ext>
            </a:extLst>
          </p:cNvPr>
          <p:cNvSpPr txBox="1"/>
          <p:nvPr/>
        </p:nvSpPr>
        <p:spPr>
          <a:xfrm>
            <a:off x="7159108" y="3051878"/>
            <a:ext cx="4791592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If you want the same size output as input image:</a:t>
            </a:r>
          </a:p>
          <a:p>
            <a:r>
              <a:rPr lang="en-US" sz="2400" dirty="0"/>
              <a:t>	N=6</a:t>
            </a:r>
          </a:p>
          <a:p>
            <a:r>
              <a:rPr lang="en-US" sz="2400" dirty="0"/>
              <a:t>	    = (8 – 3) </a:t>
            </a:r>
          </a:p>
          <a:p>
            <a:endParaRPr lang="en-US" sz="2400" dirty="0"/>
          </a:p>
          <a:p>
            <a:r>
              <a:rPr lang="en-US" sz="2400" dirty="0"/>
              <a:t>so need to pad the image to &lt;8x8&gt;	</a:t>
            </a: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A53EF508-E926-7250-7523-F656222018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49300" y="195355"/>
            <a:ext cx="10515600" cy="1325563"/>
          </a:xfrm>
        </p:spPr>
        <p:txBody>
          <a:bodyPr/>
          <a:lstStyle/>
          <a:p>
            <a:r>
              <a:rPr lang="en-US" dirty="0"/>
              <a:t>2D convolution as a matrix operation</a:t>
            </a:r>
          </a:p>
        </p:txBody>
      </p:sp>
    </p:spTree>
    <p:extLst>
      <p:ext uri="{BB962C8B-B14F-4D97-AF65-F5344CB8AC3E}">
        <p14:creationId xmlns:p14="http://schemas.microsoft.com/office/powerpoint/2010/main" val="250929060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A53EF508-E926-7250-7523-F656222018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49300" y="195355"/>
            <a:ext cx="10515600" cy="1325563"/>
          </a:xfrm>
        </p:spPr>
        <p:txBody>
          <a:bodyPr/>
          <a:lstStyle/>
          <a:p>
            <a:r>
              <a:rPr lang="en-US" dirty="0"/>
              <a:t>2D convolution as a matrix operation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06A0B17-D1DB-11B5-AE47-305F267557CF}"/>
              </a:ext>
            </a:extLst>
          </p:cNvPr>
          <p:cNvSpPr txBox="1"/>
          <p:nvPr/>
        </p:nvSpPr>
        <p:spPr>
          <a:xfrm>
            <a:off x="749300" y="1550493"/>
            <a:ext cx="8752115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kernel= </a:t>
            </a:r>
            <a:r>
              <a:rPr lang="en-US" b="0" dirty="0" err="1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np.ones</a:t>
            </a:r>
            <a:r>
              <a:rPr lang="en-US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((3,3))/9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 </a:t>
            </a:r>
          </a:p>
          <a:p>
            <a:r>
              <a:rPr lang="en-US" dirty="0" err="1">
                <a:solidFill>
                  <a:srgbClr val="000000"/>
                </a:solidFill>
                <a:highlight>
                  <a:srgbClr val="FFFFFF"/>
                </a:highlight>
                <a:latin typeface="Menlo" panose="020B0609030804020204" pitchFamily="49" charset="0"/>
              </a:rPr>
              <a:t>img_smooth</a:t>
            </a:r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  <a:latin typeface="Menlo" panose="020B060903080402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Menlo" panose="020B0609030804020204" pitchFamily="49" charset="0"/>
              </a:rPr>
              <a:t>= cv2.filter2D(img,-1,kernel)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8341799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755EBD-0C09-E7A9-2115-C67F72BB5A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Boolean (Bit-wise) operations</a:t>
            </a:r>
          </a:p>
        </p:txBody>
      </p:sp>
      <p:grpSp>
        <p:nvGrpSpPr>
          <p:cNvPr id="183" name="Group 182">
            <a:extLst>
              <a:ext uri="{FF2B5EF4-FFF2-40B4-BE49-F238E27FC236}">
                <a16:creationId xmlns:a16="http://schemas.microsoft.com/office/drawing/2014/main" id="{B15D00F1-1FD0-B500-F0AB-E17E46CACF57}"/>
              </a:ext>
            </a:extLst>
          </p:cNvPr>
          <p:cNvGrpSpPr/>
          <p:nvPr/>
        </p:nvGrpSpPr>
        <p:grpSpPr>
          <a:xfrm>
            <a:off x="457200" y="1583272"/>
            <a:ext cx="8991600" cy="1316030"/>
            <a:chOff x="457200" y="1583271"/>
            <a:chExt cx="8991600" cy="1978551"/>
          </a:xfrm>
        </p:grpSpPr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D2D106E9-009E-C787-02A1-675451DBB4AC}"/>
                </a:ext>
              </a:extLst>
            </p:cNvPr>
            <p:cNvGrpSpPr/>
            <p:nvPr/>
          </p:nvGrpSpPr>
          <p:grpSpPr>
            <a:xfrm>
              <a:off x="457200" y="1690688"/>
              <a:ext cx="2235200" cy="1871134"/>
              <a:chOff x="2489200" y="1701800"/>
              <a:chExt cx="4572000" cy="4572000"/>
            </a:xfrm>
            <a:solidFill>
              <a:schemeClr val="bg1">
                <a:alpha val="58000"/>
              </a:schemeClr>
            </a:solidFill>
          </p:grpSpPr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8629A5B9-CDA7-4E96-E30C-0E200F410859}"/>
                  </a:ext>
                </a:extLst>
              </p:cNvPr>
              <p:cNvSpPr/>
              <p:nvPr/>
            </p:nvSpPr>
            <p:spPr>
              <a:xfrm>
                <a:off x="2489200" y="1701800"/>
                <a:ext cx="4572000" cy="4572000"/>
              </a:xfrm>
              <a:prstGeom prst="rect">
                <a:avLst/>
              </a:prstGeom>
              <a:grpFill/>
              <a:ln w="508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grpSp>
            <p:nvGrpSpPr>
              <p:cNvPr id="6" name="Group 5">
                <a:extLst>
                  <a:ext uri="{FF2B5EF4-FFF2-40B4-BE49-F238E27FC236}">
                    <a16:creationId xmlns:a16="http://schemas.microsoft.com/office/drawing/2014/main" id="{58AB3344-0F56-0DB2-F744-49820A2A2ED9}"/>
                  </a:ext>
                </a:extLst>
              </p:cNvPr>
              <p:cNvGrpSpPr/>
              <p:nvPr/>
            </p:nvGrpSpPr>
            <p:grpSpPr>
              <a:xfrm>
                <a:off x="2980267" y="1701800"/>
                <a:ext cx="3522133" cy="4572000"/>
                <a:chOff x="2980267" y="1701800"/>
                <a:chExt cx="3522133" cy="4572000"/>
              </a:xfrm>
              <a:grpFill/>
            </p:grpSpPr>
            <p:cxnSp>
              <p:nvCxnSpPr>
                <p:cNvPr id="15" name="Straight Connector 14">
                  <a:extLst>
                    <a:ext uri="{FF2B5EF4-FFF2-40B4-BE49-F238E27FC236}">
                      <a16:creationId xmlns:a16="http://schemas.microsoft.com/office/drawing/2014/main" id="{90C3EF24-22B7-BA9A-0F13-2BEABC2257C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741333" y="1701800"/>
                  <a:ext cx="0" cy="4572000"/>
                </a:xfrm>
                <a:prstGeom prst="line">
                  <a:avLst/>
                </a:prstGeom>
                <a:grpFill/>
                <a:ln w="50800"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6" name="Straight Connector 15">
                  <a:extLst>
                    <a:ext uri="{FF2B5EF4-FFF2-40B4-BE49-F238E27FC236}">
                      <a16:creationId xmlns:a16="http://schemas.microsoft.com/office/drawing/2014/main" id="{D5434DE8-9EC1-A8C7-1805-14925FDB094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915377" y="1701800"/>
                  <a:ext cx="0" cy="4572000"/>
                </a:xfrm>
                <a:prstGeom prst="line">
                  <a:avLst/>
                </a:prstGeom>
                <a:grpFill/>
                <a:ln w="50800"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7" name="Straight Connector 16">
                  <a:extLst>
                    <a:ext uri="{FF2B5EF4-FFF2-40B4-BE49-F238E27FC236}">
                      <a16:creationId xmlns:a16="http://schemas.microsoft.com/office/drawing/2014/main" id="{84AE0E6A-9E8E-928C-B6D6-392697A957F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328355" y="1701800"/>
                  <a:ext cx="0" cy="4572000"/>
                </a:xfrm>
                <a:prstGeom prst="line">
                  <a:avLst/>
                </a:prstGeom>
                <a:grpFill/>
                <a:ln w="50800"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8" name="Straight Connector 17">
                  <a:extLst>
                    <a:ext uri="{FF2B5EF4-FFF2-40B4-BE49-F238E27FC236}">
                      <a16:creationId xmlns:a16="http://schemas.microsoft.com/office/drawing/2014/main" id="{F187EB9E-1218-3BA7-FB56-CEF201D5836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502400" y="1701800"/>
                  <a:ext cx="0" cy="4572000"/>
                </a:xfrm>
                <a:prstGeom prst="line">
                  <a:avLst/>
                </a:prstGeom>
                <a:grpFill/>
                <a:ln w="50800"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9" name="Straight Connector 18">
                  <a:extLst>
                    <a:ext uri="{FF2B5EF4-FFF2-40B4-BE49-F238E27FC236}">
                      <a16:creationId xmlns:a16="http://schemas.microsoft.com/office/drawing/2014/main" id="{868A5368-5B08-2996-841A-D7937A85002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567289" y="1701800"/>
                  <a:ext cx="0" cy="4572000"/>
                </a:xfrm>
                <a:prstGeom prst="line">
                  <a:avLst/>
                </a:prstGeom>
                <a:grpFill/>
                <a:ln w="50800"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0" name="Straight Connector 19">
                  <a:extLst>
                    <a:ext uri="{FF2B5EF4-FFF2-40B4-BE49-F238E27FC236}">
                      <a16:creationId xmlns:a16="http://schemas.microsoft.com/office/drawing/2014/main" id="{3ED720AC-F695-A3EE-5E73-1218E56BDD7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980267" y="1701800"/>
                  <a:ext cx="0" cy="4572000"/>
                </a:xfrm>
                <a:prstGeom prst="line">
                  <a:avLst/>
                </a:prstGeom>
                <a:grpFill/>
                <a:ln w="50800"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1" name="Straight Connector 20">
                  <a:extLst>
                    <a:ext uri="{FF2B5EF4-FFF2-40B4-BE49-F238E27FC236}">
                      <a16:creationId xmlns:a16="http://schemas.microsoft.com/office/drawing/2014/main" id="{BCFE6952-B1FB-618C-7A5F-3D8849E949E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154311" y="1701800"/>
                  <a:ext cx="0" cy="4572000"/>
                </a:xfrm>
                <a:prstGeom prst="line">
                  <a:avLst/>
                </a:prstGeom>
                <a:grpFill/>
                <a:ln w="50800"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7" name="Group 6">
                <a:extLst>
                  <a:ext uri="{FF2B5EF4-FFF2-40B4-BE49-F238E27FC236}">
                    <a16:creationId xmlns:a16="http://schemas.microsoft.com/office/drawing/2014/main" id="{608BCD47-C104-5FF0-CD3D-323CDE5A0FD5}"/>
                  </a:ext>
                </a:extLst>
              </p:cNvPr>
              <p:cNvGrpSpPr/>
              <p:nvPr/>
            </p:nvGrpSpPr>
            <p:grpSpPr>
              <a:xfrm rot="5400000">
                <a:off x="3014133" y="1701800"/>
                <a:ext cx="3522133" cy="4572000"/>
                <a:chOff x="2980267" y="1701800"/>
                <a:chExt cx="3522133" cy="4572000"/>
              </a:xfrm>
              <a:grpFill/>
            </p:grpSpPr>
            <p:cxnSp>
              <p:nvCxnSpPr>
                <p:cNvPr id="8" name="Straight Connector 7">
                  <a:extLst>
                    <a:ext uri="{FF2B5EF4-FFF2-40B4-BE49-F238E27FC236}">
                      <a16:creationId xmlns:a16="http://schemas.microsoft.com/office/drawing/2014/main" id="{AA7BE2E8-54A9-E161-6B0A-22956802B72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741333" y="1701800"/>
                  <a:ext cx="0" cy="4572000"/>
                </a:xfrm>
                <a:prstGeom prst="line">
                  <a:avLst/>
                </a:prstGeom>
                <a:grpFill/>
                <a:ln w="50800"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9" name="Straight Connector 8">
                  <a:extLst>
                    <a:ext uri="{FF2B5EF4-FFF2-40B4-BE49-F238E27FC236}">
                      <a16:creationId xmlns:a16="http://schemas.microsoft.com/office/drawing/2014/main" id="{6E005C3C-593A-B264-D446-B01A54036F6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915377" y="1701800"/>
                  <a:ext cx="0" cy="4572000"/>
                </a:xfrm>
                <a:prstGeom prst="line">
                  <a:avLst/>
                </a:prstGeom>
                <a:grpFill/>
                <a:ln w="50800"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" name="Straight Connector 9">
                  <a:extLst>
                    <a:ext uri="{FF2B5EF4-FFF2-40B4-BE49-F238E27FC236}">
                      <a16:creationId xmlns:a16="http://schemas.microsoft.com/office/drawing/2014/main" id="{D6B2B473-4BD7-EE0B-88AF-CE4D0851A2B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328355" y="1701800"/>
                  <a:ext cx="0" cy="4572000"/>
                </a:xfrm>
                <a:prstGeom prst="line">
                  <a:avLst/>
                </a:prstGeom>
                <a:grpFill/>
                <a:ln w="50800"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1" name="Straight Connector 10">
                  <a:extLst>
                    <a:ext uri="{FF2B5EF4-FFF2-40B4-BE49-F238E27FC236}">
                      <a16:creationId xmlns:a16="http://schemas.microsoft.com/office/drawing/2014/main" id="{69D5BEFD-1652-3C7D-E284-C73687D1BCF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502400" y="1701800"/>
                  <a:ext cx="0" cy="4572000"/>
                </a:xfrm>
                <a:prstGeom prst="line">
                  <a:avLst/>
                </a:prstGeom>
                <a:grpFill/>
                <a:ln w="50800"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2" name="Straight Connector 11">
                  <a:extLst>
                    <a:ext uri="{FF2B5EF4-FFF2-40B4-BE49-F238E27FC236}">
                      <a16:creationId xmlns:a16="http://schemas.microsoft.com/office/drawing/2014/main" id="{701383C3-7348-4240-958B-40F6C6F6F17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567289" y="1701800"/>
                  <a:ext cx="0" cy="4572000"/>
                </a:xfrm>
                <a:prstGeom prst="line">
                  <a:avLst/>
                </a:prstGeom>
                <a:grpFill/>
                <a:ln w="50800"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3" name="Straight Connector 12">
                  <a:extLst>
                    <a:ext uri="{FF2B5EF4-FFF2-40B4-BE49-F238E27FC236}">
                      <a16:creationId xmlns:a16="http://schemas.microsoft.com/office/drawing/2014/main" id="{BBA2777C-FDBF-86F7-9241-B9DA0C42C74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980267" y="1701800"/>
                  <a:ext cx="0" cy="4572000"/>
                </a:xfrm>
                <a:prstGeom prst="line">
                  <a:avLst/>
                </a:prstGeom>
                <a:grpFill/>
                <a:ln w="50800"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4" name="Straight Connector 13">
                  <a:extLst>
                    <a:ext uri="{FF2B5EF4-FFF2-40B4-BE49-F238E27FC236}">
                      <a16:creationId xmlns:a16="http://schemas.microsoft.com/office/drawing/2014/main" id="{1139C152-676F-A1C9-4FE3-AF1EC26D0E5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154311" y="1701800"/>
                  <a:ext cx="0" cy="4572000"/>
                </a:xfrm>
                <a:prstGeom prst="line">
                  <a:avLst/>
                </a:prstGeom>
                <a:grpFill/>
                <a:ln w="50800"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grpSp>
          <p:nvGrpSpPr>
            <p:cNvPr id="23" name="Group 22">
              <a:extLst>
                <a:ext uri="{FF2B5EF4-FFF2-40B4-BE49-F238E27FC236}">
                  <a16:creationId xmlns:a16="http://schemas.microsoft.com/office/drawing/2014/main" id="{444F7DC7-BBFF-CC60-C64C-145D4CB2B4CC}"/>
                </a:ext>
              </a:extLst>
            </p:cNvPr>
            <p:cNvGrpSpPr/>
            <p:nvPr/>
          </p:nvGrpSpPr>
          <p:grpSpPr>
            <a:xfrm>
              <a:off x="3073400" y="1690688"/>
              <a:ext cx="2235200" cy="1871134"/>
              <a:chOff x="2489200" y="1701800"/>
              <a:chExt cx="4572000" cy="4572000"/>
            </a:xfrm>
            <a:solidFill>
              <a:schemeClr val="bg1">
                <a:alpha val="58000"/>
              </a:schemeClr>
            </a:solidFill>
          </p:grpSpPr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FCB9F19E-9EF0-8BB8-5487-4C3299BF05F8}"/>
                  </a:ext>
                </a:extLst>
              </p:cNvPr>
              <p:cNvSpPr/>
              <p:nvPr/>
            </p:nvSpPr>
            <p:spPr>
              <a:xfrm>
                <a:off x="2489200" y="1701800"/>
                <a:ext cx="4572000" cy="4572000"/>
              </a:xfrm>
              <a:prstGeom prst="rect">
                <a:avLst/>
              </a:prstGeom>
              <a:grpFill/>
              <a:ln w="508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grpSp>
            <p:nvGrpSpPr>
              <p:cNvPr id="25" name="Group 24">
                <a:extLst>
                  <a:ext uri="{FF2B5EF4-FFF2-40B4-BE49-F238E27FC236}">
                    <a16:creationId xmlns:a16="http://schemas.microsoft.com/office/drawing/2014/main" id="{8AB19A56-54DA-8B69-A35B-CF7D08F3302A}"/>
                  </a:ext>
                </a:extLst>
              </p:cNvPr>
              <p:cNvGrpSpPr/>
              <p:nvPr/>
            </p:nvGrpSpPr>
            <p:grpSpPr>
              <a:xfrm>
                <a:off x="2980267" y="1701800"/>
                <a:ext cx="3522133" cy="4572000"/>
                <a:chOff x="2980267" y="1701800"/>
                <a:chExt cx="3522133" cy="4572000"/>
              </a:xfrm>
              <a:grpFill/>
            </p:grpSpPr>
            <p:cxnSp>
              <p:nvCxnSpPr>
                <p:cNvPr id="34" name="Straight Connector 33">
                  <a:extLst>
                    <a:ext uri="{FF2B5EF4-FFF2-40B4-BE49-F238E27FC236}">
                      <a16:creationId xmlns:a16="http://schemas.microsoft.com/office/drawing/2014/main" id="{1ED5005A-EDE6-56E2-0AD1-47D6699B606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741333" y="1701800"/>
                  <a:ext cx="0" cy="4572000"/>
                </a:xfrm>
                <a:prstGeom prst="line">
                  <a:avLst/>
                </a:prstGeom>
                <a:grpFill/>
                <a:ln w="50800"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5" name="Straight Connector 34">
                  <a:extLst>
                    <a:ext uri="{FF2B5EF4-FFF2-40B4-BE49-F238E27FC236}">
                      <a16:creationId xmlns:a16="http://schemas.microsoft.com/office/drawing/2014/main" id="{EAEE7D0B-33D8-6A33-0279-F6F210D0D45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915377" y="1701800"/>
                  <a:ext cx="0" cy="4572000"/>
                </a:xfrm>
                <a:prstGeom prst="line">
                  <a:avLst/>
                </a:prstGeom>
                <a:grpFill/>
                <a:ln w="50800"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6" name="Straight Connector 35">
                  <a:extLst>
                    <a:ext uri="{FF2B5EF4-FFF2-40B4-BE49-F238E27FC236}">
                      <a16:creationId xmlns:a16="http://schemas.microsoft.com/office/drawing/2014/main" id="{6CF46C7E-BBA3-8D02-C1EE-6DAB0CAED3F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328355" y="1701800"/>
                  <a:ext cx="0" cy="4572000"/>
                </a:xfrm>
                <a:prstGeom prst="line">
                  <a:avLst/>
                </a:prstGeom>
                <a:grpFill/>
                <a:ln w="50800"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7" name="Straight Connector 36">
                  <a:extLst>
                    <a:ext uri="{FF2B5EF4-FFF2-40B4-BE49-F238E27FC236}">
                      <a16:creationId xmlns:a16="http://schemas.microsoft.com/office/drawing/2014/main" id="{A0B624F6-5F80-6B58-8E2F-4B2E919D30E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502400" y="1701800"/>
                  <a:ext cx="0" cy="4572000"/>
                </a:xfrm>
                <a:prstGeom prst="line">
                  <a:avLst/>
                </a:prstGeom>
                <a:grpFill/>
                <a:ln w="50800"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8" name="Straight Connector 37">
                  <a:extLst>
                    <a:ext uri="{FF2B5EF4-FFF2-40B4-BE49-F238E27FC236}">
                      <a16:creationId xmlns:a16="http://schemas.microsoft.com/office/drawing/2014/main" id="{05EF31BF-F45C-B0C3-A43E-9A9BCB1A708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567289" y="1701800"/>
                  <a:ext cx="0" cy="4572000"/>
                </a:xfrm>
                <a:prstGeom prst="line">
                  <a:avLst/>
                </a:prstGeom>
                <a:grpFill/>
                <a:ln w="50800"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9" name="Straight Connector 38">
                  <a:extLst>
                    <a:ext uri="{FF2B5EF4-FFF2-40B4-BE49-F238E27FC236}">
                      <a16:creationId xmlns:a16="http://schemas.microsoft.com/office/drawing/2014/main" id="{3A71331B-F492-6C1D-4F97-F2021AA5DA7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980267" y="1701800"/>
                  <a:ext cx="0" cy="4572000"/>
                </a:xfrm>
                <a:prstGeom prst="line">
                  <a:avLst/>
                </a:prstGeom>
                <a:grpFill/>
                <a:ln w="50800"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0" name="Straight Connector 39">
                  <a:extLst>
                    <a:ext uri="{FF2B5EF4-FFF2-40B4-BE49-F238E27FC236}">
                      <a16:creationId xmlns:a16="http://schemas.microsoft.com/office/drawing/2014/main" id="{D1907685-B8A8-B413-25C8-B8CB40250F3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154311" y="1701800"/>
                  <a:ext cx="0" cy="4572000"/>
                </a:xfrm>
                <a:prstGeom prst="line">
                  <a:avLst/>
                </a:prstGeom>
                <a:grpFill/>
                <a:ln w="50800"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26" name="Group 25">
                <a:extLst>
                  <a:ext uri="{FF2B5EF4-FFF2-40B4-BE49-F238E27FC236}">
                    <a16:creationId xmlns:a16="http://schemas.microsoft.com/office/drawing/2014/main" id="{B17E3022-0618-2EE9-7D34-48735945A4B8}"/>
                  </a:ext>
                </a:extLst>
              </p:cNvPr>
              <p:cNvGrpSpPr/>
              <p:nvPr/>
            </p:nvGrpSpPr>
            <p:grpSpPr>
              <a:xfrm rot="5400000">
                <a:off x="3014133" y="1701800"/>
                <a:ext cx="3522133" cy="4572000"/>
                <a:chOff x="2980267" y="1701800"/>
                <a:chExt cx="3522133" cy="4572000"/>
              </a:xfrm>
              <a:grpFill/>
            </p:grpSpPr>
            <p:cxnSp>
              <p:nvCxnSpPr>
                <p:cNvPr id="27" name="Straight Connector 26">
                  <a:extLst>
                    <a:ext uri="{FF2B5EF4-FFF2-40B4-BE49-F238E27FC236}">
                      <a16:creationId xmlns:a16="http://schemas.microsoft.com/office/drawing/2014/main" id="{929C9D62-C8BD-47B9-197C-15F21244453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741333" y="1701800"/>
                  <a:ext cx="0" cy="4572000"/>
                </a:xfrm>
                <a:prstGeom prst="line">
                  <a:avLst/>
                </a:prstGeom>
                <a:grpFill/>
                <a:ln w="50800"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8" name="Straight Connector 27">
                  <a:extLst>
                    <a:ext uri="{FF2B5EF4-FFF2-40B4-BE49-F238E27FC236}">
                      <a16:creationId xmlns:a16="http://schemas.microsoft.com/office/drawing/2014/main" id="{5C239BDC-0ACA-5FD1-0F7A-8C03CA6E3CD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915377" y="1701800"/>
                  <a:ext cx="0" cy="4572000"/>
                </a:xfrm>
                <a:prstGeom prst="line">
                  <a:avLst/>
                </a:prstGeom>
                <a:grpFill/>
                <a:ln w="50800"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9" name="Straight Connector 28">
                  <a:extLst>
                    <a:ext uri="{FF2B5EF4-FFF2-40B4-BE49-F238E27FC236}">
                      <a16:creationId xmlns:a16="http://schemas.microsoft.com/office/drawing/2014/main" id="{CC38BF96-0105-A055-1ECF-33DBAE89444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328355" y="1701800"/>
                  <a:ext cx="0" cy="4572000"/>
                </a:xfrm>
                <a:prstGeom prst="line">
                  <a:avLst/>
                </a:prstGeom>
                <a:grpFill/>
                <a:ln w="50800"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0" name="Straight Connector 29">
                  <a:extLst>
                    <a:ext uri="{FF2B5EF4-FFF2-40B4-BE49-F238E27FC236}">
                      <a16:creationId xmlns:a16="http://schemas.microsoft.com/office/drawing/2014/main" id="{C2F6AC99-183A-D033-3FB8-9A211C3B66D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502400" y="1701800"/>
                  <a:ext cx="0" cy="4572000"/>
                </a:xfrm>
                <a:prstGeom prst="line">
                  <a:avLst/>
                </a:prstGeom>
                <a:grpFill/>
                <a:ln w="50800"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1" name="Straight Connector 30">
                  <a:extLst>
                    <a:ext uri="{FF2B5EF4-FFF2-40B4-BE49-F238E27FC236}">
                      <a16:creationId xmlns:a16="http://schemas.microsoft.com/office/drawing/2014/main" id="{55B050EA-AD51-0D9B-A7F9-F76A2B9EB49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567289" y="1701800"/>
                  <a:ext cx="0" cy="4572000"/>
                </a:xfrm>
                <a:prstGeom prst="line">
                  <a:avLst/>
                </a:prstGeom>
                <a:grpFill/>
                <a:ln w="50800"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2" name="Straight Connector 31">
                  <a:extLst>
                    <a:ext uri="{FF2B5EF4-FFF2-40B4-BE49-F238E27FC236}">
                      <a16:creationId xmlns:a16="http://schemas.microsoft.com/office/drawing/2014/main" id="{99F855EF-E948-6AAE-7EBA-D43E7743D51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980267" y="1701800"/>
                  <a:ext cx="0" cy="4572000"/>
                </a:xfrm>
                <a:prstGeom prst="line">
                  <a:avLst/>
                </a:prstGeom>
                <a:grpFill/>
                <a:ln w="50800"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3" name="Straight Connector 32">
                  <a:extLst>
                    <a:ext uri="{FF2B5EF4-FFF2-40B4-BE49-F238E27FC236}">
                      <a16:creationId xmlns:a16="http://schemas.microsoft.com/office/drawing/2014/main" id="{4A4E757A-61C3-E7DD-0D08-EBF53C958A4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154311" y="1701800"/>
                  <a:ext cx="0" cy="4572000"/>
                </a:xfrm>
                <a:prstGeom prst="line">
                  <a:avLst/>
                </a:prstGeom>
                <a:grpFill/>
                <a:ln w="50800"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grpSp>
          <p:nvGrpSpPr>
            <p:cNvPr id="41" name="Group 40">
              <a:extLst>
                <a:ext uri="{FF2B5EF4-FFF2-40B4-BE49-F238E27FC236}">
                  <a16:creationId xmlns:a16="http://schemas.microsoft.com/office/drawing/2014/main" id="{07EEBF90-F106-F099-2761-37720F1E7976}"/>
                </a:ext>
              </a:extLst>
            </p:cNvPr>
            <p:cNvGrpSpPr/>
            <p:nvPr/>
          </p:nvGrpSpPr>
          <p:grpSpPr>
            <a:xfrm>
              <a:off x="7213600" y="1583271"/>
              <a:ext cx="2235200" cy="1871134"/>
              <a:chOff x="2489200" y="1701800"/>
              <a:chExt cx="4572000" cy="4572000"/>
            </a:xfrm>
            <a:solidFill>
              <a:schemeClr val="bg1">
                <a:alpha val="58000"/>
              </a:schemeClr>
            </a:solidFill>
          </p:grpSpPr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4A81F3DB-0DB1-49E6-9AC7-1BE2B029C0E6}"/>
                  </a:ext>
                </a:extLst>
              </p:cNvPr>
              <p:cNvSpPr/>
              <p:nvPr/>
            </p:nvSpPr>
            <p:spPr>
              <a:xfrm>
                <a:off x="2489200" y="1701800"/>
                <a:ext cx="4572000" cy="4572000"/>
              </a:xfrm>
              <a:prstGeom prst="rect">
                <a:avLst/>
              </a:prstGeom>
              <a:grpFill/>
              <a:ln w="508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grpSp>
            <p:nvGrpSpPr>
              <p:cNvPr id="43" name="Group 42">
                <a:extLst>
                  <a:ext uri="{FF2B5EF4-FFF2-40B4-BE49-F238E27FC236}">
                    <a16:creationId xmlns:a16="http://schemas.microsoft.com/office/drawing/2014/main" id="{6A3EC77B-2486-F7A7-73EF-0E1C526D83A3}"/>
                  </a:ext>
                </a:extLst>
              </p:cNvPr>
              <p:cNvGrpSpPr/>
              <p:nvPr/>
            </p:nvGrpSpPr>
            <p:grpSpPr>
              <a:xfrm>
                <a:off x="2980267" y="1701800"/>
                <a:ext cx="3522133" cy="4572000"/>
                <a:chOff x="2980267" y="1701800"/>
                <a:chExt cx="3522133" cy="4572000"/>
              </a:xfrm>
              <a:grpFill/>
            </p:grpSpPr>
            <p:cxnSp>
              <p:nvCxnSpPr>
                <p:cNvPr id="52" name="Straight Connector 51">
                  <a:extLst>
                    <a:ext uri="{FF2B5EF4-FFF2-40B4-BE49-F238E27FC236}">
                      <a16:creationId xmlns:a16="http://schemas.microsoft.com/office/drawing/2014/main" id="{5BF1A238-AE91-9A12-DC23-FE8396F827C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741333" y="1701800"/>
                  <a:ext cx="0" cy="4572000"/>
                </a:xfrm>
                <a:prstGeom prst="line">
                  <a:avLst/>
                </a:prstGeom>
                <a:grpFill/>
                <a:ln w="50800"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3" name="Straight Connector 52">
                  <a:extLst>
                    <a:ext uri="{FF2B5EF4-FFF2-40B4-BE49-F238E27FC236}">
                      <a16:creationId xmlns:a16="http://schemas.microsoft.com/office/drawing/2014/main" id="{53B1269C-2B04-2DCD-CE90-B440DDD0BF9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915377" y="1701800"/>
                  <a:ext cx="0" cy="4572000"/>
                </a:xfrm>
                <a:prstGeom prst="line">
                  <a:avLst/>
                </a:prstGeom>
                <a:grpFill/>
                <a:ln w="50800"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4" name="Straight Connector 53">
                  <a:extLst>
                    <a:ext uri="{FF2B5EF4-FFF2-40B4-BE49-F238E27FC236}">
                      <a16:creationId xmlns:a16="http://schemas.microsoft.com/office/drawing/2014/main" id="{FACFA678-302F-187A-91CA-AC8F3280A29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328355" y="1701800"/>
                  <a:ext cx="0" cy="4572000"/>
                </a:xfrm>
                <a:prstGeom prst="line">
                  <a:avLst/>
                </a:prstGeom>
                <a:grpFill/>
                <a:ln w="50800"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5" name="Straight Connector 54">
                  <a:extLst>
                    <a:ext uri="{FF2B5EF4-FFF2-40B4-BE49-F238E27FC236}">
                      <a16:creationId xmlns:a16="http://schemas.microsoft.com/office/drawing/2014/main" id="{79F8CDB6-5972-A43E-9D0F-93A33C4ADEB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502400" y="1701800"/>
                  <a:ext cx="0" cy="4572000"/>
                </a:xfrm>
                <a:prstGeom prst="line">
                  <a:avLst/>
                </a:prstGeom>
                <a:grpFill/>
                <a:ln w="50800"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6" name="Straight Connector 55">
                  <a:extLst>
                    <a:ext uri="{FF2B5EF4-FFF2-40B4-BE49-F238E27FC236}">
                      <a16:creationId xmlns:a16="http://schemas.microsoft.com/office/drawing/2014/main" id="{27BD7802-7F3D-4DA3-6D91-F9A9B4E1077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567289" y="1701800"/>
                  <a:ext cx="0" cy="4572000"/>
                </a:xfrm>
                <a:prstGeom prst="line">
                  <a:avLst/>
                </a:prstGeom>
                <a:grpFill/>
                <a:ln w="50800"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7" name="Straight Connector 56">
                  <a:extLst>
                    <a:ext uri="{FF2B5EF4-FFF2-40B4-BE49-F238E27FC236}">
                      <a16:creationId xmlns:a16="http://schemas.microsoft.com/office/drawing/2014/main" id="{0938EFE9-0725-FBED-E55E-679D31AF3DF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980267" y="1701800"/>
                  <a:ext cx="0" cy="4572000"/>
                </a:xfrm>
                <a:prstGeom prst="line">
                  <a:avLst/>
                </a:prstGeom>
                <a:grpFill/>
                <a:ln w="50800"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8" name="Straight Connector 57">
                  <a:extLst>
                    <a:ext uri="{FF2B5EF4-FFF2-40B4-BE49-F238E27FC236}">
                      <a16:creationId xmlns:a16="http://schemas.microsoft.com/office/drawing/2014/main" id="{4A4CD4C5-C83B-2589-AB62-6CC2BD12FFB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154311" y="1701800"/>
                  <a:ext cx="0" cy="4572000"/>
                </a:xfrm>
                <a:prstGeom prst="line">
                  <a:avLst/>
                </a:prstGeom>
                <a:grpFill/>
                <a:ln w="50800"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44" name="Group 43">
                <a:extLst>
                  <a:ext uri="{FF2B5EF4-FFF2-40B4-BE49-F238E27FC236}">
                    <a16:creationId xmlns:a16="http://schemas.microsoft.com/office/drawing/2014/main" id="{CAE7A002-F0E6-562A-A44B-A2D4A41A61C1}"/>
                  </a:ext>
                </a:extLst>
              </p:cNvPr>
              <p:cNvGrpSpPr/>
              <p:nvPr/>
            </p:nvGrpSpPr>
            <p:grpSpPr>
              <a:xfrm rot="5400000">
                <a:off x="3014133" y="1701800"/>
                <a:ext cx="3522133" cy="4572000"/>
                <a:chOff x="2980267" y="1701800"/>
                <a:chExt cx="3522133" cy="4572000"/>
              </a:xfrm>
              <a:grpFill/>
            </p:grpSpPr>
            <p:cxnSp>
              <p:nvCxnSpPr>
                <p:cNvPr id="45" name="Straight Connector 44">
                  <a:extLst>
                    <a:ext uri="{FF2B5EF4-FFF2-40B4-BE49-F238E27FC236}">
                      <a16:creationId xmlns:a16="http://schemas.microsoft.com/office/drawing/2014/main" id="{FE64FE06-AF1E-6467-DEDC-95DACDB412D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741333" y="1701800"/>
                  <a:ext cx="0" cy="4572000"/>
                </a:xfrm>
                <a:prstGeom prst="line">
                  <a:avLst/>
                </a:prstGeom>
                <a:grpFill/>
                <a:ln w="50800"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6" name="Straight Connector 45">
                  <a:extLst>
                    <a:ext uri="{FF2B5EF4-FFF2-40B4-BE49-F238E27FC236}">
                      <a16:creationId xmlns:a16="http://schemas.microsoft.com/office/drawing/2014/main" id="{52D3CB9D-20A3-4C6B-D9A0-2959D92D896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915377" y="1701800"/>
                  <a:ext cx="0" cy="4572000"/>
                </a:xfrm>
                <a:prstGeom prst="line">
                  <a:avLst/>
                </a:prstGeom>
                <a:grpFill/>
                <a:ln w="50800"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7" name="Straight Connector 46">
                  <a:extLst>
                    <a:ext uri="{FF2B5EF4-FFF2-40B4-BE49-F238E27FC236}">
                      <a16:creationId xmlns:a16="http://schemas.microsoft.com/office/drawing/2014/main" id="{23C06A88-0D09-455C-2884-AB05CABB319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328355" y="1701800"/>
                  <a:ext cx="0" cy="4572000"/>
                </a:xfrm>
                <a:prstGeom prst="line">
                  <a:avLst/>
                </a:prstGeom>
                <a:grpFill/>
                <a:ln w="50800"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8" name="Straight Connector 47">
                  <a:extLst>
                    <a:ext uri="{FF2B5EF4-FFF2-40B4-BE49-F238E27FC236}">
                      <a16:creationId xmlns:a16="http://schemas.microsoft.com/office/drawing/2014/main" id="{15B688A1-BBBA-D99B-5752-68382306290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502400" y="1701800"/>
                  <a:ext cx="0" cy="4572000"/>
                </a:xfrm>
                <a:prstGeom prst="line">
                  <a:avLst/>
                </a:prstGeom>
                <a:grpFill/>
                <a:ln w="50800"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9" name="Straight Connector 48">
                  <a:extLst>
                    <a:ext uri="{FF2B5EF4-FFF2-40B4-BE49-F238E27FC236}">
                      <a16:creationId xmlns:a16="http://schemas.microsoft.com/office/drawing/2014/main" id="{9D938E43-A30F-94F8-133B-19626D92CCF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567289" y="1701800"/>
                  <a:ext cx="0" cy="4572000"/>
                </a:xfrm>
                <a:prstGeom prst="line">
                  <a:avLst/>
                </a:prstGeom>
                <a:grpFill/>
                <a:ln w="50800"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0" name="Straight Connector 49">
                  <a:extLst>
                    <a:ext uri="{FF2B5EF4-FFF2-40B4-BE49-F238E27FC236}">
                      <a16:creationId xmlns:a16="http://schemas.microsoft.com/office/drawing/2014/main" id="{2FDB322D-E31E-C344-98BA-9534BBF0B02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980267" y="1701800"/>
                  <a:ext cx="0" cy="4572000"/>
                </a:xfrm>
                <a:prstGeom prst="line">
                  <a:avLst/>
                </a:prstGeom>
                <a:grpFill/>
                <a:ln w="50800"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1" name="Straight Connector 50">
                  <a:extLst>
                    <a:ext uri="{FF2B5EF4-FFF2-40B4-BE49-F238E27FC236}">
                      <a16:creationId xmlns:a16="http://schemas.microsoft.com/office/drawing/2014/main" id="{95520E08-88A6-1FBF-B5BD-E25200ADDCF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154311" y="1701800"/>
                  <a:ext cx="0" cy="4572000"/>
                </a:xfrm>
                <a:prstGeom prst="line">
                  <a:avLst/>
                </a:prstGeom>
                <a:grpFill/>
                <a:ln w="50800"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sp>
          <p:nvSpPr>
            <p:cNvPr id="59" name="Rectangle 58">
              <a:extLst>
                <a:ext uri="{FF2B5EF4-FFF2-40B4-BE49-F238E27FC236}">
                  <a16:creationId xmlns:a16="http://schemas.microsoft.com/office/drawing/2014/main" id="{8BC6FF7D-F135-84B0-A0C5-8CE1DEBB823E}"/>
                </a:ext>
              </a:extLst>
            </p:cNvPr>
            <p:cNvSpPr/>
            <p:nvPr/>
          </p:nvSpPr>
          <p:spPr>
            <a:xfrm>
              <a:off x="1271254" y="1690688"/>
              <a:ext cx="573977" cy="1871134"/>
            </a:xfrm>
            <a:prstGeom prst="rect">
              <a:avLst/>
            </a:prstGeom>
            <a:solidFill>
              <a:schemeClr val="tx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0" name="Rectangle 59">
              <a:extLst>
                <a:ext uri="{FF2B5EF4-FFF2-40B4-BE49-F238E27FC236}">
                  <a16:creationId xmlns:a16="http://schemas.microsoft.com/office/drawing/2014/main" id="{D41F7D39-796F-934C-C157-D061C796080B}"/>
                </a:ext>
              </a:extLst>
            </p:cNvPr>
            <p:cNvSpPr/>
            <p:nvPr/>
          </p:nvSpPr>
          <p:spPr>
            <a:xfrm rot="5400000">
              <a:off x="3932273" y="1519328"/>
              <a:ext cx="459125" cy="2235199"/>
            </a:xfrm>
            <a:prstGeom prst="rect">
              <a:avLst/>
            </a:prstGeom>
            <a:solidFill>
              <a:schemeClr val="tx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1" name="Rectangle 60">
              <a:extLst>
                <a:ext uri="{FF2B5EF4-FFF2-40B4-BE49-F238E27FC236}">
                  <a16:creationId xmlns:a16="http://schemas.microsoft.com/office/drawing/2014/main" id="{250CF36A-CBAC-6F19-88F4-08BD3B276A59}"/>
                </a:ext>
              </a:extLst>
            </p:cNvPr>
            <p:cNvSpPr/>
            <p:nvPr/>
          </p:nvSpPr>
          <p:spPr>
            <a:xfrm rot="5400000">
              <a:off x="8091595" y="2238377"/>
              <a:ext cx="459125" cy="560921"/>
            </a:xfrm>
            <a:prstGeom prst="rect">
              <a:avLst/>
            </a:prstGeom>
            <a:solidFill>
              <a:schemeClr val="tx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82" name="Group 181">
            <a:extLst>
              <a:ext uri="{FF2B5EF4-FFF2-40B4-BE49-F238E27FC236}">
                <a16:creationId xmlns:a16="http://schemas.microsoft.com/office/drawing/2014/main" id="{88CAE059-562E-7D19-E910-B83FECEB31B9}"/>
              </a:ext>
            </a:extLst>
          </p:cNvPr>
          <p:cNvGrpSpPr/>
          <p:nvPr/>
        </p:nvGrpSpPr>
        <p:grpSpPr>
          <a:xfrm>
            <a:off x="441019" y="3177290"/>
            <a:ext cx="8991600" cy="1475142"/>
            <a:chOff x="534654" y="4274083"/>
            <a:chExt cx="8991600" cy="1978551"/>
          </a:xfrm>
        </p:grpSpPr>
        <p:grpSp>
          <p:nvGrpSpPr>
            <p:cNvPr id="62" name="Group 61">
              <a:extLst>
                <a:ext uri="{FF2B5EF4-FFF2-40B4-BE49-F238E27FC236}">
                  <a16:creationId xmlns:a16="http://schemas.microsoft.com/office/drawing/2014/main" id="{FE685023-8579-8343-252C-DCC4C53BA2F5}"/>
                </a:ext>
              </a:extLst>
            </p:cNvPr>
            <p:cNvGrpSpPr/>
            <p:nvPr/>
          </p:nvGrpSpPr>
          <p:grpSpPr>
            <a:xfrm>
              <a:off x="534654" y="4381500"/>
              <a:ext cx="2235200" cy="1871134"/>
              <a:chOff x="2489200" y="1701800"/>
              <a:chExt cx="4572000" cy="4572000"/>
            </a:xfrm>
            <a:solidFill>
              <a:schemeClr val="bg1">
                <a:alpha val="58000"/>
              </a:schemeClr>
            </a:solidFill>
          </p:grpSpPr>
          <p:sp>
            <p:nvSpPr>
              <p:cNvPr id="63" name="Rectangle 62">
                <a:extLst>
                  <a:ext uri="{FF2B5EF4-FFF2-40B4-BE49-F238E27FC236}">
                    <a16:creationId xmlns:a16="http://schemas.microsoft.com/office/drawing/2014/main" id="{C7D36D31-0928-F7F0-69CD-391F80231B62}"/>
                  </a:ext>
                </a:extLst>
              </p:cNvPr>
              <p:cNvSpPr/>
              <p:nvPr/>
            </p:nvSpPr>
            <p:spPr>
              <a:xfrm>
                <a:off x="2489200" y="1701800"/>
                <a:ext cx="4572000" cy="4572000"/>
              </a:xfrm>
              <a:prstGeom prst="rect">
                <a:avLst/>
              </a:prstGeom>
              <a:grpFill/>
              <a:ln w="508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grpSp>
            <p:nvGrpSpPr>
              <p:cNvPr id="64" name="Group 63">
                <a:extLst>
                  <a:ext uri="{FF2B5EF4-FFF2-40B4-BE49-F238E27FC236}">
                    <a16:creationId xmlns:a16="http://schemas.microsoft.com/office/drawing/2014/main" id="{32F5C089-2559-078B-DB0D-E3315A705053}"/>
                  </a:ext>
                </a:extLst>
              </p:cNvPr>
              <p:cNvGrpSpPr/>
              <p:nvPr/>
            </p:nvGrpSpPr>
            <p:grpSpPr>
              <a:xfrm>
                <a:off x="2980267" y="1701800"/>
                <a:ext cx="3522133" cy="4572000"/>
                <a:chOff x="2980267" y="1701800"/>
                <a:chExt cx="3522133" cy="4572000"/>
              </a:xfrm>
              <a:grpFill/>
            </p:grpSpPr>
            <p:cxnSp>
              <p:nvCxnSpPr>
                <p:cNvPr id="73" name="Straight Connector 72">
                  <a:extLst>
                    <a:ext uri="{FF2B5EF4-FFF2-40B4-BE49-F238E27FC236}">
                      <a16:creationId xmlns:a16="http://schemas.microsoft.com/office/drawing/2014/main" id="{30286C27-08B6-644B-2688-9F9CE3D7942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741333" y="1701800"/>
                  <a:ext cx="0" cy="4572000"/>
                </a:xfrm>
                <a:prstGeom prst="line">
                  <a:avLst/>
                </a:prstGeom>
                <a:grpFill/>
                <a:ln w="50800"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74" name="Straight Connector 73">
                  <a:extLst>
                    <a:ext uri="{FF2B5EF4-FFF2-40B4-BE49-F238E27FC236}">
                      <a16:creationId xmlns:a16="http://schemas.microsoft.com/office/drawing/2014/main" id="{9375528C-102E-4FE3-51D4-D56FB6D678B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915377" y="1701800"/>
                  <a:ext cx="0" cy="4572000"/>
                </a:xfrm>
                <a:prstGeom prst="line">
                  <a:avLst/>
                </a:prstGeom>
                <a:grpFill/>
                <a:ln w="50800"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75" name="Straight Connector 74">
                  <a:extLst>
                    <a:ext uri="{FF2B5EF4-FFF2-40B4-BE49-F238E27FC236}">
                      <a16:creationId xmlns:a16="http://schemas.microsoft.com/office/drawing/2014/main" id="{E654966A-88AB-76AF-A570-179F79C615E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328355" y="1701800"/>
                  <a:ext cx="0" cy="4572000"/>
                </a:xfrm>
                <a:prstGeom prst="line">
                  <a:avLst/>
                </a:prstGeom>
                <a:grpFill/>
                <a:ln w="50800"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76" name="Straight Connector 75">
                  <a:extLst>
                    <a:ext uri="{FF2B5EF4-FFF2-40B4-BE49-F238E27FC236}">
                      <a16:creationId xmlns:a16="http://schemas.microsoft.com/office/drawing/2014/main" id="{6E4DB3D3-A870-F0CF-8A0B-1DC26FA19D7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502400" y="1701800"/>
                  <a:ext cx="0" cy="4572000"/>
                </a:xfrm>
                <a:prstGeom prst="line">
                  <a:avLst/>
                </a:prstGeom>
                <a:grpFill/>
                <a:ln w="50800"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77" name="Straight Connector 76">
                  <a:extLst>
                    <a:ext uri="{FF2B5EF4-FFF2-40B4-BE49-F238E27FC236}">
                      <a16:creationId xmlns:a16="http://schemas.microsoft.com/office/drawing/2014/main" id="{DE07F7D0-4F6A-E1AE-B08C-0BCCBF58E37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567289" y="1701800"/>
                  <a:ext cx="0" cy="4572000"/>
                </a:xfrm>
                <a:prstGeom prst="line">
                  <a:avLst/>
                </a:prstGeom>
                <a:grpFill/>
                <a:ln w="50800"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78" name="Straight Connector 77">
                  <a:extLst>
                    <a:ext uri="{FF2B5EF4-FFF2-40B4-BE49-F238E27FC236}">
                      <a16:creationId xmlns:a16="http://schemas.microsoft.com/office/drawing/2014/main" id="{E234D56A-9601-4721-5376-F267ADC0E8A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980267" y="1701800"/>
                  <a:ext cx="0" cy="4572000"/>
                </a:xfrm>
                <a:prstGeom prst="line">
                  <a:avLst/>
                </a:prstGeom>
                <a:grpFill/>
                <a:ln w="50800"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79" name="Straight Connector 78">
                  <a:extLst>
                    <a:ext uri="{FF2B5EF4-FFF2-40B4-BE49-F238E27FC236}">
                      <a16:creationId xmlns:a16="http://schemas.microsoft.com/office/drawing/2014/main" id="{77615E2A-A668-DED8-4254-49E69279B0F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154311" y="1701800"/>
                  <a:ext cx="0" cy="4572000"/>
                </a:xfrm>
                <a:prstGeom prst="line">
                  <a:avLst/>
                </a:prstGeom>
                <a:grpFill/>
                <a:ln w="50800"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65" name="Group 64">
                <a:extLst>
                  <a:ext uri="{FF2B5EF4-FFF2-40B4-BE49-F238E27FC236}">
                    <a16:creationId xmlns:a16="http://schemas.microsoft.com/office/drawing/2014/main" id="{50891864-44D1-054F-7E42-83F1D916B3FA}"/>
                  </a:ext>
                </a:extLst>
              </p:cNvPr>
              <p:cNvGrpSpPr/>
              <p:nvPr/>
            </p:nvGrpSpPr>
            <p:grpSpPr>
              <a:xfrm rot="5400000">
                <a:off x="3014133" y="1701800"/>
                <a:ext cx="3522133" cy="4572000"/>
                <a:chOff x="2980267" y="1701800"/>
                <a:chExt cx="3522133" cy="4572000"/>
              </a:xfrm>
              <a:grpFill/>
            </p:grpSpPr>
            <p:cxnSp>
              <p:nvCxnSpPr>
                <p:cNvPr id="66" name="Straight Connector 65">
                  <a:extLst>
                    <a:ext uri="{FF2B5EF4-FFF2-40B4-BE49-F238E27FC236}">
                      <a16:creationId xmlns:a16="http://schemas.microsoft.com/office/drawing/2014/main" id="{C5AFC6A7-F9ED-C5A0-FA70-3EF149451E5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741333" y="1701800"/>
                  <a:ext cx="0" cy="4572000"/>
                </a:xfrm>
                <a:prstGeom prst="line">
                  <a:avLst/>
                </a:prstGeom>
                <a:grpFill/>
                <a:ln w="50800"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7" name="Straight Connector 66">
                  <a:extLst>
                    <a:ext uri="{FF2B5EF4-FFF2-40B4-BE49-F238E27FC236}">
                      <a16:creationId xmlns:a16="http://schemas.microsoft.com/office/drawing/2014/main" id="{61AE3902-D667-A6F0-0533-003E7696780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915377" y="1701800"/>
                  <a:ext cx="0" cy="4572000"/>
                </a:xfrm>
                <a:prstGeom prst="line">
                  <a:avLst/>
                </a:prstGeom>
                <a:grpFill/>
                <a:ln w="50800"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8" name="Straight Connector 67">
                  <a:extLst>
                    <a:ext uri="{FF2B5EF4-FFF2-40B4-BE49-F238E27FC236}">
                      <a16:creationId xmlns:a16="http://schemas.microsoft.com/office/drawing/2014/main" id="{75B5D0BC-78A6-5654-9660-36DC4CEC3C0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328355" y="1701800"/>
                  <a:ext cx="0" cy="4572000"/>
                </a:xfrm>
                <a:prstGeom prst="line">
                  <a:avLst/>
                </a:prstGeom>
                <a:grpFill/>
                <a:ln w="50800"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9" name="Straight Connector 68">
                  <a:extLst>
                    <a:ext uri="{FF2B5EF4-FFF2-40B4-BE49-F238E27FC236}">
                      <a16:creationId xmlns:a16="http://schemas.microsoft.com/office/drawing/2014/main" id="{2CF59F2C-19F3-DBD8-D392-419F4F5C925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502400" y="1701800"/>
                  <a:ext cx="0" cy="4572000"/>
                </a:xfrm>
                <a:prstGeom prst="line">
                  <a:avLst/>
                </a:prstGeom>
                <a:grpFill/>
                <a:ln w="50800"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70" name="Straight Connector 69">
                  <a:extLst>
                    <a:ext uri="{FF2B5EF4-FFF2-40B4-BE49-F238E27FC236}">
                      <a16:creationId xmlns:a16="http://schemas.microsoft.com/office/drawing/2014/main" id="{0938AD2D-28D4-3073-E989-75C2689F1B6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567289" y="1701800"/>
                  <a:ext cx="0" cy="4572000"/>
                </a:xfrm>
                <a:prstGeom prst="line">
                  <a:avLst/>
                </a:prstGeom>
                <a:grpFill/>
                <a:ln w="50800"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71" name="Straight Connector 70">
                  <a:extLst>
                    <a:ext uri="{FF2B5EF4-FFF2-40B4-BE49-F238E27FC236}">
                      <a16:creationId xmlns:a16="http://schemas.microsoft.com/office/drawing/2014/main" id="{D2A01878-95C3-D87E-A3BA-CA9BC11D408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980267" y="1701800"/>
                  <a:ext cx="0" cy="4572000"/>
                </a:xfrm>
                <a:prstGeom prst="line">
                  <a:avLst/>
                </a:prstGeom>
                <a:grpFill/>
                <a:ln w="50800"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72" name="Straight Connector 71">
                  <a:extLst>
                    <a:ext uri="{FF2B5EF4-FFF2-40B4-BE49-F238E27FC236}">
                      <a16:creationId xmlns:a16="http://schemas.microsoft.com/office/drawing/2014/main" id="{76EDD4DD-F541-B261-45C6-406FA2FF565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154311" y="1701800"/>
                  <a:ext cx="0" cy="4572000"/>
                </a:xfrm>
                <a:prstGeom prst="line">
                  <a:avLst/>
                </a:prstGeom>
                <a:grpFill/>
                <a:ln w="50800"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grpSp>
          <p:nvGrpSpPr>
            <p:cNvPr id="80" name="Group 79">
              <a:extLst>
                <a:ext uri="{FF2B5EF4-FFF2-40B4-BE49-F238E27FC236}">
                  <a16:creationId xmlns:a16="http://schemas.microsoft.com/office/drawing/2014/main" id="{B93CD058-0F96-12ED-7B00-43094EBB3F53}"/>
                </a:ext>
              </a:extLst>
            </p:cNvPr>
            <p:cNvGrpSpPr/>
            <p:nvPr/>
          </p:nvGrpSpPr>
          <p:grpSpPr>
            <a:xfrm>
              <a:off x="3150854" y="4381500"/>
              <a:ext cx="2235200" cy="1871134"/>
              <a:chOff x="2489200" y="1701800"/>
              <a:chExt cx="4572000" cy="4572000"/>
            </a:xfrm>
            <a:solidFill>
              <a:schemeClr val="bg1">
                <a:alpha val="58000"/>
              </a:schemeClr>
            </a:solidFill>
          </p:grpSpPr>
          <p:sp>
            <p:nvSpPr>
              <p:cNvPr id="81" name="Rectangle 80">
                <a:extLst>
                  <a:ext uri="{FF2B5EF4-FFF2-40B4-BE49-F238E27FC236}">
                    <a16:creationId xmlns:a16="http://schemas.microsoft.com/office/drawing/2014/main" id="{F6FB93F6-9D34-AE5C-28D6-D266B49B2EBB}"/>
                  </a:ext>
                </a:extLst>
              </p:cNvPr>
              <p:cNvSpPr/>
              <p:nvPr/>
            </p:nvSpPr>
            <p:spPr>
              <a:xfrm>
                <a:off x="2489200" y="1701800"/>
                <a:ext cx="4572000" cy="4572000"/>
              </a:xfrm>
              <a:prstGeom prst="rect">
                <a:avLst/>
              </a:prstGeom>
              <a:grpFill/>
              <a:ln w="508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grpSp>
            <p:nvGrpSpPr>
              <p:cNvPr id="82" name="Group 81">
                <a:extLst>
                  <a:ext uri="{FF2B5EF4-FFF2-40B4-BE49-F238E27FC236}">
                    <a16:creationId xmlns:a16="http://schemas.microsoft.com/office/drawing/2014/main" id="{C3BE3279-3633-071D-18AD-06074C8F121E}"/>
                  </a:ext>
                </a:extLst>
              </p:cNvPr>
              <p:cNvGrpSpPr/>
              <p:nvPr/>
            </p:nvGrpSpPr>
            <p:grpSpPr>
              <a:xfrm>
                <a:off x="2980267" y="1701800"/>
                <a:ext cx="3522133" cy="4572000"/>
                <a:chOff x="2980267" y="1701800"/>
                <a:chExt cx="3522133" cy="4572000"/>
              </a:xfrm>
              <a:grpFill/>
            </p:grpSpPr>
            <p:cxnSp>
              <p:nvCxnSpPr>
                <p:cNvPr id="91" name="Straight Connector 90">
                  <a:extLst>
                    <a:ext uri="{FF2B5EF4-FFF2-40B4-BE49-F238E27FC236}">
                      <a16:creationId xmlns:a16="http://schemas.microsoft.com/office/drawing/2014/main" id="{C238748A-2B07-E4F2-7DAB-A809990A3CF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741333" y="1701800"/>
                  <a:ext cx="0" cy="4572000"/>
                </a:xfrm>
                <a:prstGeom prst="line">
                  <a:avLst/>
                </a:prstGeom>
                <a:grpFill/>
                <a:ln w="50800"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92" name="Straight Connector 91">
                  <a:extLst>
                    <a:ext uri="{FF2B5EF4-FFF2-40B4-BE49-F238E27FC236}">
                      <a16:creationId xmlns:a16="http://schemas.microsoft.com/office/drawing/2014/main" id="{4C2C1F8F-BCCA-028B-5233-776157F0D47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915377" y="1701800"/>
                  <a:ext cx="0" cy="4572000"/>
                </a:xfrm>
                <a:prstGeom prst="line">
                  <a:avLst/>
                </a:prstGeom>
                <a:grpFill/>
                <a:ln w="50800"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93" name="Straight Connector 92">
                  <a:extLst>
                    <a:ext uri="{FF2B5EF4-FFF2-40B4-BE49-F238E27FC236}">
                      <a16:creationId xmlns:a16="http://schemas.microsoft.com/office/drawing/2014/main" id="{3F6F80EC-3494-F3F1-5A6A-5EFAEE09977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328355" y="1701800"/>
                  <a:ext cx="0" cy="4572000"/>
                </a:xfrm>
                <a:prstGeom prst="line">
                  <a:avLst/>
                </a:prstGeom>
                <a:grpFill/>
                <a:ln w="50800"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94" name="Straight Connector 93">
                  <a:extLst>
                    <a:ext uri="{FF2B5EF4-FFF2-40B4-BE49-F238E27FC236}">
                      <a16:creationId xmlns:a16="http://schemas.microsoft.com/office/drawing/2014/main" id="{AE603926-D1EF-114D-3E4F-D9E670A3801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502400" y="1701800"/>
                  <a:ext cx="0" cy="4572000"/>
                </a:xfrm>
                <a:prstGeom prst="line">
                  <a:avLst/>
                </a:prstGeom>
                <a:grpFill/>
                <a:ln w="50800"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95" name="Straight Connector 94">
                  <a:extLst>
                    <a:ext uri="{FF2B5EF4-FFF2-40B4-BE49-F238E27FC236}">
                      <a16:creationId xmlns:a16="http://schemas.microsoft.com/office/drawing/2014/main" id="{8195CA56-D2D6-870C-2C6A-3897D382B72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567289" y="1701800"/>
                  <a:ext cx="0" cy="4572000"/>
                </a:xfrm>
                <a:prstGeom prst="line">
                  <a:avLst/>
                </a:prstGeom>
                <a:grpFill/>
                <a:ln w="50800"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96" name="Straight Connector 95">
                  <a:extLst>
                    <a:ext uri="{FF2B5EF4-FFF2-40B4-BE49-F238E27FC236}">
                      <a16:creationId xmlns:a16="http://schemas.microsoft.com/office/drawing/2014/main" id="{723E0772-17D4-9F17-9235-9F4B9ADCA31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980267" y="1701800"/>
                  <a:ext cx="0" cy="4572000"/>
                </a:xfrm>
                <a:prstGeom prst="line">
                  <a:avLst/>
                </a:prstGeom>
                <a:grpFill/>
                <a:ln w="50800"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97" name="Straight Connector 96">
                  <a:extLst>
                    <a:ext uri="{FF2B5EF4-FFF2-40B4-BE49-F238E27FC236}">
                      <a16:creationId xmlns:a16="http://schemas.microsoft.com/office/drawing/2014/main" id="{86909851-537F-B4A7-C01D-821BB31AD37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154311" y="1701800"/>
                  <a:ext cx="0" cy="4572000"/>
                </a:xfrm>
                <a:prstGeom prst="line">
                  <a:avLst/>
                </a:prstGeom>
                <a:grpFill/>
                <a:ln w="50800"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83" name="Group 82">
                <a:extLst>
                  <a:ext uri="{FF2B5EF4-FFF2-40B4-BE49-F238E27FC236}">
                    <a16:creationId xmlns:a16="http://schemas.microsoft.com/office/drawing/2014/main" id="{EE3A1A30-E035-AEDA-A134-431971CF2070}"/>
                  </a:ext>
                </a:extLst>
              </p:cNvPr>
              <p:cNvGrpSpPr/>
              <p:nvPr/>
            </p:nvGrpSpPr>
            <p:grpSpPr>
              <a:xfrm rot="5400000">
                <a:off x="3014133" y="1701800"/>
                <a:ext cx="3522133" cy="4572000"/>
                <a:chOff x="2980267" y="1701800"/>
                <a:chExt cx="3522133" cy="4572000"/>
              </a:xfrm>
              <a:grpFill/>
            </p:grpSpPr>
            <p:cxnSp>
              <p:nvCxnSpPr>
                <p:cNvPr id="84" name="Straight Connector 83">
                  <a:extLst>
                    <a:ext uri="{FF2B5EF4-FFF2-40B4-BE49-F238E27FC236}">
                      <a16:creationId xmlns:a16="http://schemas.microsoft.com/office/drawing/2014/main" id="{DEFE155C-499B-2515-356F-223DAD60038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741333" y="1701800"/>
                  <a:ext cx="0" cy="4572000"/>
                </a:xfrm>
                <a:prstGeom prst="line">
                  <a:avLst/>
                </a:prstGeom>
                <a:grpFill/>
                <a:ln w="50800"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85" name="Straight Connector 84">
                  <a:extLst>
                    <a:ext uri="{FF2B5EF4-FFF2-40B4-BE49-F238E27FC236}">
                      <a16:creationId xmlns:a16="http://schemas.microsoft.com/office/drawing/2014/main" id="{ECA42B54-1DC6-5532-CF92-CCEF1EDCE22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915377" y="1701800"/>
                  <a:ext cx="0" cy="4572000"/>
                </a:xfrm>
                <a:prstGeom prst="line">
                  <a:avLst/>
                </a:prstGeom>
                <a:grpFill/>
                <a:ln w="50800"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86" name="Straight Connector 85">
                  <a:extLst>
                    <a:ext uri="{FF2B5EF4-FFF2-40B4-BE49-F238E27FC236}">
                      <a16:creationId xmlns:a16="http://schemas.microsoft.com/office/drawing/2014/main" id="{A856E2E5-A730-EB4D-B439-71F9943FFBE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328355" y="1701800"/>
                  <a:ext cx="0" cy="4572000"/>
                </a:xfrm>
                <a:prstGeom prst="line">
                  <a:avLst/>
                </a:prstGeom>
                <a:grpFill/>
                <a:ln w="50800"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87" name="Straight Connector 86">
                  <a:extLst>
                    <a:ext uri="{FF2B5EF4-FFF2-40B4-BE49-F238E27FC236}">
                      <a16:creationId xmlns:a16="http://schemas.microsoft.com/office/drawing/2014/main" id="{8BCD91E1-CC35-56E0-81C7-AC8738BF87D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502400" y="1701800"/>
                  <a:ext cx="0" cy="4572000"/>
                </a:xfrm>
                <a:prstGeom prst="line">
                  <a:avLst/>
                </a:prstGeom>
                <a:grpFill/>
                <a:ln w="50800"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88" name="Straight Connector 87">
                  <a:extLst>
                    <a:ext uri="{FF2B5EF4-FFF2-40B4-BE49-F238E27FC236}">
                      <a16:creationId xmlns:a16="http://schemas.microsoft.com/office/drawing/2014/main" id="{DFFE1D17-56ED-AF9C-E855-441B176C624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567289" y="1701800"/>
                  <a:ext cx="0" cy="4572000"/>
                </a:xfrm>
                <a:prstGeom prst="line">
                  <a:avLst/>
                </a:prstGeom>
                <a:grpFill/>
                <a:ln w="50800"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89" name="Straight Connector 88">
                  <a:extLst>
                    <a:ext uri="{FF2B5EF4-FFF2-40B4-BE49-F238E27FC236}">
                      <a16:creationId xmlns:a16="http://schemas.microsoft.com/office/drawing/2014/main" id="{820EB77B-7542-58B2-B969-ADE53C68C8E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980267" y="1701800"/>
                  <a:ext cx="0" cy="4572000"/>
                </a:xfrm>
                <a:prstGeom prst="line">
                  <a:avLst/>
                </a:prstGeom>
                <a:grpFill/>
                <a:ln w="50800"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90" name="Straight Connector 89">
                  <a:extLst>
                    <a:ext uri="{FF2B5EF4-FFF2-40B4-BE49-F238E27FC236}">
                      <a16:creationId xmlns:a16="http://schemas.microsoft.com/office/drawing/2014/main" id="{8B720634-5C7B-9FDF-E547-477D980B5D2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154311" y="1701800"/>
                  <a:ext cx="0" cy="4572000"/>
                </a:xfrm>
                <a:prstGeom prst="line">
                  <a:avLst/>
                </a:prstGeom>
                <a:grpFill/>
                <a:ln w="50800"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grpSp>
          <p:nvGrpSpPr>
            <p:cNvPr id="98" name="Group 97">
              <a:extLst>
                <a:ext uri="{FF2B5EF4-FFF2-40B4-BE49-F238E27FC236}">
                  <a16:creationId xmlns:a16="http://schemas.microsoft.com/office/drawing/2014/main" id="{C8000806-55EF-27A0-E658-50ED06E0D2F3}"/>
                </a:ext>
              </a:extLst>
            </p:cNvPr>
            <p:cNvGrpSpPr/>
            <p:nvPr/>
          </p:nvGrpSpPr>
          <p:grpSpPr>
            <a:xfrm>
              <a:off x="7291054" y="4274083"/>
              <a:ext cx="2235200" cy="1871134"/>
              <a:chOff x="2489200" y="1701800"/>
              <a:chExt cx="4572000" cy="4572000"/>
            </a:xfrm>
            <a:solidFill>
              <a:schemeClr val="bg1">
                <a:alpha val="58000"/>
              </a:schemeClr>
            </a:solidFill>
          </p:grpSpPr>
          <p:sp>
            <p:nvSpPr>
              <p:cNvPr id="99" name="Rectangle 98">
                <a:extLst>
                  <a:ext uri="{FF2B5EF4-FFF2-40B4-BE49-F238E27FC236}">
                    <a16:creationId xmlns:a16="http://schemas.microsoft.com/office/drawing/2014/main" id="{1EDB373F-F529-88CB-5B93-9C62CAFCF843}"/>
                  </a:ext>
                </a:extLst>
              </p:cNvPr>
              <p:cNvSpPr/>
              <p:nvPr/>
            </p:nvSpPr>
            <p:spPr>
              <a:xfrm>
                <a:off x="2489200" y="1701800"/>
                <a:ext cx="4572000" cy="4572000"/>
              </a:xfrm>
              <a:prstGeom prst="rect">
                <a:avLst/>
              </a:prstGeom>
              <a:grpFill/>
              <a:ln w="508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grpSp>
            <p:nvGrpSpPr>
              <p:cNvPr id="100" name="Group 99">
                <a:extLst>
                  <a:ext uri="{FF2B5EF4-FFF2-40B4-BE49-F238E27FC236}">
                    <a16:creationId xmlns:a16="http://schemas.microsoft.com/office/drawing/2014/main" id="{15C5CB87-05CC-4EE7-9C3B-435F8BBE4312}"/>
                  </a:ext>
                </a:extLst>
              </p:cNvPr>
              <p:cNvGrpSpPr/>
              <p:nvPr/>
            </p:nvGrpSpPr>
            <p:grpSpPr>
              <a:xfrm>
                <a:off x="2980267" y="1701800"/>
                <a:ext cx="3522133" cy="4572000"/>
                <a:chOff x="2980267" y="1701800"/>
                <a:chExt cx="3522133" cy="4572000"/>
              </a:xfrm>
              <a:grpFill/>
            </p:grpSpPr>
            <p:cxnSp>
              <p:nvCxnSpPr>
                <p:cNvPr id="109" name="Straight Connector 108">
                  <a:extLst>
                    <a:ext uri="{FF2B5EF4-FFF2-40B4-BE49-F238E27FC236}">
                      <a16:creationId xmlns:a16="http://schemas.microsoft.com/office/drawing/2014/main" id="{85E936FC-3C0A-732F-AC9C-6BCA9FBB0D4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741333" y="1701800"/>
                  <a:ext cx="0" cy="4572000"/>
                </a:xfrm>
                <a:prstGeom prst="line">
                  <a:avLst/>
                </a:prstGeom>
                <a:grpFill/>
                <a:ln w="50800"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10" name="Straight Connector 109">
                  <a:extLst>
                    <a:ext uri="{FF2B5EF4-FFF2-40B4-BE49-F238E27FC236}">
                      <a16:creationId xmlns:a16="http://schemas.microsoft.com/office/drawing/2014/main" id="{2D0172AB-6D82-A794-BA8B-D098D22327F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915377" y="1701800"/>
                  <a:ext cx="0" cy="4572000"/>
                </a:xfrm>
                <a:prstGeom prst="line">
                  <a:avLst/>
                </a:prstGeom>
                <a:grpFill/>
                <a:ln w="50800"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11" name="Straight Connector 110">
                  <a:extLst>
                    <a:ext uri="{FF2B5EF4-FFF2-40B4-BE49-F238E27FC236}">
                      <a16:creationId xmlns:a16="http://schemas.microsoft.com/office/drawing/2014/main" id="{5B1346CB-C8F8-A9FE-476D-10F1DC4824C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328355" y="1701800"/>
                  <a:ext cx="0" cy="4572000"/>
                </a:xfrm>
                <a:prstGeom prst="line">
                  <a:avLst/>
                </a:prstGeom>
                <a:grpFill/>
                <a:ln w="50800"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12" name="Straight Connector 111">
                  <a:extLst>
                    <a:ext uri="{FF2B5EF4-FFF2-40B4-BE49-F238E27FC236}">
                      <a16:creationId xmlns:a16="http://schemas.microsoft.com/office/drawing/2014/main" id="{3AE2A0E5-1CC7-F09B-E3E1-3FD1F00F9C5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502400" y="1701800"/>
                  <a:ext cx="0" cy="4572000"/>
                </a:xfrm>
                <a:prstGeom prst="line">
                  <a:avLst/>
                </a:prstGeom>
                <a:grpFill/>
                <a:ln w="50800"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13" name="Straight Connector 112">
                  <a:extLst>
                    <a:ext uri="{FF2B5EF4-FFF2-40B4-BE49-F238E27FC236}">
                      <a16:creationId xmlns:a16="http://schemas.microsoft.com/office/drawing/2014/main" id="{DC9573EF-7C15-8D7F-0F55-02DD1DE5830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567289" y="1701800"/>
                  <a:ext cx="0" cy="4572000"/>
                </a:xfrm>
                <a:prstGeom prst="line">
                  <a:avLst/>
                </a:prstGeom>
                <a:grpFill/>
                <a:ln w="50800"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14" name="Straight Connector 113">
                  <a:extLst>
                    <a:ext uri="{FF2B5EF4-FFF2-40B4-BE49-F238E27FC236}">
                      <a16:creationId xmlns:a16="http://schemas.microsoft.com/office/drawing/2014/main" id="{88425AB4-D406-406A-4BA9-50ED4AC44BE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980267" y="1701800"/>
                  <a:ext cx="0" cy="4572000"/>
                </a:xfrm>
                <a:prstGeom prst="line">
                  <a:avLst/>
                </a:prstGeom>
                <a:grpFill/>
                <a:ln w="50800"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15" name="Straight Connector 114">
                  <a:extLst>
                    <a:ext uri="{FF2B5EF4-FFF2-40B4-BE49-F238E27FC236}">
                      <a16:creationId xmlns:a16="http://schemas.microsoft.com/office/drawing/2014/main" id="{CEC9398F-42F4-465A-D914-A1B30B60FF9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154311" y="1701800"/>
                  <a:ext cx="0" cy="4572000"/>
                </a:xfrm>
                <a:prstGeom prst="line">
                  <a:avLst/>
                </a:prstGeom>
                <a:grpFill/>
                <a:ln w="50800"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101" name="Group 100">
                <a:extLst>
                  <a:ext uri="{FF2B5EF4-FFF2-40B4-BE49-F238E27FC236}">
                    <a16:creationId xmlns:a16="http://schemas.microsoft.com/office/drawing/2014/main" id="{6FAEEADF-C6DD-3597-92B9-BDD066C9F7A0}"/>
                  </a:ext>
                </a:extLst>
              </p:cNvPr>
              <p:cNvGrpSpPr/>
              <p:nvPr/>
            </p:nvGrpSpPr>
            <p:grpSpPr>
              <a:xfrm rot="5400000">
                <a:off x="3014133" y="1701800"/>
                <a:ext cx="3522133" cy="4572000"/>
                <a:chOff x="2980267" y="1701800"/>
                <a:chExt cx="3522133" cy="4572000"/>
              </a:xfrm>
              <a:grpFill/>
            </p:grpSpPr>
            <p:cxnSp>
              <p:nvCxnSpPr>
                <p:cNvPr id="102" name="Straight Connector 101">
                  <a:extLst>
                    <a:ext uri="{FF2B5EF4-FFF2-40B4-BE49-F238E27FC236}">
                      <a16:creationId xmlns:a16="http://schemas.microsoft.com/office/drawing/2014/main" id="{1E1EFCD6-61AD-B85B-FC58-A5E7DAC854F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741333" y="1701800"/>
                  <a:ext cx="0" cy="4572000"/>
                </a:xfrm>
                <a:prstGeom prst="line">
                  <a:avLst/>
                </a:prstGeom>
                <a:grpFill/>
                <a:ln w="50800"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3" name="Straight Connector 102">
                  <a:extLst>
                    <a:ext uri="{FF2B5EF4-FFF2-40B4-BE49-F238E27FC236}">
                      <a16:creationId xmlns:a16="http://schemas.microsoft.com/office/drawing/2014/main" id="{04BD3CF4-A267-F2E4-EC9C-05C00D9B5E4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915377" y="1701800"/>
                  <a:ext cx="0" cy="4572000"/>
                </a:xfrm>
                <a:prstGeom prst="line">
                  <a:avLst/>
                </a:prstGeom>
                <a:grpFill/>
                <a:ln w="50800"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4" name="Straight Connector 103">
                  <a:extLst>
                    <a:ext uri="{FF2B5EF4-FFF2-40B4-BE49-F238E27FC236}">
                      <a16:creationId xmlns:a16="http://schemas.microsoft.com/office/drawing/2014/main" id="{F30BA1E4-63DE-E1F5-5353-6D354D5CC47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328355" y="1701800"/>
                  <a:ext cx="0" cy="4572000"/>
                </a:xfrm>
                <a:prstGeom prst="line">
                  <a:avLst/>
                </a:prstGeom>
                <a:grpFill/>
                <a:ln w="50800"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5" name="Straight Connector 104">
                  <a:extLst>
                    <a:ext uri="{FF2B5EF4-FFF2-40B4-BE49-F238E27FC236}">
                      <a16:creationId xmlns:a16="http://schemas.microsoft.com/office/drawing/2014/main" id="{55C09B8A-E6F5-75FE-DB27-3F0BD55E517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502400" y="1701800"/>
                  <a:ext cx="0" cy="4572000"/>
                </a:xfrm>
                <a:prstGeom prst="line">
                  <a:avLst/>
                </a:prstGeom>
                <a:grpFill/>
                <a:ln w="50800"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6" name="Straight Connector 105">
                  <a:extLst>
                    <a:ext uri="{FF2B5EF4-FFF2-40B4-BE49-F238E27FC236}">
                      <a16:creationId xmlns:a16="http://schemas.microsoft.com/office/drawing/2014/main" id="{50F87040-0775-688A-5B3E-DB50ED142EA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567289" y="1701800"/>
                  <a:ext cx="0" cy="4572000"/>
                </a:xfrm>
                <a:prstGeom prst="line">
                  <a:avLst/>
                </a:prstGeom>
                <a:grpFill/>
                <a:ln w="50800"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7" name="Straight Connector 106">
                  <a:extLst>
                    <a:ext uri="{FF2B5EF4-FFF2-40B4-BE49-F238E27FC236}">
                      <a16:creationId xmlns:a16="http://schemas.microsoft.com/office/drawing/2014/main" id="{0F12DF5E-4B35-CB5C-D46A-B7F06928377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980267" y="1701800"/>
                  <a:ext cx="0" cy="4572000"/>
                </a:xfrm>
                <a:prstGeom prst="line">
                  <a:avLst/>
                </a:prstGeom>
                <a:grpFill/>
                <a:ln w="50800"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8" name="Straight Connector 107">
                  <a:extLst>
                    <a:ext uri="{FF2B5EF4-FFF2-40B4-BE49-F238E27FC236}">
                      <a16:creationId xmlns:a16="http://schemas.microsoft.com/office/drawing/2014/main" id="{49894D15-DCE7-CADA-62D7-C8950A3FAB5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154311" y="1701800"/>
                  <a:ext cx="0" cy="4572000"/>
                </a:xfrm>
                <a:prstGeom prst="line">
                  <a:avLst/>
                </a:prstGeom>
                <a:grpFill/>
                <a:ln w="50800"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sp>
          <p:nvSpPr>
            <p:cNvPr id="116" name="Rectangle 115">
              <a:extLst>
                <a:ext uri="{FF2B5EF4-FFF2-40B4-BE49-F238E27FC236}">
                  <a16:creationId xmlns:a16="http://schemas.microsoft.com/office/drawing/2014/main" id="{C1720AE8-AD76-5653-6E2E-D0D2A1F2CB87}"/>
                </a:ext>
              </a:extLst>
            </p:cNvPr>
            <p:cNvSpPr/>
            <p:nvPr/>
          </p:nvSpPr>
          <p:spPr>
            <a:xfrm>
              <a:off x="1348708" y="4381500"/>
              <a:ext cx="573977" cy="1871134"/>
            </a:xfrm>
            <a:prstGeom prst="rect">
              <a:avLst/>
            </a:prstGeom>
            <a:solidFill>
              <a:schemeClr val="tx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7" name="Rectangle 116">
              <a:extLst>
                <a:ext uri="{FF2B5EF4-FFF2-40B4-BE49-F238E27FC236}">
                  <a16:creationId xmlns:a16="http://schemas.microsoft.com/office/drawing/2014/main" id="{BF05DB4B-1747-6007-E7DA-1FC53C23B466}"/>
                </a:ext>
              </a:extLst>
            </p:cNvPr>
            <p:cNvSpPr/>
            <p:nvPr/>
          </p:nvSpPr>
          <p:spPr>
            <a:xfrm rot="5400000">
              <a:off x="4009727" y="4210140"/>
              <a:ext cx="459125" cy="2235199"/>
            </a:xfrm>
            <a:prstGeom prst="rect">
              <a:avLst/>
            </a:prstGeom>
            <a:solidFill>
              <a:schemeClr val="tx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9" name="Rectangle 118">
              <a:extLst>
                <a:ext uri="{FF2B5EF4-FFF2-40B4-BE49-F238E27FC236}">
                  <a16:creationId xmlns:a16="http://schemas.microsoft.com/office/drawing/2014/main" id="{6470B352-3FA5-F672-33D4-1B3A10667986}"/>
                </a:ext>
              </a:extLst>
            </p:cNvPr>
            <p:cNvSpPr/>
            <p:nvPr/>
          </p:nvSpPr>
          <p:spPr>
            <a:xfrm>
              <a:off x="8121289" y="4274083"/>
              <a:ext cx="573977" cy="1871134"/>
            </a:xfrm>
            <a:prstGeom prst="rect">
              <a:avLst/>
            </a:prstGeom>
            <a:solidFill>
              <a:schemeClr val="tx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0" name="Rectangle 119">
              <a:extLst>
                <a:ext uri="{FF2B5EF4-FFF2-40B4-BE49-F238E27FC236}">
                  <a16:creationId xmlns:a16="http://schemas.microsoft.com/office/drawing/2014/main" id="{9BEB126B-3164-0605-57AC-A82CB13BC345}"/>
                </a:ext>
              </a:extLst>
            </p:cNvPr>
            <p:cNvSpPr/>
            <p:nvPr/>
          </p:nvSpPr>
          <p:spPr>
            <a:xfrm rot="5400000">
              <a:off x="8162534" y="4081368"/>
              <a:ext cx="459125" cy="2235199"/>
            </a:xfrm>
            <a:prstGeom prst="rect">
              <a:avLst/>
            </a:prstGeom>
            <a:solidFill>
              <a:schemeClr val="tx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81" name="Group 180">
            <a:extLst>
              <a:ext uri="{FF2B5EF4-FFF2-40B4-BE49-F238E27FC236}">
                <a16:creationId xmlns:a16="http://schemas.microsoft.com/office/drawing/2014/main" id="{16A0CF65-A3AB-992B-0B52-D5524AF52CA8}"/>
              </a:ext>
            </a:extLst>
          </p:cNvPr>
          <p:cNvGrpSpPr/>
          <p:nvPr/>
        </p:nvGrpSpPr>
        <p:grpSpPr>
          <a:xfrm>
            <a:off x="457200" y="4879449"/>
            <a:ext cx="8991600" cy="1777991"/>
            <a:chOff x="534654" y="6910728"/>
            <a:chExt cx="8991600" cy="1978551"/>
          </a:xfrm>
        </p:grpSpPr>
        <p:grpSp>
          <p:nvGrpSpPr>
            <p:cNvPr id="121" name="Group 120">
              <a:extLst>
                <a:ext uri="{FF2B5EF4-FFF2-40B4-BE49-F238E27FC236}">
                  <a16:creationId xmlns:a16="http://schemas.microsoft.com/office/drawing/2014/main" id="{8E94E834-16AA-41D3-2D6A-DCD1188CF789}"/>
                </a:ext>
              </a:extLst>
            </p:cNvPr>
            <p:cNvGrpSpPr/>
            <p:nvPr/>
          </p:nvGrpSpPr>
          <p:grpSpPr>
            <a:xfrm>
              <a:off x="534654" y="7018145"/>
              <a:ext cx="2235200" cy="1871134"/>
              <a:chOff x="2489200" y="1701800"/>
              <a:chExt cx="4572000" cy="4572000"/>
            </a:xfrm>
            <a:solidFill>
              <a:schemeClr val="bg1">
                <a:alpha val="58000"/>
              </a:schemeClr>
            </a:solidFill>
          </p:grpSpPr>
          <p:sp>
            <p:nvSpPr>
              <p:cNvPr id="122" name="Rectangle 121">
                <a:extLst>
                  <a:ext uri="{FF2B5EF4-FFF2-40B4-BE49-F238E27FC236}">
                    <a16:creationId xmlns:a16="http://schemas.microsoft.com/office/drawing/2014/main" id="{E9AB9187-9F3E-68F8-4975-560E4A176469}"/>
                  </a:ext>
                </a:extLst>
              </p:cNvPr>
              <p:cNvSpPr/>
              <p:nvPr/>
            </p:nvSpPr>
            <p:spPr>
              <a:xfrm>
                <a:off x="2489200" y="1701800"/>
                <a:ext cx="4572000" cy="4572000"/>
              </a:xfrm>
              <a:prstGeom prst="rect">
                <a:avLst/>
              </a:prstGeom>
              <a:grpFill/>
              <a:ln w="508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grpSp>
            <p:nvGrpSpPr>
              <p:cNvPr id="123" name="Group 122">
                <a:extLst>
                  <a:ext uri="{FF2B5EF4-FFF2-40B4-BE49-F238E27FC236}">
                    <a16:creationId xmlns:a16="http://schemas.microsoft.com/office/drawing/2014/main" id="{50CD4455-EE89-1454-013F-73F3A924F809}"/>
                  </a:ext>
                </a:extLst>
              </p:cNvPr>
              <p:cNvGrpSpPr/>
              <p:nvPr/>
            </p:nvGrpSpPr>
            <p:grpSpPr>
              <a:xfrm>
                <a:off x="2980267" y="1701800"/>
                <a:ext cx="3522133" cy="4572000"/>
                <a:chOff x="2980267" y="1701800"/>
                <a:chExt cx="3522133" cy="4572000"/>
              </a:xfrm>
              <a:grpFill/>
            </p:grpSpPr>
            <p:cxnSp>
              <p:nvCxnSpPr>
                <p:cNvPr id="132" name="Straight Connector 131">
                  <a:extLst>
                    <a:ext uri="{FF2B5EF4-FFF2-40B4-BE49-F238E27FC236}">
                      <a16:creationId xmlns:a16="http://schemas.microsoft.com/office/drawing/2014/main" id="{828E108A-1FBF-DFAD-C069-086316E8E94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741333" y="1701800"/>
                  <a:ext cx="0" cy="4572000"/>
                </a:xfrm>
                <a:prstGeom prst="line">
                  <a:avLst/>
                </a:prstGeom>
                <a:grpFill/>
                <a:ln w="50800"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33" name="Straight Connector 132">
                  <a:extLst>
                    <a:ext uri="{FF2B5EF4-FFF2-40B4-BE49-F238E27FC236}">
                      <a16:creationId xmlns:a16="http://schemas.microsoft.com/office/drawing/2014/main" id="{2F30B28E-9A0A-0AF9-13BE-FEF0BC5D974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915377" y="1701800"/>
                  <a:ext cx="0" cy="4572000"/>
                </a:xfrm>
                <a:prstGeom prst="line">
                  <a:avLst/>
                </a:prstGeom>
                <a:grpFill/>
                <a:ln w="50800"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34" name="Straight Connector 133">
                  <a:extLst>
                    <a:ext uri="{FF2B5EF4-FFF2-40B4-BE49-F238E27FC236}">
                      <a16:creationId xmlns:a16="http://schemas.microsoft.com/office/drawing/2014/main" id="{4E328F90-9BC8-4EB9-B222-5845B29A04E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328355" y="1701800"/>
                  <a:ext cx="0" cy="4572000"/>
                </a:xfrm>
                <a:prstGeom prst="line">
                  <a:avLst/>
                </a:prstGeom>
                <a:grpFill/>
                <a:ln w="50800"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35" name="Straight Connector 134">
                  <a:extLst>
                    <a:ext uri="{FF2B5EF4-FFF2-40B4-BE49-F238E27FC236}">
                      <a16:creationId xmlns:a16="http://schemas.microsoft.com/office/drawing/2014/main" id="{1D748342-FCF5-32DC-7453-D6DD0E64BE3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502400" y="1701800"/>
                  <a:ext cx="0" cy="4572000"/>
                </a:xfrm>
                <a:prstGeom prst="line">
                  <a:avLst/>
                </a:prstGeom>
                <a:grpFill/>
                <a:ln w="50800"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36" name="Straight Connector 135">
                  <a:extLst>
                    <a:ext uri="{FF2B5EF4-FFF2-40B4-BE49-F238E27FC236}">
                      <a16:creationId xmlns:a16="http://schemas.microsoft.com/office/drawing/2014/main" id="{1E74C512-9F4D-1B2E-06CE-6278038E1B8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567289" y="1701800"/>
                  <a:ext cx="0" cy="4572000"/>
                </a:xfrm>
                <a:prstGeom prst="line">
                  <a:avLst/>
                </a:prstGeom>
                <a:grpFill/>
                <a:ln w="50800"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37" name="Straight Connector 136">
                  <a:extLst>
                    <a:ext uri="{FF2B5EF4-FFF2-40B4-BE49-F238E27FC236}">
                      <a16:creationId xmlns:a16="http://schemas.microsoft.com/office/drawing/2014/main" id="{A037FFA4-2EAB-06B3-27DE-8C755CEAAF7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980267" y="1701800"/>
                  <a:ext cx="0" cy="4572000"/>
                </a:xfrm>
                <a:prstGeom prst="line">
                  <a:avLst/>
                </a:prstGeom>
                <a:grpFill/>
                <a:ln w="50800"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38" name="Straight Connector 137">
                  <a:extLst>
                    <a:ext uri="{FF2B5EF4-FFF2-40B4-BE49-F238E27FC236}">
                      <a16:creationId xmlns:a16="http://schemas.microsoft.com/office/drawing/2014/main" id="{7AFD2516-C0E6-4853-7FAE-0CB3CFC45BC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154311" y="1701800"/>
                  <a:ext cx="0" cy="4572000"/>
                </a:xfrm>
                <a:prstGeom prst="line">
                  <a:avLst/>
                </a:prstGeom>
                <a:grpFill/>
                <a:ln w="50800"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124" name="Group 123">
                <a:extLst>
                  <a:ext uri="{FF2B5EF4-FFF2-40B4-BE49-F238E27FC236}">
                    <a16:creationId xmlns:a16="http://schemas.microsoft.com/office/drawing/2014/main" id="{8110AF9F-0792-424E-62B0-5D6C12FA8FF4}"/>
                  </a:ext>
                </a:extLst>
              </p:cNvPr>
              <p:cNvGrpSpPr/>
              <p:nvPr/>
            </p:nvGrpSpPr>
            <p:grpSpPr>
              <a:xfrm rot="5400000">
                <a:off x="3014133" y="1701800"/>
                <a:ext cx="3522133" cy="4572000"/>
                <a:chOff x="2980267" y="1701800"/>
                <a:chExt cx="3522133" cy="4572000"/>
              </a:xfrm>
              <a:grpFill/>
            </p:grpSpPr>
            <p:cxnSp>
              <p:nvCxnSpPr>
                <p:cNvPr id="125" name="Straight Connector 124">
                  <a:extLst>
                    <a:ext uri="{FF2B5EF4-FFF2-40B4-BE49-F238E27FC236}">
                      <a16:creationId xmlns:a16="http://schemas.microsoft.com/office/drawing/2014/main" id="{614A772C-E1CF-09D5-C126-9D08BDAB9C9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741333" y="1701800"/>
                  <a:ext cx="0" cy="4572000"/>
                </a:xfrm>
                <a:prstGeom prst="line">
                  <a:avLst/>
                </a:prstGeom>
                <a:grpFill/>
                <a:ln w="50800"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26" name="Straight Connector 125">
                  <a:extLst>
                    <a:ext uri="{FF2B5EF4-FFF2-40B4-BE49-F238E27FC236}">
                      <a16:creationId xmlns:a16="http://schemas.microsoft.com/office/drawing/2014/main" id="{B812A94D-C274-A332-30BB-ACC18361487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915377" y="1701800"/>
                  <a:ext cx="0" cy="4572000"/>
                </a:xfrm>
                <a:prstGeom prst="line">
                  <a:avLst/>
                </a:prstGeom>
                <a:grpFill/>
                <a:ln w="50800"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27" name="Straight Connector 126">
                  <a:extLst>
                    <a:ext uri="{FF2B5EF4-FFF2-40B4-BE49-F238E27FC236}">
                      <a16:creationId xmlns:a16="http://schemas.microsoft.com/office/drawing/2014/main" id="{8C85A1D3-71AA-0423-E38B-785AF74C6FE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328355" y="1701800"/>
                  <a:ext cx="0" cy="4572000"/>
                </a:xfrm>
                <a:prstGeom prst="line">
                  <a:avLst/>
                </a:prstGeom>
                <a:grpFill/>
                <a:ln w="50800"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28" name="Straight Connector 127">
                  <a:extLst>
                    <a:ext uri="{FF2B5EF4-FFF2-40B4-BE49-F238E27FC236}">
                      <a16:creationId xmlns:a16="http://schemas.microsoft.com/office/drawing/2014/main" id="{EC37A631-B894-6AE2-D636-FAC86D9336D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502400" y="1701800"/>
                  <a:ext cx="0" cy="4572000"/>
                </a:xfrm>
                <a:prstGeom prst="line">
                  <a:avLst/>
                </a:prstGeom>
                <a:grpFill/>
                <a:ln w="50800"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29" name="Straight Connector 128">
                  <a:extLst>
                    <a:ext uri="{FF2B5EF4-FFF2-40B4-BE49-F238E27FC236}">
                      <a16:creationId xmlns:a16="http://schemas.microsoft.com/office/drawing/2014/main" id="{BA29DE9C-0F9B-8C88-F643-33A61F58A07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567289" y="1701800"/>
                  <a:ext cx="0" cy="4572000"/>
                </a:xfrm>
                <a:prstGeom prst="line">
                  <a:avLst/>
                </a:prstGeom>
                <a:grpFill/>
                <a:ln w="50800"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30" name="Straight Connector 129">
                  <a:extLst>
                    <a:ext uri="{FF2B5EF4-FFF2-40B4-BE49-F238E27FC236}">
                      <a16:creationId xmlns:a16="http://schemas.microsoft.com/office/drawing/2014/main" id="{0F05CDFE-422B-AC6B-4F3C-A9DC11327DA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980267" y="1701800"/>
                  <a:ext cx="0" cy="4572000"/>
                </a:xfrm>
                <a:prstGeom prst="line">
                  <a:avLst/>
                </a:prstGeom>
                <a:grpFill/>
                <a:ln w="50800"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31" name="Straight Connector 130">
                  <a:extLst>
                    <a:ext uri="{FF2B5EF4-FFF2-40B4-BE49-F238E27FC236}">
                      <a16:creationId xmlns:a16="http://schemas.microsoft.com/office/drawing/2014/main" id="{2C8A5BDC-A41F-0290-9D39-B43A7EFDF53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154311" y="1701800"/>
                  <a:ext cx="0" cy="4572000"/>
                </a:xfrm>
                <a:prstGeom prst="line">
                  <a:avLst/>
                </a:prstGeom>
                <a:grpFill/>
                <a:ln w="50800"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grpSp>
          <p:nvGrpSpPr>
            <p:cNvPr id="139" name="Group 138">
              <a:extLst>
                <a:ext uri="{FF2B5EF4-FFF2-40B4-BE49-F238E27FC236}">
                  <a16:creationId xmlns:a16="http://schemas.microsoft.com/office/drawing/2014/main" id="{01B04A23-753D-DCFB-51DA-91EF92381BD7}"/>
                </a:ext>
              </a:extLst>
            </p:cNvPr>
            <p:cNvGrpSpPr/>
            <p:nvPr/>
          </p:nvGrpSpPr>
          <p:grpSpPr>
            <a:xfrm>
              <a:off x="3150854" y="7018145"/>
              <a:ext cx="2235200" cy="1871134"/>
              <a:chOff x="2489200" y="1701800"/>
              <a:chExt cx="4572000" cy="4572000"/>
            </a:xfrm>
            <a:solidFill>
              <a:schemeClr val="bg1">
                <a:alpha val="58000"/>
              </a:schemeClr>
            </a:solidFill>
          </p:grpSpPr>
          <p:sp>
            <p:nvSpPr>
              <p:cNvPr id="140" name="Rectangle 139">
                <a:extLst>
                  <a:ext uri="{FF2B5EF4-FFF2-40B4-BE49-F238E27FC236}">
                    <a16:creationId xmlns:a16="http://schemas.microsoft.com/office/drawing/2014/main" id="{355137E5-15CD-9E1F-0E4C-D580A1B98101}"/>
                  </a:ext>
                </a:extLst>
              </p:cNvPr>
              <p:cNvSpPr/>
              <p:nvPr/>
            </p:nvSpPr>
            <p:spPr>
              <a:xfrm>
                <a:off x="2489200" y="1701800"/>
                <a:ext cx="4572000" cy="4572000"/>
              </a:xfrm>
              <a:prstGeom prst="rect">
                <a:avLst/>
              </a:prstGeom>
              <a:grpFill/>
              <a:ln w="508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grpSp>
            <p:nvGrpSpPr>
              <p:cNvPr id="141" name="Group 140">
                <a:extLst>
                  <a:ext uri="{FF2B5EF4-FFF2-40B4-BE49-F238E27FC236}">
                    <a16:creationId xmlns:a16="http://schemas.microsoft.com/office/drawing/2014/main" id="{9FE09FC1-BC4B-C6B0-3297-24082C1EB76B}"/>
                  </a:ext>
                </a:extLst>
              </p:cNvPr>
              <p:cNvGrpSpPr/>
              <p:nvPr/>
            </p:nvGrpSpPr>
            <p:grpSpPr>
              <a:xfrm>
                <a:off x="2980267" y="1701800"/>
                <a:ext cx="3522133" cy="4572000"/>
                <a:chOff x="2980267" y="1701800"/>
                <a:chExt cx="3522133" cy="4572000"/>
              </a:xfrm>
              <a:grpFill/>
            </p:grpSpPr>
            <p:cxnSp>
              <p:nvCxnSpPr>
                <p:cNvPr id="150" name="Straight Connector 149">
                  <a:extLst>
                    <a:ext uri="{FF2B5EF4-FFF2-40B4-BE49-F238E27FC236}">
                      <a16:creationId xmlns:a16="http://schemas.microsoft.com/office/drawing/2014/main" id="{A676D35E-C1FF-1098-FC4C-AE448317379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741333" y="1701800"/>
                  <a:ext cx="0" cy="4572000"/>
                </a:xfrm>
                <a:prstGeom prst="line">
                  <a:avLst/>
                </a:prstGeom>
                <a:grpFill/>
                <a:ln w="50800"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51" name="Straight Connector 150">
                  <a:extLst>
                    <a:ext uri="{FF2B5EF4-FFF2-40B4-BE49-F238E27FC236}">
                      <a16:creationId xmlns:a16="http://schemas.microsoft.com/office/drawing/2014/main" id="{6F94DAE5-6C48-E8CD-D349-0EA6F793160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915377" y="1701800"/>
                  <a:ext cx="0" cy="4572000"/>
                </a:xfrm>
                <a:prstGeom prst="line">
                  <a:avLst/>
                </a:prstGeom>
                <a:grpFill/>
                <a:ln w="50800"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52" name="Straight Connector 151">
                  <a:extLst>
                    <a:ext uri="{FF2B5EF4-FFF2-40B4-BE49-F238E27FC236}">
                      <a16:creationId xmlns:a16="http://schemas.microsoft.com/office/drawing/2014/main" id="{E6178BEE-4266-8488-5661-8F990B82B73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328355" y="1701800"/>
                  <a:ext cx="0" cy="4572000"/>
                </a:xfrm>
                <a:prstGeom prst="line">
                  <a:avLst/>
                </a:prstGeom>
                <a:grpFill/>
                <a:ln w="50800"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53" name="Straight Connector 152">
                  <a:extLst>
                    <a:ext uri="{FF2B5EF4-FFF2-40B4-BE49-F238E27FC236}">
                      <a16:creationId xmlns:a16="http://schemas.microsoft.com/office/drawing/2014/main" id="{49003753-04AF-A07B-E23A-2A04011FAD2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502400" y="1701800"/>
                  <a:ext cx="0" cy="4572000"/>
                </a:xfrm>
                <a:prstGeom prst="line">
                  <a:avLst/>
                </a:prstGeom>
                <a:grpFill/>
                <a:ln w="50800"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54" name="Straight Connector 153">
                  <a:extLst>
                    <a:ext uri="{FF2B5EF4-FFF2-40B4-BE49-F238E27FC236}">
                      <a16:creationId xmlns:a16="http://schemas.microsoft.com/office/drawing/2014/main" id="{95FCA982-A0F0-9897-788A-9636AFA6EDB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567289" y="1701800"/>
                  <a:ext cx="0" cy="4572000"/>
                </a:xfrm>
                <a:prstGeom prst="line">
                  <a:avLst/>
                </a:prstGeom>
                <a:grpFill/>
                <a:ln w="50800"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55" name="Straight Connector 154">
                  <a:extLst>
                    <a:ext uri="{FF2B5EF4-FFF2-40B4-BE49-F238E27FC236}">
                      <a16:creationId xmlns:a16="http://schemas.microsoft.com/office/drawing/2014/main" id="{4E313ED3-229A-F448-29C6-A4F0577667E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980267" y="1701800"/>
                  <a:ext cx="0" cy="4572000"/>
                </a:xfrm>
                <a:prstGeom prst="line">
                  <a:avLst/>
                </a:prstGeom>
                <a:grpFill/>
                <a:ln w="50800"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56" name="Straight Connector 155">
                  <a:extLst>
                    <a:ext uri="{FF2B5EF4-FFF2-40B4-BE49-F238E27FC236}">
                      <a16:creationId xmlns:a16="http://schemas.microsoft.com/office/drawing/2014/main" id="{D03404C1-AE18-86B8-8DE5-5AB5D651208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154311" y="1701800"/>
                  <a:ext cx="0" cy="4572000"/>
                </a:xfrm>
                <a:prstGeom prst="line">
                  <a:avLst/>
                </a:prstGeom>
                <a:grpFill/>
                <a:ln w="50800"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142" name="Group 141">
                <a:extLst>
                  <a:ext uri="{FF2B5EF4-FFF2-40B4-BE49-F238E27FC236}">
                    <a16:creationId xmlns:a16="http://schemas.microsoft.com/office/drawing/2014/main" id="{3E9BB2D8-DFEC-5F1B-039E-AF9351CBAE4D}"/>
                  </a:ext>
                </a:extLst>
              </p:cNvPr>
              <p:cNvGrpSpPr/>
              <p:nvPr/>
            </p:nvGrpSpPr>
            <p:grpSpPr>
              <a:xfrm rot="5400000">
                <a:off x="3014133" y="1701800"/>
                <a:ext cx="3522133" cy="4572000"/>
                <a:chOff x="2980267" y="1701800"/>
                <a:chExt cx="3522133" cy="4572000"/>
              </a:xfrm>
              <a:grpFill/>
            </p:grpSpPr>
            <p:cxnSp>
              <p:nvCxnSpPr>
                <p:cNvPr id="143" name="Straight Connector 142">
                  <a:extLst>
                    <a:ext uri="{FF2B5EF4-FFF2-40B4-BE49-F238E27FC236}">
                      <a16:creationId xmlns:a16="http://schemas.microsoft.com/office/drawing/2014/main" id="{340BDD7D-7BB3-17D4-F546-0770DCCE29C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741333" y="1701800"/>
                  <a:ext cx="0" cy="4572000"/>
                </a:xfrm>
                <a:prstGeom prst="line">
                  <a:avLst/>
                </a:prstGeom>
                <a:grpFill/>
                <a:ln w="50800"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44" name="Straight Connector 143">
                  <a:extLst>
                    <a:ext uri="{FF2B5EF4-FFF2-40B4-BE49-F238E27FC236}">
                      <a16:creationId xmlns:a16="http://schemas.microsoft.com/office/drawing/2014/main" id="{2170454A-E0BC-9D86-A8E9-1434408D4CD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915377" y="1701800"/>
                  <a:ext cx="0" cy="4572000"/>
                </a:xfrm>
                <a:prstGeom prst="line">
                  <a:avLst/>
                </a:prstGeom>
                <a:grpFill/>
                <a:ln w="50800"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45" name="Straight Connector 144">
                  <a:extLst>
                    <a:ext uri="{FF2B5EF4-FFF2-40B4-BE49-F238E27FC236}">
                      <a16:creationId xmlns:a16="http://schemas.microsoft.com/office/drawing/2014/main" id="{FD50474D-74BE-6877-293B-F65F181F06D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328355" y="1701800"/>
                  <a:ext cx="0" cy="4572000"/>
                </a:xfrm>
                <a:prstGeom prst="line">
                  <a:avLst/>
                </a:prstGeom>
                <a:grpFill/>
                <a:ln w="50800"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46" name="Straight Connector 145">
                  <a:extLst>
                    <a:ext uri="{FF2B5EF4-FFF2-40B4-BE49-F238E27FC236}">
                      <a16:creationId xmlns:a16="http://schemas.microsoft.com/office/drawing/2014/main" id="{D0D9687E-86C7-F30D-896A-AA4896A66E3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502400" y="1701800"/>
                  <a:ext cx="0" cy="4572000"/>
                </a:xfrm>
                <a:prstGeom prst="line">
                  <a:avLst/>
                </a:prstGeom>
                <a:grpFill/>
                <a:ln w="50800"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47" name="Straight Connector 146">
                  <a:extLst>
                    <a:ext uri="{FF2B5EF4-FFF2-40B4-BE49-F238E27FC236}">
                      <a16:creationId xmlns:a16="http://schemas.microsoft.com/office/drawing/2014/main" id="{1949EBE5-CEE9-E1C5-7FBD-88AEBFE734D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567289" y="1701800"/>
                  <a:ext cx="0" cy="4572000"/>
                </a:xfrm>
                <a:prstGeom prst="line">
                  <a:avLst/>
                </a:prstGeom>
                <a:grpFill/>
                <a:ln w="50800"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48" name="Straight Connector 147">
                  <a:extLst>
                    <a:ext uri="{FF2B5EF4-FFF2-40B4-BE49-F238E27FC236}">
                      <a16:creationId xmlns:a16="http://schemas.microsoft.com/office/drawing/2014/main" id="{38FB774F-61A2-EB54-C134-93B85E1BD09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980267" y="1701800"/>
                  <a:ext cx="0" cy="4572000"/>
                </a:xfrm>
                <a:prstGeom prst="line">
                  <a:avLst/>
                </a:prstGeom>
                <a:grpFill/>
                <a:ln w="50800"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49" name="Straight Connector 148">
                  <a:extLst>
                    <a:ext uri="{FF2B5EF4-FFF2-40B4-BE49-F238E27FC236}">
                      <a16:creationId xmlns:a16="http://schemas.microsoft.com/office/drawing/2014/main" id="{CB4F185A-12DD-4747-65C7-8AA745A6474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154311" y="1701800"/>
                  <a:ext cx="0" cy="4572000"/>
                </a:xfrm>
                <a:prstGeom prst="line">
                  <a:avLst/>
                </a:prstGeom>
                <a:grpFill/>
                <a:ln w="50800"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grpSp>
          <p:nvGrpSpPr>
            <p:cNvPr id="157" name="Group 156">
              <a:extLst>
                <a:ext uri="{FF2B5EF4-FFF2-40B4-BE49-F238E27FC236}">
                  <a16:creationId xmlns:a16="http://schemas.microsoft.com/office/drawing/2014/main" id="{76FBA5B9-2BD9-5220-1D83-34FBC1B8E613}"/>
                </a:ext>
              </a:extLst>
            </p:cNvPr>
            <p:cNvGrpSpPr/>
            <p:nvPr/>
          </p:nvGrpSpPr>
          <p:grpSpPr>
            <a:xfrm>
              <a:off x="7291054" y="6910728"/>
              <a:ext cx="2235200" cy="1871134"/>
              <a:chOff x="2489200" y="1701800"/>
              <a:chExt cx="4572000" cy="4572000"/>
            </a:xfrm>
            <a:solidFill>
              <a:schemeClr val="bg1">
                <a:alpha val="58000"/>
              </a:schemeClr>
            </a:solidFill>
          </p:grpSpPr>
          <p:sp>
            <p:nvSpPr>
              <p:cNvPr id="158" name="Rectangle 157">
                <a:extLst>
                  <a:ext uri="{FF2B5EF4-FFF2-40B4-BE49-F238E27FC236}">
                    <a16:creationId xmlns:a16="http://schemas.microsoft.com/office/drawing/2014/main" id="{DC89AD29-A237-8028-FD07-580E3DF1AF27}"/>
                  </a:ext>
                </a:extLst>
              </p:cNvPr>
              <p:cNvSpPr/>
              <p:nvPr/>
            </p:nvSpPr>
            <p:spPr>
              <a:xfrm>
                <a:off x="2489200" y="1701800"/>
                <a:ext cx="4572000" cy="4572000"/>
              </a:xfrm>
              <a:prstGeom prst="rect">
                <a:avLst/>
              </a:prstGeom>
              <a:grpFill/>
              <a:ln w="508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grpSp>
            <p:nvGrpSpPr>
              <p:cNvPr id="159" name="Group 158">
                <a:extLst>
                  <a:ext uri="{FF2B5EF4-FFF2-40B4-BE49-F238E27FC236}">
                    <a16:creationId xmlns:a16="http://schemas.microsoft.com/office/drawing/2014/main" id="{9F5AEBDC-E78B-9F73-707A-A86F0F2579BF}"/>
                  </a:ext>
                </a:extLst>
              </p:cNvPr>
              <p:cNvGrpSpPr/>
              <p:nvPr/>
            </p:nvGrpSpPr>
            <p:grpSpPr>
              <a:xfrm>
                <a:off x="2980267" y="1701800"/>
                <a:ext cx="3522133" cy="4572000"/>
                <a:chOff x="2980267" y="1701800"/>
                <a:chExt cx="3522133" cy="4572000"/>
              </a:xfrm>
              <a:grpFill/>
            </p:grpSpPr>
            <p:cxnSp>
              <p:nvCxnSpPr>
                <p:cNvPr id="168" name="Straight Connector 167">
                  <a:extLst>
                    <a:ext uri="{FF2B5EF4-FFF2-40B4-BE49-F238E27FC236}">
                      <a16:creationId xmlns:a16="http://schemas.microsoft.com/office/drawing/2014/main" id="{AE5D27E6-78AF-105B-8DC5-177D3FDD8F9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741333" y="1701800"/>
                  <a:ext cx="0" cy="4572000"/>
                </a:xfrm>
                <a:prstGeom prst="line">
                  <a:avLst/>
                </a:prstGeom>
                <a:grpFill/>
                <a:ln w="50800"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69" name="Straight Connector 168">
                  <a:extLst>
                    <a:ext uri="{FF2B5EF4-FFF2-40B4-BE49-F238E27FC236}">
                      <a16:creationId xmlns:a16="http://schemas.microsoft.com/office/drawing/2014/main" id="{9161F10A-2DE2-1C0C-0163-D2ED5D66B66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915377" y="1701800"/>
                  <a:ext cx="0" cy="4572000"/>
                </a:xfrm>
                <a:prstGeom prst="line">
                  <a:avLst/>
                </a:prstGeom>
                <a:grpFill/>
                <a:ln w="50800"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70" name="Straight Connector 169">
                  <a:extLst>
                    <a:ext uri="{FF2B5EF4-FFF2-40B4-BE49-F238E27FC236}">
                      <a16:creationId xmlns:a16="http://schemas.microsoft.com/office/drawing/2014/main" id="{317D2193-C1DB-6937-6F78-7192E977FF6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328355" y="1701800"/>
                  <a:ext cx="0" cy="4572000"/>
                </a:xfrm>
                <a:prstGeom prst="line">
                  <a:avLst/>
                </a:prstGeom>
                <a:grpFill/>
                <a:ln w="50800"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71" name="Straight Connector 170">
                  <a:extLst>
                    <a:ext uri="{FF2B5EF4-FFF2-40B4-BE49-F238E27FC236}">
                      <a16:creationId xmlns:a16="http://schemas.microsoft.com/office/drawing/2014/main" id="{896F1328-14B1-4232-CA66-1C7463E8F9A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502400" y="1701800"/>
                  <a:ext cx="0" cy="4572000"/>
                </a:xfrm>
                <a:prstGeom prst="line">
                  <a:avLst/>
                </a:prstGeom>
                <a:grpFill/>
                <a:ln w="50800"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72" name="Straight Connector 171">
                  <a:extLst>
                    <a:ext uri="{FF2B5EF4-FFF2-40B4-BE49-F238E27FC236}">
                      <a16:creationId xmlns:a16="http://schemas.microsoft.com/office/drawing/2014/main" id="{969A5B2D-EB30-7199-2904-02A7CD87140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567289" y="1701800"/>
                  <a:ext cx="0" cy="4572000"/>
                </a:xfrm>
                <a:prstGeom prst="line">
                  <a:avLst/>
                </a:prstGeom>
                <a:grpFill/>
                <a:ln w="50800"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73" name="Straight Connector 172">
                  <a:extLst>
                    <a:ext uri="{FF2B5EF4-FFF2-40B4-BE49-F238E27FC236}">
                      <a16:creationId xmlns:a16="http://schemas.microsoft.com/office/drawing/2014/main" id="{DE25E7EB-F6AB-77DF-37A1-4A082E343E5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980267" y="1701800"/>
                  <a:ext cx="0" cy="4572000"/>
                </a:xfrm>
                <a:prstGeom prst="line">
                  <a:avLst/>
                </a:prstGeom>
                <a:grpFill/>
                <a:ln w="50800"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74" name="Straight Connector 173">
                  <a:extLst>
                    <a:ext uri="{FF2B5EF4-FFF2-40B4-BE49-F238E27FC236}">
                      <a16:creationId xmlns:a16="http://schemas.microsoft.com/office/drawing/2014/main" id="{8174C279-9621-AE0D-D61D-637ECB72877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154311" y="1701800"/>
                  <a:ext cx="0" cy="4572000"/>
                </a:xfrm>
                <a:prstGeom prst="line">
                  <a:avLst/>
                </a:prstGeom>
                <a:grpFill/>
                <a:ln w="50800"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160" name="Group 159">
                <a:extLst>
                  <a:ext uri="{FF2B5EF4-FFF2-40B4-BE49-F238E27FC236}">
                    <a16:creationId xmlns:a16="http://schemas.microsoft.com/office/drawing/2014/main" id="{500F3E82-A33C-E297-E4CC-31FE31C9D6BE}"/>
                  </a:ext>
                </a:extLst>
              </p:cNvPr>
              <p:cNvGrpSpPr/>
              <p:nvPr/>
            </p:nvGrpSpPr>
            <p:grpSpPr>
              <a:xfrm rot="5400000">
                <a:off x="3014133" y="1701800"/>
                <a:ext cx="3522133" cy="4572000"/>
                <a:chOff x="2980267" y="1701800"/>
                <a:chExt cx="3522133" cy="4572000"/>
              </a:xfrm>
              <a:grpFill/>
            </p:grpSpPr>
            <p:cxnSp>
              <p:nvCxnSpPr>
                <p:cNvPr id="161" name="Straight Connector 160">
                  <a:extLst>
                    <a:ext uri="{FF2B5EF4-FFF2-40B4-BE49-F238E27FC236}">
                      <a16:creationId xmlns:a16="http://schemas.microsoft.com/office/drawing/2014/main" id="{6D954FB6-625C-67EF-35CA-13E7DFA8188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741333" y="1701800"/>
                  <a:ext cx="0" cy="4572000"/>
                </a:xfrm>
                <a:prstGeom prst="line">
                  <a:avLst/>
                </a:prstGeom>
                <a:grpFill/>
                <a:ln w="50800"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62" name="Straight Connector 161">
                  <a:extLst>
                    <a:ext uri="{FF2B5EF4-FFF2-40B4-BE49-F238E27FC236}">
                      <a16:creationId xmlns:a16="http://schemas.microsoft.com/office/drawing/2014/main" id="{1EC0CB12-B516-0177-A05D-AAE6EBBF1C8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915377" y="1701800"/>
                  <a:ext cx="0" cy="4572000"/>
                </a:xfrm>
                <a:prstGeom prst="line">
                  <a:avLst/>
                </a:prstGeom>
                <a:grpFill/>
                <a:ln w="50800"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63" name="Straight Connector 162">
                  <a:extLst>
                    <a:ext uri="{FF2B5EF4-FFF2-40B4-BE49-F238E27FC236}">
                      <a16:creationId xmlns:a16="http://schemas.microsoft.com/office/drawing/2014/main" id="{C55D98A4-D8FB-A2FC-3A1B-04127973A8D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328355" y="1701800"/>
                  <a:ext cx="0" cy="4572000"/>
                </a:xfrm>
                <a:prstGeom prst="line">
                  <a:avLst/>
                </a:prstGeom>
                <a:grpFill/>
                <a:ln w="50800"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64" name="Straight Connector 163">
                  <a:extLst>
                    <a:ext uri="{FF2B5EF4-FFF2-40B4-BE49-F238E27FC236}">
                      <a16:creationId xmlns:a16="http://schemas.microsoft.com/office/drawing/2014/main" id="{0C1BF285-9A74-4462-9DEE-7ED993D84B1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502400" y="1701800"/>
                  <a:ext cx="0" cy="4572000"/>
                </a:xfrm>
                <a:prstGeom prst="line">
                  <a:avLst/>
                </a:prstGeom>
                <a:grpFill/>
                <a:ln w="50800"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65" name="Straight Connector 164">
                  <a:extLst>
                    <a:ext uri="{FF2B5EF4-FFF2-40B4-BE49-F238E27FC236}">
                      <a16:creationId xmlns:a16="http://schemas.microsoft.com/office/drawing/2014/main" id="{F8C70E2C-7EE5-B86B-279A-AB9A0FD7ED6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567289" y="1701800"/>
                  <a:ext cx="0" cy="4572000"/>
                </a:xfrm>
                <a:prstGeom prst="line">
                  <a:avLst/>
                </a:prstGeom>
                <a:grpFill/>
                <a:ln w="50800"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66" name="Straight Connector 165">
                  <a:extLst>
                    <a:ext uri="{FF2B5EF4-FFF2-40B4-BE49-F238E27FC236}">
                      <a16:creationId xmlns:a16="http://schemas.microsoft.com/office/drawing/2014/main" id="{96C1D273-F3F2-4124-F96B-1BB86D7ED4F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980267" y="1701800"/>
                  <a:ext cx="0" cy="4572000"/>
                </a:xfrm>
                <a:prstGeom prst="line">
                  <a:avLst/>
                </a:prstGeom>
                <a:grpFill/>
                <a:ln w="50800"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67" name="Straight Connector 166">
                  <a:extLst>
                    <a:ext uri="{FF2B5EF4-FFF2-40B4-BE49-F238E27FC236}">
                      <a16:creationId xmlns:a16="http://schemas.microsoft.com/office/drawing/2014/main" id="{F1C2E1DB-19AD-7084-8672-636A20BC52C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154311" y="1701800"/>
                  <a:ext cx="0" cy="4572000"/>
                </a:xfrm>
                <a:prstGeom prst="line">
                  <a:avLst/>
                </a:prstGeom>
                <a:grpFill/>
                <a:ln w="50800"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sp>
          <p:nvSpPr>
            <p:cNvPr id="175" name="Rectangle 174">
              <a:extLst>
                <a:ext uri="{FF2B5EF4-FFF2-40B4-BE49-F238E27FC236}">
                  <a16:creationId xmlns:a16="http://schemas.microsoft.com/office/drawing/2014/main" id="{AD8BFF6D-A7CD-C02F-45EE-4AA3769122B3}"/>
                </a:ext>
              </a:extLst>
            </p:cNvPr>
            <p:cNvSpPr/>
            <p:nvPr/>
          </p:nvSpPr>
          <p:spPr>
            <a:xfrm>
              <a:off x="1348708" y="7018145"/>
              <a:ext cx="573977" cy="1871134"/>
            </a:xfrm>
            <a:prstGeom prst="rect">
              <a:avLst/>
            </a:prstGeom>
            <a:solidFill>
              <a:schemeClr val="tx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6" name="Rectangle 175">
              <a:extLst>
                <a:ext uri="{FF2B5EF4-FFF2-40B4-BE49-F238E27FC236}">
                  <a16:creationId xmlns:a16="http://schemas.microsoft.com/office/drawing/2014/main" id="{2E85AE58-AECB-833E-4A47-DA2E30434423}"/>
                </a:ext>
              </a:extLst>
            </p:cNvPr>
            <p:cNvSpPr/>
            <p:nvPr/>
          </p:nvSpPr>
          <p:spPr>
            <a:xfrm rot="5400000">
              <a:off x="4009727" y="6846785"/>
              <a:ext cx="459125" cy="2235199"/>
            </a:xfrm>
            <a:prstGeom prst="rect">
              <a:avLst/>
            </a:prstGeom>
            <a:solidFill>
              <a:schemeClr val="tx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7" name="Rectangle 176">
              <a:extLst>
                <a:ext uri="{FF2B5EF4-FFF2-40B4-BE49-F238E27FC236}">
                  <a16:creationId xmlns:a16="http://schemas.microsoft.com/office/drawing/2014/main" id="{B182BB02-37C0-D24A-4940-35FC70EFBEF9}"/>
                </a:ext>
              </a:extLst>
            </p:cNvPr>
            <p:cNvSpPr/>
            <p:nvPr/>
          </p:nvSpPr>
          <p:spPr>
            <a:xfrm>
              <a:off x="8121289" y="6910728"/>
              <a:ext cx="573977" cy="749487"/>
            </a:xfrm>
            <a:prstGeom prst="rect">
              <a:avLst/>
            </a:prstGeom>
            <a:solidFill>
              <a:schemeClr val="tx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8" name="Rectangle 177">
              <a:extLst>
                <a:ext uri="{FF2B5EF4-FFF2-40B4-BE49-F238E27FC236}">
                  <a16:creationId xmlns:a16="http://schemas.microsoft.com/office/drawing/2014/main" id="{B16E9327-8780-9E56-7CDB-D40906701E51}"/>
                </a:ext>
              </a:extLst>
            </p:cNvPr>
            <p:cNvSpPr/>
            <p:nvPr/>
          </p:nvSpPr>
          <p:spPr>
            <a:xfrm rot="5400000">
              <a:off x="7468330" y="7412217"/>
              <a:ext cx="459125" cy="846792"/>
            </a:xfrm>
            <a:prstGeom prst="rect">
              <a:avLst/>
            </a:prstGeom>
            <a:solidFill>
              <a:schemeClr val="tx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9" name="Rectangle 178">
              <a:extLst>
                <a:ext uri="{FF2B5EF4-FFF2-40B4-BE49-F238E27FC236}">
                  <a16:creationId xmlns:a16="http://schemas.microsoft.com/office/drawing/2014/main" id="{A8FEAEFD-615B-F7B5-F776-901F0AC367B0}"/>
                </a:ext>
              </a:extLst>
            </p:cNvPr>
            <p:cNvSpPr/>
            <p:nvPr/>
          </p:nvSpPr>
          <p:spPr>
            <a:xfrm>
              <a:off x="8088928" y="8032375"/>
              <a:ext cx="573977" cy="749487"/>
            </a:xfrm>
            <a:prstGeom prst="rect">
              <a:avLst/>
            </a:prstGeom>
            <a:solidFill>
              <a:schemeClr val="tx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0" name="Rectangle 179">
              <a:extLst>
                <a:ext uri="{FF2B5EF4-FFF2-40B4-BE49-F238E27FC236}">
                  <a16:creationId xmlns:a16="http://schemas.microsoft.com/office/drawing/2014/main" id="{B3BB4238-65CA-99F9-2565-EEE61EF486DC}"/>
                </a:ext>
              </a:extLst>
            </p:cNvPr>
            <p:cNvSpPr/>
            <p:nvPr/>
          </p:nvSpPr>
          <p:spPr>
            <a:xfrm rot="5400000">
              <a:off x="8856739" y="7433581"/>
              <a:ext cx="459125" cy="846792"/>
            </a:xfrm>
            <a:prstGeom prst="rect">
              <a:avLst/>
            </a:prstGeom>
            <a:solidFill>
              <a:schemeClr val="tx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84" name="TextBox 183">
            <a:extLst>
              <a:ext uri="{FF2B5EF4-FFF2-40B4-BE49-F238E27FC236}">
                <a16:creationId xmlns:a16="http://schemas.microsoft.com/office/drawing/2014/main" id="{50511A91-1143-047A-AE70-DA305F83FFDF}"/>
              </a:ext>
            </a:extLst>
          </p:cNvPr>
          <p:cNvSpPr txBox="1"/>
          <p:nvPr/>
        </p:nvSpPr>
        <p:spPr>
          <a:xfrm>
            <a:off x="5854872" y="1988924"/>
            <a:ext cx="89639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AND</a:t>
            </a:r>
          </a:p>
        </p:txBody>
      </p:sp>
      <p:sp>
        <p:nvSpPr>
          <p:cNvPr id="185" name="TextBox 184">
            <a:extLst>
              <a:ext uri="{FF2B5EF4-FFF2-40B4-BE49-F238E27FC236}">
                <a16:creationId xmlns:a16="http://schemas.microsoft.com/office/drawing/2014/main" id="{17B81B44-14B0-5B51-4787-35B4445DAD91}"/>
              </a:ext>
            </a:extLst>
          </p:cNvPr>
          <p:cNvSpPr txBox="1"/>
          <p:nvPr/>
        </p:nvSpPr>
        <p:spPr>
          <a:xfrm>
            <a:off x="5956568" y="3558572"/>
            <a:ext cx="66556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OR</a:t>
            </a:r>
          </a:p>
        </p:txBody>
      </p:sp>
      <p:sp>
        <p:nvSpPr>
          <p:cNvPr id="186" name="TextBox 185">
            <a:extLst>
              <a:ext uri="{FF2B5EF4-FFF2-40B4-BE49-F238E27FC236}">
                <a16:creationId xmlns:a16="http://schemas.microsoft.com/office/drawing/2014/main" id="{5D4D3EA7-84DC-8004-3F92-54B30CD4E9DF}"/>
              </a:ext>
            </a:extLst>
          </p:cNvPr>
          <p:cNvSpPr txBox="1"/>
          <p:nvPr/>
        </p:nvSpPr>
        <p:spPr>
          <a:xfrm>
            <a:off x="5890945" y="5364178"/>
            <a:ext cx="85677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XOR</a:t>
            </a:r>
          </a:p>
        </p:txBody>
      </p:sp>
    </p:spTree>
    <p:extLst>
      <p:ext uri="{BB962C8B-B14F-4D97-AF65-F5344CB8AC3E}">
        <p14:creationId xmlns:p14="http://schemas.microsoft.com/office/powerpoint/2010/main" val="156363686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46D302-9708-3368-93A9-EC060C6102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7185" y="172253"/>
            <a:ext cx="10515600" cy="1325563"/>
          </a:xfrm>
        </p:spPr>
        <p:txBody>
          <a:bodyPr/>
          <a:lstStyle/>
          <a:p>
            <a:r>
              <a:rPr lang="en-US" dirty="0"/>
              <a:t>Morphological Operations</a:t>
            </a:r>
            <a:br>
              <a:rPr lang="en-US" dirty="0"/>
            </a:br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CE009B6-6E43-A1AE-D443-4EE1A07B855F}"/>
              </a:ext>
            </a:extLst>
          </p:cNvPr>
          <p:cNvSpPr/>
          <p:nvPr/>
        </p:nvSpPr>
        <p:spPr>
          <a:xfrm>
            <a:off x="406401" y="3572933"/>
            <a:ext cx="2540000" cy="2370668"/>
          </a:xfrm>
          <a:prstGeom prst="rect">
            <a:avLst/>
          </a:prstGeom>
          <a:solidFill>
            <a:schemeClr val="bg1">
              <a:alpha val="58000"/>
            </a:schemeClr>
          </a:solidFill>
          <a:ln w="508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B948C31E-0D8E-769B-2FE4-55FDB44D73C2}"/>
              </a:ext>
            </a:extLst>
          </p:cNvPr>
          <p:cNvGrpSpPr/>
          <p:nvPr/>
        </p:nvGrpSpPr>
        <p:grpSpPr>
          <a:xfrm>
            <a:off x="713772" y="3572933"/>
            <a:ext cx="1837161" cy="2370668"/>
            <a:chOff x="2980267" y="1701800"/>
            <a:chExt cx="2935110" cy="4572000"/>
          </a:xfrm>
          <a:solidFill>
            <a:schemeClr val="bg1">
              <a:alpha val="58000"/>
            </a:schemeClr>
          </a:solidFill>
        </p:grpSpPr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B339A8FE-FE1F-838B-9261-DB3ED4492EE9}"/>
                </a:ext>
              </a:extLst>
            </p:cNvPr>
            <p:cNvCxnSpPr>
              <a:cxnSpLocks/>
            </p:cNvCxnSpPr>
            <p:nvPr/>
          </p:nvCxnSpPr>
          <p:spPr>
            <a:xfrm>
              <a:off x="4741333" y="1701800"/>
              <a:ext cx="0" cy="4572000"/>
            </a:xfrm>
            <a:prstGeom prst="line">
              <a:avLst/>
            </a:prstGeom>
            <a:grpFill/>
            <a:ln w="508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55BBB407-90F9-4BA3-8EAB-8BCB54D80DA5}"/>
                </a:ext>
              </a:extLst>
            </p:cNvPr>
            <p:cNvCxnSpPr>
              <a:cxnSpLocks/>
            </p:cNvCxnSpPr>
            <p:nvPr/>
          </p:nvCxnSpPr>
          <p:spPr>
            <a:xfrm>
              <a:off x="5915377" y="1701800"/>
              <a:ext cx="0" cy="4572000"/>
            </a:xfrm>
            <a:prstGeom prst="line">
              <a:avLst/>
            </a:prstGeom>
            <a:grpFill/>
            <a:ln w="508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17085909-1C27-E67C-AF64-E6BD834FA24D}"/>
                </a:ext>
              </a:extLst>
            </p:cNvPr>
            <p:cNvCxnSpPr>
              <a:cxnSpLocks/>
            </p:cNvCxnSpPr>
            <p:nvPr/>
          </p:nvCxnSpPr>
          <p:spPr>
            <a:xfrm>
              <a:off x="5328355" y="1701800"/>
              <a:ext cx="0" cy="4572000"/>
            </a:xfrm>
            <a:prstGeom prst="line">
              <a:avLst/>
            </a:prstGeom>
            <a:grpFill/>
            <a:ln w="508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51FB190D-2B58-5058-C4AE-AEE49FA3593F}"/>
                </a:ext>
              </a:extLst>
            </p:cNvPr>
            <p:cNvCxnSpPr>
              <a:cxnSpLocks/>
            </p:cNvCxnSpPr>
            <p:nvPr/>
          </p:nvCxnSpPr>
          <p:spPr>
            <a:xfrm>
              <a:off x="3567289" y="1701800"/>
              <a:ext cx="0" cy="4572000"/>
            </a:xfrm>
            <a:prstGeom prst="line">
              <a:avLst/>
            </a:prstGeom>
            <a:grpFill/>
            <a:ln w="508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C03E2A41-7FC2-F893-267A-4422BFD2084D}"/>
                </a:ext>
              </a:extLst>
            </p:cNvPr>
            <p:cNvCxnSpPr>
              <a:cxnSpLocks/>
            </p:cNvCxnSpPr>
            <p:nvPr/>
          </p:nvCxnSpPr>
          <p:spPr>
            <a:xfrm>
              <a:off x="2980267" y="1701800"/>
              <a:ext cx="0" cy="4572000"/>
            </a:xfrm>
            <a:prstGeom prst="line">
              <a:avLst/>
            </a:prstGeom>
            <a:grpFill/>
            <a:ln w="508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7AB4A248-BC25-4EA2-FBFB-C6E9BAFA2E18}"/>
                </a:ext>
              </a:extLst>
            </p:cNvPr>
            <p:cNvCxnSpPr>
              <a:cxnSpLocks/>
            </p:cNvCxnSpPr>
            <p:nvPr/>
          </p:nvCxnSpPr>
          <p:spPr>
            <a:xfrm>
              <a:off x="4154311" y="1701800"/>
              <a:ext cx="0" cy="4572000"/>
            </a:xfrm>
            <a:prstGeom prst="line">
              <a:avLst/>
            </a:prstGeom>
            <a:grpFill/>
            <a:ln w="508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CDC493EE-75EA-90F0-6FC0-51B949C100E6}"/>
              </a:ext>
            </a:extLst>
          </p:cNvPr>
          <p:cNvGrpSpPr/>
          <p:nvPr/>
        </p:nvGrpSpPr>
        <p:grpSpPr>
          <a:xfrm rot="5400000">
            <a:off x="820326" y="3465217"/>
            <a:ext cx="1712148" cy="2540001"/>
            <a:chOff x="2980267" y="1701800"/>
            <a:chExt cx="2935110" cy="4572000"/>
          </a:xfrm>
          <a:solidFill>
            <a:schemeClr val="bg1">
              <a:alpha val="58000"/>
            </a:schemeClr>
          </a:solidFill>
        </p:grpSpPr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8BAF4C3E-E972-A9F9-207A-08B0DA4BAD52}"/>
                </a:ext>
              </a:extLst>
            </p:cNvPr>
            <p:cNvCxnSpPr>
              <a:cxnSpLocks/>
            </p:cNvCxnSpPr>
            <p:nvPr/>
          </p:nvCxnSpPr>
          <p:spPr>
            <a:xfrm>
              <a:off x="4741333" y="1701800"/>
              <a:ext cx="0" cy="4572000"/>
            </a:xfrm>
            <a:prstGeom prst="line">
              <a:avLst/>
            </a:prstGeom>
            <a:grpFill/>
            <a:ln w="508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4AF78ED9-1054-255F-F96A-35A62D34F79F}"/>
                </a:ext>
              </a:extLst>
            </p:cNvPr>
            <p:cNvCxnSpPr>
              <a:cxnSpLocks/>
            </p:cNvCxnSpPr>
            <p:nvPr/>
          </p:nvCxnSpPr>
          <p:spPr>
            <a:xfrm>
              <a:off x="5915377" y="1701800"/>
              <a:ext cx="0" cy="4572000"/>
            </a:xfrm>
            <a:prstGeom prst="line">
              <a:avLst/>
            </a:prstGeom>
            <a:grpFill/>
            <a:ln w="508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275148A6-3560-00D6-DC47-D6D3651CC2CD}"/>
                </a:ext>
              </a:extLst>
            </p:cNvPr>
            <p:cNvCxnSpPr>
              <a:cxnSpLocks/>
            </p:cNvCxnSpPr>
            <p:nvPr/>
          </p:nvCxnSpPr>
          <p:spPr>
            <a:xfrm>
              <a:off x="5328355" y="1701800"/>
              <a:ext cx="0" cy="4572000"/>
            </a:xfrm>
            <a:prstGeom prst="line">
              <a:avLst/>
            </a:prstGeom>
            <a:grpFill/>
            <a:ln w="508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BB0ABD65-681E-C34B-0B83-A8E1FDA06D6A}"/>
                </a:ext>
              </a:extLst>
            </p:cNvPr>
            <p:cNvCxnSpPr>
              <a:cxnSpLocks/>
            </p:cNvCxnSpPr>
            <p:nvPr/>
          </p:nvCxnSpPr>
          <p:spPr>
            <a:xfrm>
              <a:off x="3567289" y="1701800"/>
              <a:ext cx="0" cy="4572000"/>
            </a:xfrm>
            <a:prstGeom prst="line">
              <a:avLst/>
            </a:prstGeom>
            <a:grpFill/>
            <a:ln w="508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2F544D9D-2992-3B2B-E7CE-A05F65B81634}"/>
                </a:ext>
              </a:extLst>
            </p:cNvPr>
            <p:cNvCxnSpPr>
              <a:cxnSpLocks/>
            </p:cNvCxnSpPr>
            <p:nvPr/>
          </p:nvCxnSpPr>
          <p:spPr>
            <a:xfrm>
              <a:off x="2980267" y="1701800"/>
              <a:ext cx="0" cy="4572000"/>
            </a:xfrm>
            <a:prstGeom prst="line">
              <a:avLst/>
            </a:prstGeom>
            <a:grpFill/>
            <a:ln w="508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9A0121B3-200D-DF68-DFAC-035308034637}"/>
                </a:ext>
              </a:extLst>
            </p:cNvPr>
            <p:cNvCxnSpPr>
              <a:cxnSpLocks/>
            </p:cNvCxnSpPr>
            <p:nvPr/>
          </p:nvCxnSpPr>
          <p:spPr>
            <a:xfrm>
              <a:off x="4154311" y="1701800"/>
              <a:ext cx="0" cy="4572000"/>
            </a:xfrm>
            <a:prstGeom prst="line">
              <a:avLst/>
            </a:prstGeom>
            <a:grpFill/>
            <a:ln w="508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6" name="Rectangle 25">
            <a:extLst>
              <a:ext uri="{FF2B5EF4-FFF2-40B4-BE49-F238E27FC236}">
                <a16:creationId xmlns:a16="http://schemas.microsoft.com/office/drawing/2014/main" id="{A0D363F5-0ABB-90EC-0A78-7FE27A6F1894}"/>
              </a:ext>
            </a:extLst>
          </p:cNvPr>
          <p:cNvSpPr/>
          <p:nvPr/>
        </p:nvSpPr>
        <p:spPr>
          <a:xfrm>
            <a:off x="1081204" y="4221573"/>
            <a:ext cx="1102297" cy="1027288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B814C9F8-5CE3-4B8C-0093-2462C9E84FF0}"/>
              </a:ext>
            </a:extLst>
          </p:cNvPr>
          <p:cNvSpPr txBox="1"/>
          <p:nvPr/>
        </p:nvSpPr>
        <p:spPr>
          <a:xfrm>
            <a:off x="3313832" y="4198314"/>
            <a:ext cx="21844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Anchor point</a:t>
            </a:r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F4C5807E-BFBB-AE4F-6BB7-DEB16424F926}"/>
              </a:ext>
            </a:extLst>
          </p:cNvPr>
          <p:cNvSpPr txBox="1"/>
          <p:nvPr/>
        </p:nvSpPr>
        <p:spPr>
          <a:xfrm>
            <a:off x="406426" y="2911222"/>
            <a:ext cx="253997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Structure/Kernel </a:t>
            </a:r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2B0933EC-76D7-A569-C5EF-C3AAEABEF3CA}"/>
              </a:ext>
            </a:extLst>
          </p:cNvPr>
          <p:cNvSpPr txBox="1"/>
          <p:nvPr/>
        </p:nvSpPr>
        <p:spPr>
          <a:xfrm>
            <a:off x="1456706" y="4429147"/>
            <a:ext cx="418704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>
                <a:solidFill>
                  <a:srgbClr val="FF0000"/>
                </a:solidFill>
              </a:rPr>
              <a:t>*</a:t>
            </a:r>
            <a:endParaRPr lang="en-US" dirty="0">
              <a:solidFill>
                <a:srgbClr val="FF0000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641673E-F1FA-DFF3-351D-7EE7B5C67F5B}"/>
              </a:ext>
            </a:extLst>
          </p:cNvPr>
          <p:cNvSpPr txBox="1"/>
          <p:nvPr/>
        </p:nvSpPr>
        <p:spPr>
          <a:xfrm>
            <a:off x="3728405" y="2025487"/>
            <a:ext cx="632999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b="1" dirty="0"/>
              <a:t>Kernel is Boolean (mask)</a:t>
            </a: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CB391764-87C4-72CC-95C3-F8379C5CDC8E}"/>
              </a:ext>
            </a:extLst>
          </p:cNvPr>
          <p:cNvCxnSpPr>
            <a:cxnSpLocks/>
            <a:stCxn id="99" idx="1"/>
          </p:cNvCxnSpPr>
          <p:nvPr/>
        </p:nvCxnSpPr>
        <p:spPr>
          <a:xfrm flipH="1">
            <a:off x="1883479" y="4429147"/>
            <a:ext cx="1430353" cy="30607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itle 1">
            <a:extLst>
              <a:ext uri="{FF2B5EF4-FFF2-40B4-BE49-F238E27FC236}">
                <a16:creationId xmlns:a16="http://schemas.microsoft.com/office/drawing/2014/main" id="{F0639EB8-77BC-8360-2530-7CAE115DCFCC}"/>
              </a:ext>
            </a:extLst>
          </p:cNvPr>
          <p:cNvSpPr txBox="1">
            <a:spLocks/>
          </p:cNvSpPr>
          <p:nvPr/>
        </p:nvSpPr>
        <p:spPr>
          <a:xfrm>
            <a:off x="567185" y="588200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Erosion/Dilation</a:t>
            </a:r>
          </a:p>
        </p:txBody>
      </p:sp>
    </p:spTree>
    <p:extLst>
      <p:ext uri="{BB962C8B-B14F-4D97-AF65-F5344CB8AC3E}">
        <p14:creationId xmlns:p14="http://schemas.microsoft.com/office/powerpoint/2010/main" val="173052129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46D302-9708-3368-93A9-EC060C6102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Erosion/Dilation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CE009B6-6E43-A1AE-D443-4EE1A07B855F}"/>
              </a:ext>
            </a:extLst>
          </p:cNvPr>
          <p:cNvSpPr/>
          <p:nvPr/>
        </p:nvSpPr>
        <p:spPr>
          <a:xfrm>
            <a:off x="406401" y="3572933"/>
            <a:ext cx="2540000" cy="2370668"/>
          </a:xfrm>
          <a:prstGeom prst="rect">
            <a:avLst/>
          </a:prstGeom>
          <a:solidFill>
            <a:schemeClr val="bg1">
              <a:alpha val="58000"/>
            </a:schemeClr>
          </a:solidFill>
          <a:ln w="508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B948C31E-0D8E-769B-2FE4-55FDB44D73C2}"/>
              </a:ext>
            </a:extLst>
          </p:cNvPr>
          <p:cNvGrpSpPr/>
          <p:nvPr/>
        </p:nvGrpSpPr>
        <p:grpSpPr>
          <a:xfrm>
            <a:off x="713772" y="3572933"/>
            <a:ext cx="1837161" cy="2370668"/>
            <a:chOff x="2980267" y="1701800"/>
            <a:chExt cx="2935110" cy="4572000"/>
          </a:xfrm>
          <a:solidFill>
            <a:schemeClr val="bg1">
              <a:alpha val="58000"/>
            </a:schemeClr>
          </a:solidFill>
        </p:grpSpPr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B339A8FE-FE1F-838B-9261-DB3ED4492EE9}"/>
                </a:ext>
              </a:extLst>
            </p:cNvPr>
            <p:cNvCxnSpPr>
              <a:cxnSpLocks/>
            </p:cNvCxnSpPr>
            <p:nvPr/>
          </p:nvCxnSpPr>
          <p:spPr>
            <a:xfrm>
              <a:off x="4741333" y="1701800"/>
              <a:ext cx="0" cy="4572000"/>
            </a:xfrm>
            <a:prstGeom prst="line">
              <a:avLst/>
            </a:prstGeom>
            <a:grpFill/>
            <a:ln w="508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55BBB407-90F9-4BA3-8EAB-8BCB54D80DA5}"/>
                </a:ext>
              </a:extLst>
            </p:cNvPr>
            <p:cNvCxnSpPr>
              <a:cxnSpLocks/>
            </p:cNvCxnSpPr>
            <p:nvPr/>
          </p:nvCxnSpPr>
          <p:spPr>
            <a:xfrm>
              <a:off x="5915377" y="1701800"/>
              <a:ext cx="0" cy="4572000"/>
            </a:xfrm>
            <a:prstGeom prst="line">
              <a:avLst/>
            </a:prstGeom>
            <a:grpFill/>
            <a:ln w="508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17085909-1C27-E67C-AF64-E6BD834FA24D}"/>
                </a:ext>
              </a:extLst>
            </p:cNvPr>
            <p:cNvCxnSpPr>
              <a:cxnSpLocks/>
            </p:cNvCxnSpPr>
            <p:nvPr/>
          </p:nvCxnSpPr>
          <p:spPr>
            <a:xfrm>
              <a:off x="5328355" y="1701800"/>
              <a:ext cx="0" cy="4572000"/>
            </a:xfrm>
            <a:prstGeom prst="line">
              <a:avLst/>
            </a:prstGeom>
            <a:grpFill/>
            <a:ln w="508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51FB190D-2B58-5058-C4AE-AEE49FA3593F}"/>
                </a:ext>
              </a:extLst>
            </p:cNvPr>
            <p:cNvCxnSpPr>
              <a:cxnSpLocks/>
            </p:cNvCxnSpPr>
            <p:nvPr/>
          </p:nvCxnSpPr>
          <p:spPr>
            <a:xfrm>
              <a:off x="3567289" y="1701800"/>
              <a:ext cx="0" cy="4572000"/>
            </a:xfrm>
            <a:prstGeom prst="line">
              <a:avLst/>
            </a:prstGeom>
            <a:grpFill/>
            <a:ln w="508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C03E2A41-7FC2-F893-267A-4422BFD2084D}"/>
                </a:ext>
              </a:extLst>
            </p:cNvPr>
            <p:cNvCxnSpPr>
              <a:cxnSpLocks/>
            </p:cNvCxnSpPr>
            <p:nvPr/>
          </p:nvCxnSpPr>
          <p:spPr>
            <a:xfrm>
              <a:off x="2980267" y="1701800"/>
              <a:ext cx="0" cy="4572000"/>
            </a:xfrm>
            <a:prstGeom prst="line">
              <a:avLst/>
            </a:prstGeom>
            <a:grpFill/>
            <a:ln w="508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7AB4A248-BC25-4EA2-FBFB-C6E9BAFA2E18}"/>
                </a:ext>
              </a:extLst>
            </p:cNvPr>
            <p:cNvCxnSpPr>
              <a:cxnSpLocks/>
            </p:cNvCxnSpPr>
            <p:nvPr/>
          </p:nvCxnSpPr>
          <p:spPr>
            <a:xfrm>
              <a:off x="4154311" y="1701800"/>
              <a:ext cx="0" cy="4572000"/>
            </a:xfrm>
            <a:prstGeom prst="line">
              <a:avLst/>
            </a:prstGeom>
            <a:grpFill/>
            <a:ln w="508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CDC493EE-75EA-90F0-6FC0-51B949C100E6}"/>
              </a:ext>
            </a:extLst>
          </p:cNvPr>
          <p:cNvGrpSpPr/>
          <p:nvPr/>
        </p:nvGrpSpPr>
        <p:grpSpPr>
          <a:xfrm rot="5400000">
            <a:off x="820326" y="3465217"/>
            <a:ext cx="1712148" cy="2540001"/>
            <a:chOff x="2980267" y="1701800"/>
            <a:chExt cx="2935110" cy="4572000"/>
          </a:xfrm>
          <a:solidFill>
            <a:schemeClr val="bg1">
              <a:alpha val="58000"/>
            </a:schemeClr>
          </a:solidFill>
        </p:grpSpPr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8BAF4C3E-E972-A9F9-207A-08B0DA4BAD52}"/>
                </a:ext>
              </a:extLst>
            </p:cNvPr>
            <p:cNvCxnSpPr>
              <a:cxnSpLocks/>
            </p:cNvCxnSpPr>
            <p:nvPr/>
          </p:nvCxnSpPr>
          <p:spPr>
            <a:xfrm>
              <a:off x="4741333" y="1701800"/>
              <a:ext cx="0" cy="4572000"/>
            </a:xfrm>
            <a:prstGeom prst="line">
              <a:avLst/>
            </a:prstGeom>
            <a:grpFill/>
            <a:ln w="508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4AF78ED9-1054-255F-F96A-35A62D34F79F}"/>
                </a:ext>
              </a:extLst>
            </p:cNvPr>
            <p:cNvCxnSpPr>
              <a:cxnSpLocks/>
            </p:cNvCxnSpPr>
            <p:nvPr/>
          </p:nvCxnSpPr>
          <p:spPr>
            <a:xfrm>
              <a:off x="5915377" y="1701800"/>
              <a:ext cx="0" cy="4572000"/>
            </a:xfrm>
            <a:prstGeom prst="line">
              <a:avLst/>
            </a:prstGeom>
            <a:grpFill/>
            <a:ln w="508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275148A6-3560-00D6-DC47-D6D3651CC2CD}"/>
                </a:ext>
              </a:extLst>
            </p:cNvPr>
            <p:cNvCxnSpPr>
              <a:cxnSpLocks/>
            </p:cNvCxnSpPr>
            <p:nvPr/>
          </p:nvCxnSpPr>
          <p:spPr>
            <a:xfrm>
              <a:off x="5328355" y="1701800"/>
              <a:ext cx="0" cy="4572000"/>
            </a:xfrm>
            <a:prstGeom prst="line">
              <a:avLst/>
            </a:prstGeom>
            <a:grpFill/>
            <a:ln w="508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BB0ABD65-681E-C34B-0B83-A8E1FDA06D6A}"/>
                </a:ext>
              </a:extLst>
            </p:cNvPr>
            <p:cNvCxnSpPr>
              <a:cxnSpLocks/>
            </p:cNvCxnSpPr>
            <p:nvPr/>
          </p:nvCxnSpPr>
          <p:spPr>
            <a:xfrm>
              <a:off x="3567289" y="1701800"/>
              <a:ext cx="0" cy="4572000"/>
            </a:xfrm>
            <a:prstGeom prst="line">
              <a:avLst/>
            </a:prstGeom>
            <a:grpFill/>
            <a:ln w="508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2F544D9D-2992-3B2B-E7CE-A05F65B81634}"/>
                </a:ext>
              </a:extLst>
            </p:cNvPr>
            <p:cNvCxnSpPr>
              <a:cxnSpLocks/>
            </p:cNvCxnSpPr>
            <p:nvPr/>
          </p:nvCxnSpPr>
          <p:spPr>
            <a:xfrm>
              <a:off x="2980267" y="1701800"/>
              <a:ext cx="0" cy="4572000"/>
            </a:xfrm>
            <a:prstGeom prst="line">
              <a:avLst/>
            </a:prstGeom>
            <a:grpFill/>
            <a:ln w="508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9A0121B3-200D-DF68-DFAC-035308034637}"/>
                </a:ext>
              </a:extLst>
            </p:cNvPr>
            <p:cNvCxnSpPr>
              <a:cxnSpLocks/>
            </p:cNvCxnSpPr>
            <p:nvPr/>
          </p:nvCxnSpPr>
          <p:spPr>
            <a:xfrm>
              <a:off x="4154311" y="1701800"/>
              <a:ext cx="0" cy="4572000"/>
            </a:xfrm>
            <a:prstGeom prst="line">
              <a:avLst/>
            </a:prstGeom>
            <a:grpFill/>
            <a:ln w="508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6" name="Rectangle 25">
            <a:extLst>
              <a:ext uri="{FF2B5EF4-FFF2-40B4-BE49-F238E27FC236}">
                <a16:creationId xmlns:a16="http://schemas.microsoft.com/office/drawing/2014/main" id="{A0D363F5-0ABB-90EC-0A78-7FE27A6F1894}"/>
              </a:ext>
            </a:extLst>
          </p:cNvPr>
          <p:cNvSpPr/>
          <p:nvPr/>
        </p:nvSpPr>
        <p:spPr>
          <a:xfrm>
            <a:off x="1081204" y="4221573"/>
            <a:ext cx="1102297" cy="1027288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B814C9F8-5CE3-4B8C-0093-2462C9E84FF0}"/>
              </a:ext>
            </a:extLst>
          </p:cNvPr>
          <p:cNvSpPr txBox="1"/>
          <p:nvPr/>
        </p:nvSpPr>
        <p:spPr>
          <a:xfrm>
            <a:off x="1473995" y="2019112"/>
            <a:ext cx="21844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Anchor point</a:t>
            </a:r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F4C5807E-BFBB-AE4F-6BB7-DEB16424F926}"/>
              </a:ext>
            </a:extLst>
          </p:cNvPr>
          <p:cNvSpPr txBox="1"/>
          <p:nvPr/>
        </p:nvSpPr>
        <p:spPr>
          <a:xfrm>
            <a:off x="1920007" y="2650248"/>
            <a:ext cx="253997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Structure/Kernel </a:t>
            </a:r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2B0933EC-76D7-A569-C5EF-C3AAEABEF3CA}"/>
              </a:ext>
            </a:extLst>
          </p:cNvPr>
          <p:cNvSpPr txBox="1"/>
          <p:nvPr/>
        </p:nvSpPr>
        <p:spPr>
          <a:xfrm>
            <a:off x="1456706" y="4429147"/>
            <a:ext cx="418704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>
                <a:solidFill>
                  <a:srgbClr val="FF0000"/>
                </a:solidFill>
              </a:rPr>
              <a:t>*</a:t>
            </a:r>
            <a:endParaRPr lang="en-US" dirty="0">
              <a:solidFill>
                <a:srgbClr val="FF0000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7D891A5-8967-87E0-CD28-4FA3DEE42D6B}"/>
              </a:ext>
            </a:extLst>
          </p:cNvPr>
          <p:cNvSpPr txBox="1"/>
          <p:nvPr/>
        </p:nvSpPr>
        <p:spPr>
          <a:xfrm>
            <a:off x="5404236" y="1766888"/>
            <a:ext cx="5520294" cy="224676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For {</a:t>
            </a:r>
            <a:r>
              <a:rPr lang="en-US" sz="2800" dirty="0" err="1"/>
              <a:t>i,j</a:t>
            </a:r>
            <a:r>
              <a:rPr lang="en-US" sz="2800" dirty="0"/>
              <a:t>} in image:</a:t>
            </a:r>
          </a:p>
          <a:p>
            <a:r>
              <a:rPr lang="en-US" sz="2800" dirty="0"/>
              <a:t>	move kernel anchor to {</a:t>
            </a:r>
            <a:r>
              <a:rPr lang="en-US" sz="2800" dirty="0" err="1"/>
              <a:t>i,j</a:t>
            </a:r>
            <a:r>
              <a:rPr lang="en-US" sz="2800" dirty="0"/>
              <a:t>}</a:t>
            </a:r>
          </a:p>
          <a:p>
            <a:r>
              <a:rPr lang="en-US" sz="2800" dirty="0"/>
              <a:t>	list = find (kernel ==true)</a:t>
            </a:r>
          </a:p>
          <a:p>
            <a:r>
              <a:rPr lang="en-US" sz="2800" dirty="0"/>
              <a:t>	</a:t>
            </a:r>
            <a:r>
              <a:rPr lang="en-US" sz="2800" dirty="0" err="1"/>
              <a:t>newVal</a:t>
            </a:r>
            <a:r>
              <a:rPr lang="en-US" sz="2800" dirty="0"/>
              <a:t>{</a:t>
            </a:r>
            <a:r>
              <a:rPr lang="en-US" sz="2800" dirty="0" err="1"/>
              <a:t>i,j</a:t>
            </a:r>
            <a:r>
              <a:rPr lang="en-US" sz="2800" dirty="0"/>
              <a:t>} = </a:t>
            </a:r>
            <a:r>
              <a:rPr lang="en-US" sz="2800" dirty="0" err="1"/>
              <a:t>fcn</a:t>
            </a:r>
            <a:r>
              <a:rPr lang="en-US" sz="2800" dirty="0"/>
              <a:t> (image[list] )</a:t>
            </a:r>
          </a:p>
          <a:p>
            <a:r>
              <a:rPr lang="en-US" sz="2800" dirty="0"/>
              <a:t>	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67892FC-2736-5984-B290-5B9CD43186AA}"/>
              </a:ext>
            </a:extLst>
          </p:cNvPr>
          <p:cNvSpPr txBox="1"/>
          <p:nvPr/>
        </p:nvSpPr>
        <p:spPr>
          <a:xfrm>
            <a:off x="4588934" y="4948271"/>
            <a:ext cx="5266266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Dilation -  MAX ( image[list] )</a:t>
            </a:r>
          </a:p>
          <a:p>
            <a:r>
              <a:rPr lang="en-US" dirty="0"/>
              <a:t>Erosion -  MIN ( image[list] )</a:t>
            </a:r>
          </a:p>
          <a:p>
            <a:endParaRPr lang="en-US" dirty="0"/>
          </a:p>
          <a:p>
            <a:r>
              <a:rPr lang="en-US" dirty="0"/>
              <a:t>Denoising -  MEDIAN ( image[list] )</a:t>
            </a:r>
          </a:p>
          <a:p>
            <a:r>
              <a:rPr lang="en-US" dirty="0"/>
              <a:t>Smoothing -  MEAN ( image[list] )</a:t>
            </a:r>
          </a:p>
        </p:txBody>
      </p:sp>
    </p:spTree>
    <p:extLst>
      <p:ext uri="{BB962C8B-B14F-4D97-AF65-F5344CB8AC3E}">
        <p14:creationId xmlns:p14="http://schemas.microsoft.com/office/powerpoint/2010/main" val="376609053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46D302-9708-3368-93A9-EC060C6102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Erosion/Dilation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CE009B6-6E43-A1AE-D443-4EE1A07B855F}"/>
              </a:ext>
            </a:extLst>
          </p:cNvPr>
          <p:cNvSpPr/>
          <p:nvPr/>
        </p:nvSpPr>
        <p:spPr>
          <a:xfrm>
            <a:off x="406401" y="3572933"/>
            <a:ext cx="2540000" cy="2370668"/>
          </a:xfrm>
          <a:prstGeom prst="rect">
            <a:avLst/>
          </a:prstGeom>
          <a:solidFill>
            <a:schemeClr val="bg1">
              <a:alpha val="58000"/>
            </a:schemeClr>
          </a:solidFill>
          <a:ln w="508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B948C31E-0D8E-769B-2FE4-55FDB44D73C2}"/>
              </a:ext>
            </a:extLst>
          </p:cNvPr>
          <p:cNvGrpSpPr/>
          <p:nvPr/>
        </p:nvGrpSpPr>
        <p:grpSpPr>
          <a:xfrm>
            <a:off x="713772" y="3572933"/>
            <a:ext cx="1837161" cy="2370668"/>
            <a:chOff x="2980267" y="1701800"/>
            <a:chExt cx="2935110" cy="4572000"/>
          </a:xfrm>
          <a:solidFill>
            <a:schemeClr val="bg1">
              <a:alpha val="58000"/>
            </a:schemeClr>
          </a:solidFill>
        </p:grpSpPr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B339A8FE-FE1F-838B-9261-DB3ED4492EE9}"/>
                </a:ext>
              </a:extLst>
            </p:cNvPr>
            <p:cNvCxnSpPr>
              <a:cxnSpLocks/>
            </p:cNvCxnSpPr>
            <p:nvPr/>
          </p:nvCxnSpPr>
          <p:spPr>
            <a:xfrm>
              <a:off x="4741333" y="1701800"/>
              <a:ext cx="0" cy="4572000"/>
            </a:xfrm>
            <a:prstGeom prst="line">
              <a:avLst/>
            </a:prstGeom>
            <a:grpFill/>
            <a:ln w="508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55BBB407-90F9-4BA3-8EAB-8BCB54D80DA5}"/>
                </a:ext>
              </a:extLst>
            </p:cNvPr>
            <p:cNvCxnSpPr>
              <a:cxnSpLocks/>
            </p:cNvCxnSpPr>
            <p:nvPr/>
          </p:nvCxnSpPr>
          <p:spPr>
            <a:xfrm>
              <a:off x="5915377" y="1701800"/>
              <a:ext cx="0" cy="4572000"/>
            </a:xfrm>
            <a:prstGeom prst="line">
              <a:avLst/>
            </a:prstGeom>
            <a:grpFill/>
            <a:ln w="508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17085909-1C27-E67C-AF64-E6BD834FA24D}"/>
                </a:ext>
              </a:extLst>
            </p:cNvPr>
            <p:cNvCxnSpPr>
              <a:cxnSpLocks/>
            </p:cNvCxnSpPr>
            <p:nvPr/>
          </p:nvCxnSpPr>
          <p:spPr>
            <a:xfrm>
              <a:off x="5328355" y="1701800"/>
              <a:ext cx="0" cy="4572000"/>
            </a:xfrm>
            <a:prstGeom prst="line">
              <a:avLst/>
            </a:prstGeom>
            <a:grpFill/>
            <a:ln w="508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51FB190D-2B58-5058-C4AE-AEE49FA3593F}"/>
                </a:ext>
              </a:extLst>
            </p:cNvPr>
            <p:cNvCxnSpPr>
              <a:cxnSpLocks/>
            </p:cNvCxnSpPr>
            <p:nvPr/>
          </p:nvCxnSpPr>
          <p:spPr>
            <a:xfrm>
              <a:off x="3567289" y="1701800"/>
              <a:ext cx="0" cy="4572000"/>
            </a:xfrm>
            <a:prstGeom prst="line">
              <a:avLst/>
            </a:prstGeom>
            <a:grpFill/>
            <a:ln w="508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C03E2A41-7FC2-F893-267A-4422BFD2084D}"/>
                </a:ext>
              </a:extLst>
            </p:cNvPr>
            <p:cNvCxnSpPr>
              <a:cxnSpLocks/>
            </p:cNvCxnSpPr>
            <p:nvPr/>
          </p:nvCxnSpPr>
          <p:spPr>
            <a:xfrm>
              <a:off x="2980267" y="1701800"/>
              <a:ext cx="0" cy="4572000"/>
            </a:xfrm>
            <a:prstGeom prst="line">
              <a:avLst/>
            </a:prstGeom>
            <a:grpFill/>
            <a:ln w="508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7AB4A248-BC25-4EA2-FBFB-C6E9BAFA2E18}"/>
                </a:ext>
              </a:extLst>
            </p:cNvPr>
            <p:cNvCxnSpPr>
              <a:cxnSpLocks/>
            </p:cNvCxnSpPr>
            <p:nvPr/>
          </p:nvCxnSpPr>
          <p:spPr>
            <a:xfrm>
              <a:off x="4154311" y="1701800"/>
              <a:ext cx="0" cy="4572000"/>
            </a:xfrm>
            <a:prstGeom prst="line">
              <a:avLst/>
            </a:prstGeom>
            <a:grpFill/>
            <a:ln w="508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CDC493EE-75EA-90F0-6FC0-51B949C100E6}"/>
              </a:ext>
            </a:extLst>
          </p:cNvPr>
          <p:cNvGrpSpPr/>
          <p:nvPr/>
        </p:nvGrpSpPr>
        <p:grpSpPr>
          <a:xfrm rot="5400000">
            <a:off x="820326" y="3465217"/>
            <a:ext cx="1712148" cy="2540001"/>
            <a:chOff x="2980267" y="1701800"/>
            <a:chExt cx="2935110" cy="4572000"/>
          </a:xfrm>
          <a:solidFill>
            <a:schemeClr val="bg1">
              <a:alpha val="58000"/>
            </a:schemeClr>
          </a:solidFill>
        </p:grpSpPr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8BAF4C3E-E972-A9F9-207A-08B0DA4BAD52}"/>
                </a:ext>
              </a:extLst>
            </p:cNvPr>
            <p:cNvCxnSpPr>
              <a:cxnSpLocks/>
            </p:cNvCxnSpPr>
            <p:nvPr/>
          </p:nvCxnSpPr>
          <p:spPr>
            <a:xfrm>
              <a:off x="4741333" y="1701800"/>
              <a:ext cx="0" cy="4572000"/>
            </a:xfrm>
            <a:prstGeom prst="line">
              <a:avLst/>
            </a:prstGeom>
            <a:grpFill/>
            <a:ln w="508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4AF78ED9-1054-255F-F96A-35A62D34F79F}"/>
                </a:ext>
              </a:extLst>
            </p:cNvPr>
            <p:cNvCxnSpPr>
              <a:cxnSpLocks/>
            </p:cNvCxnSpPr>
            <p:nvPr/>
          </p:nvCxnSpPr>
          <p:spPr>
            <a:xfrm>
              <a:off x="5915377" y="1701800"/>
              <a:ext cx="0" cy="4572000"/>
            </a:xfrm>
            <a:prstGeom prst="line">
              <a:avLst/>
            </a:prstGeom>
            <a:grpFill/>
            <a:ln w="508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275148A6-3560-00D6-DC47-D6D3651CC2CD}"/>
                </a:ext>
              </a:extLst>
            </p:cNvPr>
            <p:cNvCxnSpPr>
              <a:cxnSpLocks/>
            </p:cNvCxnSpPr>
            <p:nvPr/>
          </p:nvCxnSpPr>
          <p:spPr>
            <a:xfrm>
              <a:off x="5328355" y="1701800"/>
              <a:ext cx="0" cy="4572000"/>
            </a:xfrm>
            <a:prstGeom prst="line">
              <a:avLst/>
            </a:prstGeom>
            <a:grpFill/>
            <a:ln w="508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BB0ABD65-681E-C34B-0B83-A8E1FDA06D6A}"/>
                </a:ext>
              </a:extLst>
            </p:cNvPr>
            <p:cNvCxnSpPr>
              <a:cxnSpLocks/>
            </p:cNvCxnSpPr>
            <p:nvPr/>
          </p:nvCxnSpPr>
          <p:spPr>
            <a:xfrm>
              <a:off x="3567289" y="1701800"/>
              <a:ext cx="0" cy="4572000"/>
            </a:xfrm>
            <a:prstGeom prst="line">
              <a:avLst/>
            </a:prstGeom>
            <a:grpFill/>
            <a:ln w="508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2F544D9D-2992-3B2B-E7CE-A05F65B81634}"/>
                </a:ext>
              </a:extLst>
            </p:cNvPr>
            <p:cNvCxnSpPr>
              <a:cxnSpLocks/>
            </p:cNvCxnSpPr>
            <p:nvPr/>
          </p:nvCxnSpPr>
          <p:spPr>
            <a:xfrm>
              <a:off x="2980267" y="1701800"/>
              <a:ext cx="0" cy="4572000"/>
            </a:xfrm>
            <a:prstGeom prst="line">
              <a:avLst/>
            </a:prstGeom>
            <a:grpFill/>
            <a:ln w="508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9A0121B3-200D-DF68-DFAC-035308034637}"/>
                </a:ext>
              </a:extLst>
            </p:cNvPr>
            <p:cNvCxnSpPr>
              <a:cxnSpLocks/>
            </p:cNvCxnSpPr>
            <p:nvPr/>
          </p:nvCxnSpPr>
          <p:spPr>
            <a:xfrm>
              <a:off x="4154311" y="1701800"/>
              <a:ext cx="0" cy="4572000"/>
            </a:xfrm>
            <a:prstGeom prst="line">
              <a:avLst/>
            </a:prstGeom>
            <a:grpFill/>
            <a:ln w="508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6" name="Rectangle 25">
            <a:extLst>
              <a:ext uri="{FF2B5EF4-FFF2-40B4-BE49-F238E27FC236}">
                <a16:creationId xmlns:a16="http://schemas.microsoft.com/office/drawing/2014/main" id="{A0D363F5-0ABB-90EC-0A78-7FE27A6F1894}"/>
              </a:ext>
            </a:extLst>
          </p:cNvPr>
          <p:cNvSpPr/>
          <p:nvPr/>
        </p:nvSpPr>
        <p:spPr>
          <a:xfrm>
            <a:off x="1081204" y="4221573"/>
            <a:ext cx="1102297" cy="1027288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2B0933EC-76D7-A569-C5EF-C3AAEABEF3CA}"/>
              </a:ext>
            </a:extLst>
          </p:cNvPr>
          <p:cNvSpPr txBox="1"/>
          <p:nvPr/>
        </p:nvSpPr>
        <p:spPr>
          <a:xfrm>
            <a:off x="1456706" y="4429147"/>
            <a:ext cx="418704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>
                <a:solidFill>
                  <a:srgbClr val="FF0000"/>
                </a:solidFill>
              </a:rPr>
              <a:t>*</a:t>
            </a:r>
            <a:endParaRPr lang="en-US" dirty="0">
              <a:solidFill>
                <a:srgbClr val="FF0000"/>
              </a:solidFill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EC82862-FDAD-3525-4228-267CCE8A5C85}"/>
              </a:ext>
            </a:extLst>
          </p:cNvPr>
          <p:cNvSpPr/>
          <p:nvPr/>
        </p:nvSpPr>
        <p:spPr>
          <a:xfrm>
            <a:off x="3810002" y="3572934"/>
            <a:ext cx="2540000" cy="2370668"/>
          </a:xfrm>
          <a:prstGeom prst="rect">
            <a:avLst/>
          </a:prstGeom>
          <a:solidFill>
            <a:schemeClr val="bg1">
              <a:alpha val="58000"/>
            </a:schemeClr>
          </a:solidFill>
          <a:ln w="508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18CBA646-3FD9-D12E-C9C5-AAC5E52306C0}"/>
              </a:ext>
            </a:extLst>
          </p:cNvPr>
          <p:cNvGrpSpPr/>
          <p:nvPr/>
        </p:nvGrpSpPr>
        <p:grpSpPr>
          <a:xfrm>
            <a:off x="4117373" y="3572934"/>
            <a:ext cx="1837161" cy="2370668"/>
            <a:chOff x="2980267" y="1701800"/>
            <a:chExt cx="2935110" cy="4572000"/>
          </a:xfrm>
          <a:solidFill>
            <a:schemeClr val="bg1">
              <a:alpha val="58000"/>
            </a:schemeClr>
          </a:solidFill>
        </p:grpSpPr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BA999D3F-C34E-C083-E72F-BDED497C6D06}"/>
                </a:ext>
              </a:extLst>
            </p:cNvPr>
            <p:cNvCxnSpPr>
              <a:cxnSpLocks/>
            </p:cNvCxnSpPr>
            <p:nvPr/>
          </p:nvCxnSpPr>
          <p:spPr>
            <a:xfrm>
              <a:off x="4741333" y="1701800"/>
              <a:ext cx="0" cy="4572000"/>
            </a:xfrm>
            <a:prstGeom prst="line">
              <a:avLst/>
            </a:prstGeom>
            <a:grpFill/>
            <a:ln w="508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9C46D0EA-ABCB-590A-CA29-FA319078BC14}"/>
                </a:ext>
              </a:extLst>
            </p:cNvPr>
            <p:cNvCxnSpPr>
              <a:cxnSpLocks/>
            </p:cNvCxnSpPr>
            <p:nvPr/>
          </p:nvCxnSpPr>
          <p:spPr>
            <a:xfrm>
              <a:off x="5915377" y="1701800"/>
              <a:ext cx="0" cy="4572000"/>
            </a:xfrm>
            <a:prstGeom prst="line">
              <a:avLst/>
            </a:prstGeom>
            <a:grpFill/>
            <a:ln w="508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0D6508D3-B24C-137E-BC84-2137B6796E6F}"/>
                </a:ext>
              </a:extLst>
            </p:cNvPr>
            <p:cNvCxnSpPr>
              <a:cxnSpLocks/>
            </p:cNvCxnSpPr>
            <p:nvPr/>
          </p:nvCxnSpPr>
          <p:spPr>
            <a:xfrm>
              <a:off x="5328355" y="1701800"/>
              <a:ext cx="0" cy="4572000"/>
            </a:xfrm>
            <a:prstGeom prst="line">
              <a:avLst/>
            </a:prstGeom>
            <a:grpFill/>
            <a:ln w="508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26E69933-7718-6385-A7B8-71567003E12C}"/>
                </a:ext>
              </a:extLst>
            </p:cNvPr>
            <p:cNvCxnSpPr>
              <a:cxnSpLocks/>
            </p:cNvCxnSpPr>
            <p:nvPr/>
          </p:nvCxnSpPr>
          <p:spPr>
            <a:xfrm>
              <a:off x="3567289" y="1701800"/>
              <a:ext cx="0" cy="4572000"/>
            </a:xfrm>
            <a:prstGeom prst="line">
              <a:avLst/>
            </a:prstGeom>
            <a:grpFill/>
            <a:ln w="508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B076BEBB-F042-FBFC-3B2C-A39D55C1898C}"/>
                </a:ext>
              </a:extLst>
            </p:cNvPr>
            <p:cNvCxnSpPr>
              <a:cxnSpLocks/>
            </p:cNvCxnSpPr>
            <p:nvPr/>
          </p:nvCxnSpPr>
          <p:spPr>
            <a:xfrm>
              <a:off x="2980267" y="1701800"/>
              <a:ext cx="0" cy="4572000"/>
            </a:xfrm>
            <a:prstGeom prst="line">
              <a:avLst/>
            </a:prstGeom>
            <a:grpFill/>
            <a:ln w="508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12BCB783-E231-5954-3480-8FA9E388E02E}"/>
                </a:ext>
              </a:extLst>
            </p:cNvPr>
            <p:cNvCxnSpPr>
              <a:cxnSpLocks/>
            </p:cNvCxnSpPr>
            <p:nvPr/>
          </p:nvCxnSpPr>
          <p:spPr>
            <a:xfrm>
              <a:off x="4154311" y="1701800"/>
              <a:ext cx="0" cy="4572000"/>
            </a:xfrm>
            <a:prstGeom prst="line">
              <a:avLst/>
            </a:prstGeom>
            <a:grpFill/>
            <a:ln w="508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B7FEBB9C-7024-6FEE-40AF-35A188884C7B}"/>
              </a:ext>
            </a:extLst>
          </p:cNvPr>
          <p:cNvGrpSpPr/>
          <p:nvPr/>
        </p:nvGrpSpPr>
        <p:grpSpPr>
          <a:xfrm rot="5400000">
            <a:off x="4223927" y="3465218"/>
            <a:ext cx="1712148" cy="2540001"/>
            <a:chOff x="2980267" y="1701800"/>
            <a:chExt cx="2935110" cy="4572000"/>
          </a:xfrm>
          <a:solidFill>
            <a:schemeClr val="bg1">
              <a:alpha val="58000"/>
            </a:schemeClr>
          </a:solidFill>
        </p:grpSpPr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3AC41990-889A-7AE1-805F-68E36E169A67}"/>
                </a:ext>
              </a:extLst>
            </p:cNvPr>
            <p:cNvCxnSpPr>
              <a:cxnSpLocks/>
            </p:cNvCxnSpPr>
            <p:nvPr/>
          </p:nvCxnSpPr>
          <p:spPr>
            <a:xfrm>
              <a:off x="4741333" y="1701800"/>
              <a:ext cx="0" cy="4572000"/>
            </a:xfrm>
            <a:prstGeom prst="line">
              <a:avLst/>
            </a:prstGeom>
            <a:grpFill/>
            <a:ln w="508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2C4CD902-98A5-529F-430D-58CFEC0B56BA}"/>
                </a:ext>
              </a:extLst>
            </p:cNvPr>
            <p:cNvCxnSpPr>
              <a:cxnSpLocks/>
            </p:cNvCxnSpPr>
            <p:nvPr/>
          </p:nvCxnSpPr>
          <p:spPr>
            <a:xfrm>
              <a:off x="5915377" y="1701800"/>
              <a:ext cx="0" cy="4572000"/>
            </a:xfrm>
            <a:prstGeom prst="line">
              <a:avLst/>
            </a:prstGeom>
            <a:grpFill/>
            <a:ln w="508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69312352-0C4F-3A8E-FC0F-3D977B9617B7}"/>
                </a:ext>
              </a:extLst>
            </p:cNvPr>
            <p:cNvCxnSpPr>
              <a:cxnSpLocks/>
            </p:cNvCxnSpPr>
            <p:nvPr/>
          </p:nvCxnSpPr>
          <p:spPr>
            <a:xfrm>
              <a:off x="5328355" y="1701800"/>
              <a:ext cx="0" cy="4572000"/>
            </a:xfrm>
            <a:prstGeom prst="line">
              <a:avLst/>
            </a:prstGeom>
            <a:grpFill/>
            <a:ln w="508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B4015E82-E65E-653E-C0AF-13338D8CFCEC}"/>
                </a:ext>
              </a:extLst>
            </p:cNvPr>
            <p:cNvCxnSpPr>
              <a:cxnSpLocks/>
            </p:cNvCxnSpPr>
            <p:nvPr/>
          </p:nvCxnSpPr>
          <p:spPr>
            <a:xfrm>
              <a:off x="3567289" y="1701800"/>
              <a:ext cx="0" cy="4572000"/>
            </a:xfrm>
            <a:prstGeom prst="line">
              <a:avLst/>
            </a:prstGeom>
            <a:grpFill/>
            <a:ln w="508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541201D1-4F96-4B13-3E5C-46407697E06D}"/>
                </a:ext>
              </a:extLst>
            </p:cNvPr>
            <p:cNvCxnSpPr>
              <a:cxnSpLocks/>
            </p:cNvCxnSpPr>
            <p:nvPr/>
          </p:nvCxnSpPr>
          <p:spPr>
            <a:xfrm>
              <a:off x="2980267" y="1701800"/>
              <a:ext cx="0" cy="4572000"/>
            </a:xfrm>
            <a:prstGeom prst="line">
              <a:avLst/>
            </a:prstGeom>
            <a:grpFill/>
            <a:ln w="508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3B5432F0-B2CD-5975-E987-2B64815A9775}"/>
                </a:ext>
              </a:extLst>
            </p:cNvPr>
            <p:cNvCxnSpPr>
              <a:cxnSpLocks/>
            </p:cNvCxnSpPr>
            <p:nvPr/>
          </p:nvCxnSpPr>
          <p:spPr>
            <a:xfrm>
              <a:off x="4154311" y="1701800"/>
              <a:ext cx="0" cy="4572000"/>
            </a:xfrm>
            <a:prstGeom prst="line">
              <a:avLst/>
            </a:prstGeom>
            <a:grpFill/>
            <a:ln w="508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Rectangle 35">
            <a:extLst>
              <a:ext uri="{FF2B5EF4-FFF2-40B4-BE49-F238E27FC236}">
                <a16:creationId xmlns:a16="http://schemas.microsoft.com/office/drawing/2014/main" id="{5742A12D-80B7-7B91-9700-63FE759F3FDC}"/>
              </a:ext>
            </a:extLst>
          </p:cNvPr>
          <p:cNvSpPr/>
          <p:nvPr/>
        </p:nvSpPr>
        <p:spPr>
          <a:xfrm>
            <a:off x="4844173" y="3572925"/>
            <a:ext cx="375498" cy="2370667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D6AED434-B6B2-44FB-05F9-0E3497EB6157}"/>
              </a:ext>
            </a:extLst>
          </p:cNvPr>
          <p:cNvSpPr txBox="1"/>
          <p:nvPr/>
        </p:nvSpPr>
        <p:spPr>
          <a:xfrm>
            <a:off x="4843374" y="4429148"/>
            <a:ext cx="418704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>
                <a:solidFill>
                  <a:srgbClr val="FF0000"/>
                </a:solidFill>
              </a:rPr>
              <a:t>*</a:t>
            </a:r>
            <a:endParaRPr lang="en-US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6085120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B9FC2F-2B19-ADB3-397E-714368C668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Convolutional (Filtering) Operations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446EFED3-A5EA-6A3B-43E2-E46DF2BD1252}"/>
              </a:ext>
            </a:extLst>
          </p:cNvPr>
          <p:cNvSpPr/>
          <p:nvPr/>
        </p:nvSpPr>
        <p:spPr>
          <a:xfrm>
            <a:off x="406401" y="3572933"/>
            <a:ext cx="2540000" cy="2370668"/>
          </a:xfrm>
          <a:prstGeom prst="rect">
            <a:avLst/>
          </a:prstGeom>
          <a:solidFill>
            <a:schemeClr val="bg1">
              <a:alpha val="58000"/>
            </a:schemeClr>
          </a:solidFill>
          <a:ln w="508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DAE10EC9-7C13-0F1E-1086-F7811D27C6B4}"/>
              </a:ext>
            </a:extLst>
          </p:cNvPr>
          <p:cNvGrpSpPr/>
          <p:nvPr/>
        </p:nvGrpSpPr>
        <p:grpSpPr>
          <a:xfrm>
            <a:off x="713772" y="3572933"/>
            <a:ext cx="1837161" cy="2370668"/>
            <a:chOff x="2980267" y="1701800"/>
            <a:chExt cx="2935110" cy="4572000"/>
          </a:xfrm>
          <a:solidFill>
            <a:schemeClr val="bg1">
              <a:alpha val="58000"/>
            </a:schemeClr>
          </a:solidFill>
        </p:grpSpPr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43626D55-AFD0-3882-0F87-A88CD078F8DA}"/>
                </a:ext>
              </a:extLst>
            </p:cNvPr>
            <p:cNvCxnSpPr>
              <a:cxnSpLocks/>
            </p:cNvCxnSpPr>
            <p:nvPr/>
          </p:nvCxnSpPr>
          <p:spPr>
            <a:xfrm>
              <a:off x="4741333" y="1701800"/>
              <a:ext cx="0" cy="4572000"/>
            </a:xfrm>
            <a:prstGeom prst="line">
              <a:avLst/>
            </a:prstGeom>
            <a:grpFill/>
            <a:ln w="508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0724262F-1786-5C40-02D7-67549B7C8243}"/>
                </a:ext>
              </a:extLst>
            </p:cNvPr>
            <p:cNvCxnSpPr>
              <a:cxnSpLocks/>
            </p:cNvCxnSpPr>
            <p:nvPr/>
          </p:nvCxnSpPr>
          <p:spPr>
            <a:xfrm>
              <a:off x="5915377" y="1701800"/>
              <a:ext cx="0" cy="4572000"/>
            </a:xfrm>
            <a:prstGeom prst="line">
              <a:avLst/>
            </a:prstGeom>
            <a:grpFill/>
            <a:ln w="508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09748B3E-F5E8-CC7A-F804-4A4C91E338A4}"/>
                </a:ext>
              </a:extLst>
            </p:cNvPr>
            <p:cNvCxnSpPr>
              <a:cxnSpLocks/>
            </p:cNvCxnSpPr>
            <p:nvPr/>
          </p:nvCxnSpPr>
          <p:spPr>
            <a:xfrm>
              <a:off x="5328355" y="1701800"/>
              <a:ext cx="0" cy="4572000"/>
            </a:xfrm>
            <a:prstGeom prst="line">
              <a:avLst/>
            </a:prstGeom>
            <a:grpFill/>
            <a:ln w="508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2386C8C7-4653-140D-E7A1-1E6167536221}"/>
                </a:ext>
              </a:extLst>
            </p:cNvPr>
            <p:cNvCxnSpPr>
              <a:cxnSpLocks/>
            </p:cNvCxnSpPr>
            <p:nvPr/>
          </p:nvCxnSpPr>
          <p:spPr>
            <a:xfrm>
              <a:off x="3567289" y="1701800"/>
              <a:ext cx="0" cy="4572000"/>
            </a:xfrm>
            <a:prstGeom prst="line">
              <a:avLst/>
            </a:prstGeom>
            <a:grpFill/>
            <a:ln w="508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8B910172-BE1D-4068-E568-0ED4960AA3B3}"/>
                </a:ext>
              </a:extLst>
            </p:cNvPr>
            <p:cNvCxnSpPr>
              <a:cxnSpLocks/>
            </p:cNvCxnSpPr>
            <p:nvPr/>
          </p:nvCxnSpPr>
          <p:spPr>
            <a:xfrm>
              <a:off x="2980267" y="1701800"/>
              <a:ext cx="0" cy="4572000"/>
            </a:xfrm>
            <a:prstGeom prst="line">
              <a:avLst/>
            </a:prstGeom>
            <a:grpFill/>
            <a:ln w="508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8AC547D6-4077-0C26-378D-E7FC5C19C734}"/>
                </a:ext>
              </a:extLst>
            </p:cNvPr>
            <p:cNvCxnSpPr>
              <a:cxnSpLocks/>
            </p:cNvCxnSpPr>
            <p:nvPr/>
          </p:nvCxnSpPr>
          <p:spPr>
            <a:xfrm>
              <a:off x="4154311" y="1701800"/>
              <a:ext cx="0" cy="4572000"/>
            </a:xfrm>
            <a:prstGeom prst="line">
              <a:avLst/>
            </a:prstGeom>
            <a:grpFill/>
            <a:ln w="508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72B88791-DC7F-24AC-9621-842E4F9CEA23}"/>
              </a:ext>
            </a:extLst>
          </p:cNvPr>
          <p:cNvGrpSpPr/>
          <p:nvPr/>
        </p:nvGrpSpPr>
        <p:grpSpPr>
          <a:xfrm rot="5400000">
            <a:off x="820326" y="3465217"/>
            <a:ext cx="1712148" cy="2540001"/>
            <a:chOff x="2980267" y="1701800"/>
            <a:chExt cx="2935110" cy="4572000"/>
          </a:xfrm>
          <a:solidFill>
            <a:schemeClr val="bg1">
              <a:alpha val="58000"/>
            </a:schemeClr>
          </a:solidFill>
        </p:grpSpPr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FDC09F12-47B7-BBD4-37E0-9A1D02ED8F84}"/>
                </a:ext>
              </a:extLst>
            </p:cNvPr>
            <p:cNvCxnSpPr>
              <a:cxnSpLocks/>
            </p:cNvCxnSpPr>
            <p:nvPr/>
          </p:nvCxnSpPr>
          <p:spPr>
            <a:xfrm>
              <a:off x="4741333" y="1701800"/>
              <a:ext cx="0" cy="4572000"/>
            </a:xfrm>
            <a:prstGeom prst="line">
              <a:avLst/>
            </a:prstGeom>
            <a:grpFill/>
            <a:ln w="508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0F819FF1-DDE0-07E1-7054-77AAF1446369}"/>
                </a:ext>
              </a:extLst>
            </p:cNvPr>
            <p:cNvCxnSpPr>
              <a:cxnSpLocks/>
            </p:cNvCxnSpPr>
            <p:nvPr/>
          </p:nvCxnSpPr>
          <p:spPr>
            <a:xfrm>
              <a:off x="5915377" y="1701800"/>
              <a:ext cx="0" cy="4572000"/>
            </a:xfrm>
            <a:prstGeom prst="line">
              <a:avLst/>
            </a:prstGeom>
            <a:grpFill/>
            <a:ln w="508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40AE6145-89AA-4080-2E62-A2A7F6FBE55D}"/>
                </a:ext>
              </a:extLst>
            </p:cNvPr>
            <p:cNvCxnSpPr>
              <a:cxnSpLocks/>
            </p:cNvCxnSpPr>
            <p:nvPr/>
          </p:nvCxnSpPr>
          <p:spPr>
            <a:xfrm>
              <a:off x="5328355" y="1701800"/>
              <a:ext cx="0" cy="4572000"/>
            </a:xfrm>
            <a:prstGeom prst="line">
              <a:avLst/>
            </a:prstGeom>
            <a:grpFill/>
            <a:ln w="508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E40F28E3-B35D-048A-B398-38FE9555D557}"/>
                </a:ext>
              </a:extLst>
            </p:cNvPr>
            <p:cNvCxnSpPr>
              <a:cxnSpLocks/>
            </p:cNvCxnSpPr>
            <p:nvPr/>
          </p:nvCxnSpPr>
          <p:spPr>
            <a:xfrm>
              <a:off x="3567289" y="1701800"/>
              <a:ext cx="0" cy="4572000"/>
            </a:xfrm>
            <a:prstGeom prst="line">
              <a:avLst/>
            </a:prstGeom>
            <a:grpFill/>
            <a:ln w="508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A83414D6-0F67-9105-1BBC-9C48AC129582}"/>
                </a:ext>
              </a:extLst>
            </p:cNvPr>
            <p:cNvCxnSpPr>
              <a:cxnSpLocks/>
            </p:cNvCxnSpPr>
            <p:nvPr/>
          </p:nvCxnSpPr>
          <p:spPr>
            <a:xfrm>
              <a:off x="2980267" y="1701800"/>
              <a:ext cx="0" cy="4572000"/>
            </a:xfrm>
            <a:prstGeom prst="line">
              <a:avLst/>
            </a:prstGeom>
            <a:grpFill/>
            <a:ln w="508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AFEA7E73-F3CD-B40B-B76A-5E9FB629A1D4}"/>
                </a:ext>
              </a:extLst>
            </p:cNvPr>
            <p:cNvCxnSpPr>
              <a:cxnSpLocks/>
            </p:cNvCxnSpPr>
            <p:nvPr/>
          </p:nvCxnSpPr>
          <p:spPr>
            <a:xfrm>
              <a:off x="4154311" y="1701800"/>
              <a:ext cx="0" cy="4572000"/>
            </a:xfrm>
            <a:prstGeom prst="line">
              <a:avLst/>
            </a:prstGeom>
            <a:grpFill/>
            <a:ln w="508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9" name="Rectangle 18">
            <a:extLst>
              <a:ext uri="{FF2B5EF4-FFF2-40B4-BE49-F238E27FC236}">
                <a16:creationId xmlns:a16="http://schemas.microsoft.com/office/drawing/2014/main" id="{1E7EB1E8-C3BA-8CAF-3286-EBEFC9135D52}"/>
              </a:ext>
            </a:extLst>
          </p:cNvPr>
          <p:cNvSpPr/>
          <p:nvPr/>
        </p:nvSpPr>
        <p:spPr>
          <a:xfrm>
            <a:off x="1081204" y="4221573"/>
            <a:ext cx="1102297" cy="1027288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80E520CD-961E-4656-862E-7BD2154D2CC9}"/>
              </a:ext>
            </a:extLst>
          </p:cNvPr>
          <p:cNvSpPr txBox="1"/>
          <p:nvPr/>
        </p:nvSpPr>
        <p:spPr>
          <a:xfrm>
            <a:off x="1473995" y="2019112"/>
            <a:ext cx="21844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Anchor point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65D2F559-261F-6A5C-2399-0ABD570152D7}"/>
              </a:ext>
            </a:extLst>
          </p:cNvPr>
          <p:cNvSpPr txBox="1"/>
          <p:nvPr/>
        </p:nvSpPr>
        <p:spPr>
          <a:xfrm>
            <a:off x="1920007" y="2650248"/>
            <a:ext cx="253997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Structure/Kernel 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A255F8C6-9C4B-229F-9F71-0993E32BA173}"/>
              </a:ext>
            </a:extLst>
          </p:cNvPr>
          <p:cNvSpPr txBox="1"/>
          <p:nvPr/>
        </p:nvSpPr>
        <p:spPr>
          <a:xfrm>
            <a:off x="1456706" y="4429147"/>
            <a:ext cx="418704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>
                <a:solidFill>
                  <a:srgbClr val="FF0000"/>
                </a:solidFill>
              </a:rPr>
              <a:t>*</a:t>
            </a:r>
            <a:endParaRPr lang="en-US" dirty="0">
              <a:solidFill>
                <a:srgbClr val="FF0000"/>
              </a:solidFill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A376EF0-6AB4-CF5E-4852-66E80F8629C9}"/>
              </a:ext>
            </a:extLst>
          </p:cNvPr>
          <p:cNvSpPr txBox="1"/>
          <p:nvPr/>
        </p:nvSpPr>
        <p:spPr>
          <a:xfrm>
            <a:off x="5223070" y="3007668"/>
            <a:ext cx="6153159" cy="18158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For {</a:t>
            </a:r>
            <a:r>
              <a:rPr lang="en-US" sz="2800" dirty="0" err="1"/>
              <a:t>i,j</a:t>
            </a:r>
            <a:r>
              <a:rPr lang="en-US" sz="2800" dirty="0"/>
              <a:t>} in image:</a:t>
            </a:r>
          </a:p>
          <a:p>
            <a:r>
              <a:rPr lang="en-US" sz="2800" dirty="0"/>
              <a:t>	move kernel anchor to {</a:t>
            </a:r>
            <a:r>
              <a:rPr lang="en-US" sz="2800" dirty="0" err="1"/>
              <a:t>i,j</a:t>
            </a:r>
            <a:r>
              <a:rPr lang="en-US" sz="2800" dirty="0"/>
              <a:t>}</a:t>
            </a:r>
          </a:p>
          <a:p>
            <a:r>
              <a:rPr lang="en-US" sz="2800" dirty="0"/>
              <a:t>	</a:t>
            </a:r>
            <a:r>
              <a:rPr lang="en-US" sz="2800" dirty="0" err="1"/>
              <a:t>newVal</a:t>
            </a:r>
            <a:r>
              <a:rPr lang="en-US" sz="2800" dirty="0"/>
              <a:t>{</a:t>
            </a:r>
            <a:r>
              <a:rPr lang="en-US" sz="2800" dirty="0" err="1"/>
              <a:t>i,j</a:t>
            </a:r>
            <a:r>
              <a:rPr lang="en-US" sz="2800" dirty="0"/>
              <a:t>} = sum(image .* kernel)</a:t>
            </a:r>
          </a:p>
          <a:p>
            <a:r>
              <a:rPr lang="en-US" sz="2800" dirty="0"/>
              <a:t>	</a:t>
            </a:r>
          </a:p>
        </p:txBody>
      </p:sp>
    </p:spTree>
    <p:extLst>
      <p:ext uri="{BB962C8B-B14F-4D97-AF65-F5344CB8AC3E}">
        <p14:creationId xmlns:p14="http://schemas.microsoft.com/office/powerpoint/2010/main" val="36686764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39CD7C-4363-2DF9-AC66-9C5FF80051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Thresholding</a:t>
            </a:r>
          </a:p>
        </p:txBody>
      </p:sp>
      <p:pic>
        <p:nvPicPr>
          <p:cNvPr id="4" name="Picture 3" descr="A close-up of a grid&#10;&#10;Description automatically generated">
            <a:extLst>
              <a:ext uri="{FF2B5EF4-FFF2-40B4-BE49-F238E27FC236}">
                <a16:creationId xmlns:a16="http://schemas.microsoft.com/office/drawing/2014/main" id="{A6C256F6-54A7-69A0-2EFA-E6A04E1BDDB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0042" y="3322209"/>
            <a:ext cx="9527266" cy="3170666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DD674F2D-1D4C-205A-BE57-EF6C1B2648DA}"/>
              </a:ext>
            </a:extLst>
          </p:cNvPr>
          <p:cNvSpPr txBox="1"/>
          <p:nvPr/>
        </p:nvSpPr>
        <p:spPr>
          <a:xfrm>
            <a:off x="3744686" y="1690688"/>
            <a:ext cx="69635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thres</a:t>
            </a:r>
            <a:r>
              <a:rPr lang="en-US" dirty="0"/>
              <a:t>, </a:t>
            </a:r>
            <a:r>
              <a:rPr lang="en-US" dirty="0" err="1"/>
              <a:t>img_out</a:t>
            </a:r>
            <a:r>
              <a:rPr lang="en-US" dirty="0"/>
              <a:t> = cv2.threshold(</a:t>
            </a:r>
            <a:r>
              <a:rPr lang="en-US" dirty="0" err="1"/>
              <a:t>img</a:t>
            </a:r>
            <a:r>
              <a:rPr lang="en-US" dirty="0"/>
              <a:t>, thresh, replacement value, type) </a:t>
            </a:r>
          </a:p>
        </p:txBody>
      </p:sp>
    </p:spTree>
    <p:extLst>
      <p:ext uri="{BB962C8B-B14F-4D97-AF65-F5344CB8AC3E}">
        <p14:creationId xmlns:p14="http://schemas.microsoft.com/office/powerpoint/2010/main" val="330994351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E53F30-4248-2E2E-89EC-7760E2F276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Otsu’s thresholding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29FEE6-99B4-AB15-CB26-3B4C2F68685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1371" y="1690688"/>
            <a:ext cx="10515600" cy="4351338"/>
          </a:xfrm>
        </p:spPr>
        <p:txBody>
          <a:bodyPr/>
          <a:lstStyle/>
          <a:p>
            <a:r>
              <a:rPr lang="en-US" b="0" i="0" dirty="0">
                <a:solidFill>
                  <a:srgbClr val="202122"/>
                </a:solidFill>
                <a:effectLst/>
                <a:highlight>
                  <a:srgbClr val="FFFFFF"/>
                </a:highlight>
                <a:latin typeface="Arial" panose="020B0604020202020204" pitchFamily="34" charset="0"/>
              </a:rPr>
              <a:t>Nobuyuki Otsu (1979). "A threshold selection method from gray-level histograms". </a:t>
            </a:r>
            <a:r>
              <a:rPr lang="en-US" b="0" i="1" dirty="0">
                <a:solidFill>
                  <a:srgbClr val="202122"/>
                </a:solidFill>
                <a:effectLst/>
                <a:highlight>
                  <a:srgbClr val="FFFFFF"/>
                </a:highlight>
                <a:latin typeface="Arial" panose="020B0604020202020204" pitchFamily="34" charset="0"/>
              </a:rPr>
              <a:t>IEEE Transactions on Systems, Man, and Cybernetics</a:t>
            </a:r>
            <a:r>
              <a:rPr lang="en-US" b="0" i="0" dirty="0">
                <a:solidFill>
                  <a:srgbClr val="202122"/>
                </a:solidFill>
                <a:effectLst/>
                <a:highlight>
                  <a:srgbClr val="FFFFFF"/>
                </a:highlight>
                <a:latin typeface="Arial" panose="020B0604020202020204" pitchFamily="34" charset="0"/>
              </a:rPr>
              <a:t>. </a:t>
            </a:r>
            <a:r>
              <a:rPr lang="en-US" b="1" i="0" dirty="0">
                <a:solidFill>
                  <a:srgbClr val="202122"/>
                </a:solidFill>
                <a:effectLst/>
                <a:highlight>
                  <a:srgbClr val="FFFFFF"/>
                </a:highlight>
                <a:latin typeface="Arial" panose="020B0604020202020204" pitchFamily="34" charset="0"/>
              </a:rPr>
              <a:t>9</a:t>
            </a:r>
            <a:r>
              <a:rPr lang="en-US" b="0" i="0" dirty="0">
                <a:solidFill>
                  <a:srgbClr val="202122"/>
                </a:solidFill>
                <a:effectLst/>
                <a:highlight>
                  <a:srgbClr val="FFFFFF"/>
                </a:highlight>
                <a:latin typeface="Arial" panose="020B0604020202020204" pitchFamily="34" charset="0"/>
              </a:rPr>
              <a:t> (1): 62–66.</a:t>
            </a:r>
            <a:endParaRPr lang="en-US" dirty="0"/>
          </a:p>
        </p:txBody>
      </p:sp>
      <p:pic>
        <p:nvPicPr>
          <p:cNvPr id="5" name="Picture 4" descr="A graph of a normal distribution&#10;&#10;Description automatically generated">
            <a:extLst>
              <a:ext uri="{FF2B5EF4-FFF2-40B4-BE49-F238E27FC236}">
                <a16:creationId xmlns:a16="http://schemas.microsoft.com/office/drawing/2014/main" id="{CAC95AB7-0CAF-DEE9-A4AF-1F770DAA279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4542" y="3248705"/>
            <a:ext cx="4724400" cy="350520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6A66562E-16E2-7D86-5BAB-637AC11DC6A8}"/>
                  </a:ext>
                </a:extLst>
              </p:cNvPr>
              <p:cNvSpPr txBox="1"/>
              <p:nvPr/>
            </p:nvSpPr>
            <p:spPr>
              <a:xfrm>
                <a:off x="6531431" y="4032647"/>
                <a:ext cx="3749873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𝜎</m:t>
                          </m:r>
                        </m:e>
                        <m:sup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sSup>
                        <m:sSupPr>
                          <m:ctrlP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sSub>
                            <m:sSubPr>
                              <m:ctrlPr>
                                <a:rPr lang="en-US" sz="2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b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e>
                        <m:sup>
                          <m: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28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sSup>
                        <m:sSupPr>
                          <m:ctrlPr>
                            <a:rPr lang="en-US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sSub>
                            <m:sSubPr>
                              <m:ctrlPr>
                                <a:rPr lang="en-US" sz="2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b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e>
                        <m:sup>
                          <m:r>
                            <a:rPr lang="en-US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6A66562E-16E2-7D86-5BAB-637AC11DC6A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31431" y="4032647"/>
                <a:ext cx="3749873" cy="430887"/>
              </a:xfrm>
              <a:prstGeom prst="rect">
                <a:avLst/>
              </a:prstGeom>
              <a:blipFill>
                <a:blip r:embed="rId3"/>
                <a:stretch>
                  <a:fillRect l="-1014" t="-2857" r="-338" b="-1428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TextBox 6">
            <a:extLst>
              <a:ext uri="{FF2B5EF4-FFF2-40B4-BE49-F238E27FC236}">
                <a16:creationId xmlns:a16="http://schemas.microsoft.com/office/drawing/2014/main" id="{E020CF37-DC4B-B92E-730A-556B216AE06E}"/>
              </a:ext>
            </a:extLst>
          </p:cNvPr>
          <p:cNvSpPr txBox="1"/>
          <p:nvPr/>
        </p:nvSpPr>
        <p:spPr>
          <a:xfrm>
            <a:off x="5274481" y="5085310"/>
            <a:ext cx="35153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Probability of values below thresh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B726622-97A6-F28F-C2AA-72A38C758159}"/>
              </a:ext>
            </a:extLst>
          </p:cNvPr>
          <p:cNvSpPr txBox="1"/>
          <p:nvPr/>
        </p:nvSpPr>
        <p:spPr>
          <a:xfrm>
            <a:off x="8376306" y="5672694"/>
            <a:ext cx="351474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Probability of values above thresh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3DE2B52-59E5-A5B6-84B6-F6539B59FFAD}"/>
              </a:ext>
            </a:extLst>
          </p:cNvPr>
          <p:cNvSpPr txBox="1"/>
          <p:nvPr/>
        </p:nvSpPr>
        <p:spPr>
          <a:xfrm>
            <a:off x="5274481" y="3018667"/>
            <a:ext cx="31514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Variance values below thresh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29CF428-2707-85EF-4CB2-96981DF59351}"/>
              </a:ext>
            </a:extLst>
          </p:cNvPr>
          <p:cNvSpPr txBox="1"/>
          <p:nvPr/>
        </p:nvSpPr>
        <p:spPr>
          <a:xfrm>
            <a:off x="8789867" y="2683538"/>
            <a:ext cx="308186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Variance values above thresh</a:t>
            </a: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C3F130F4-4A2A-3B6C-EE95-CB233A8447C0}"/>
              </a:ext>
            </a:extLst>
          </p:cNvPr>
          <p:cNvCxnSpPr/>
          <p:nvPr/>
        </p:nvCxnSpPr>
        <p:spPr>
          <a:xfrm>
            <a:off x="6531431" y="3387999"/>
            <a:ext cx="1621969" cy="74857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B654C85A-9E4D-99A1-3B36-17BEBB5B39A7}"/>
              </a:ext>
            </a:extLst>
          </p:cNvPr>
          <p:cNvCxnSpPr>
            <a:cxnSpLocks/>
          </p:cNvCxnSpPr>
          <p:nvPr/>
        </p:nvCxnSpPr>
        <p:spPr>
          <a:xfrm flipH="1">
            <a:off x="9938657" y="3186268"/>
            <a:ext cx="256682" cy="80222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D6CF3795-F8AB-6660-1D1F-97190546AFB9}"/>
              </a:ext>
            </a:extLst>
          </p:cNvPr>
          <p:cNvCxnSpPr>
            <a:cxnSpLocks/>
          </p:cNvCxnSpPr>
          <p:nvPr/>
        </p:nvCxnSpPr>
        <p:spPr>
          <a:xfrm flipV="1">
            <a:off x="6749143" y="4505903"/>
            <a:ext cx="849086" cy="57940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7235D30B-78FB-074A-AD38-FEFDA5941C93}"/>
              </a:ext>
            </a:extLst>
          </p:cNvPr>
          <p:cNvCxnSpPr>
            <a:cxnSpLocks/>
            <a:stCxn id="8" idx="0"/>
          </p:cNvCxnSpPr>
          <p:nvPr/>
        </p:nvCxnSpPr>
        <p:spPr>
          <a:xfrm flipH="1" flipV="1">
            <a:off x="9097817" y="4463534"/>
            <a:ext cx="1035862" cy="120916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5483700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collage of images of music notes&#10;&#10;Description automatically generated">
            <a:extLst>
              <a:ext uri="{FF2B5EF4-FFF2-40B4-BE49-F238E27FC236}">
                <a16:creationId xmlns:a16="http://schemas.microsoft.com/office/drawing/2014/main" id="{8E695790-D8DF-DF85-7ABB-BAE9FDCDD5A5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77343" y="1284513"/>
            <a:ext cx="7837714" cy="5462997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Title 1">
            <a:extLst>
              <a:ext uri="{FF2B5EF4-FFF2-40B4-BE49-F238E27FC236}">
                <a16:creationId xmlns:a16="http://schemas.microsoft.com/office/drawing/2014/main" id="{CCCE8A8C-0086-8BDB-29B6-74CA22FEE5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3544" y="245204"/>
            <a:ext cx="10515600" cy="1325563"/>
          </a:xfrm>
        </p:spPr>
        <p:txBody>
          <a:bodyPr/>
          <a:lstStyle/>
          <a:p>
            <a:r>
              <a:rPr lang="en-US" dirty="0"/>
              <a:t>Adaptive thresholding</a:t>
            </a:r>
          </a:p>
        </p:txBody>
      </p:sp>
    </p:spTree>
    <p:extLst>
      <p:ext uri="{BB962C8B-B14F-4D97-AF65-F5344CB8AC3E}">
        <p14:creationId xmlns:p14="http://schemas.microsoft.com/office/powerpoint/2010/main" val="277623191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Rectangle 50">
            <a:extLst>
              <a:ext uri="{FF2B5EF4-FFF2-40B4-BE49-F238E27FC236}">
                <a16:creationId xmlns:a16="http://schemas.microsoft.com/office/drawing/2014/main" id="{84A70365-4A52-2F55-DD6F-4BCDD6EEB6C4}"/>
              </a:ext>
            </a:extLst>
          </p:cNvPr>
          <p:cNvSpPr/>
          <p:nvPr/>
        </p:nvSpPr>
        <p:spPr>
          <a:xfrm>
            <a:off x="8961220" y="1542686"/>
            <a:ext cx="1334230" cy="1334230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F52B18F-3F03-6930-54F4-1A79164412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3544" y="245204"/>
            <a:ext cx="10515600" cy="1325563"/>
          </a:xfrm>
        </p:spPr>
        <p:txBody>
          <a:bodyPr/>
          <a:lstStyle/>
          <a:p>
            <a:r>
              <a:rPr lang="en-US" dirty="0"/>
              <a:t>Adaptive thresholding</a:t>
            </a:r>
          </a:p>
        </p:txBody>
      </p:sp>
      <p:pic>
        <p:nvPicPr>
          <p:cNvPr id="16386" name="Picture 2" descr="ELI5: What's the difference between Gaussian blur and the other types of  blur? : r/explainlikeimfive">
            <a:extLst>
              <a:ext uri="{FF2B5EF4-FFF2-40B4-BE49-F238E27FC236}">
                <a16:creationId xmlns:a16="http://schemas.microsoft.com/office/drawing/2014/main" id="{083C1B11-A994-26A0-31BB-5214F9E7C0C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533" t="8075" r="5205" b="10569"/>
          <a:stretch/>
        </p:blipFill>
        <p:spPr bwMode="auto">
          <a:xfrm>
            <a:off x="8199318" y="3429000"/>
            <a:ext cx="3717561" cy="29796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403E0F18-1C03-275A-7DF2-DE6889663F6A}"/>
              </a:ext>
            </a:extLst>
          </p:cNvPr>
          <p:cNvCxnSpPr>
            <a:cxnSpLocks/>
          </p:cNvCxnSpPr>
          <p:nvPr/>
        </p:nvCxnSpPr>
        <p:spPr>
          <a:xfrm>
            <a:off x="8409139" y="3815255"/>
            <a:ext cx="242788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D4C68512-439E-710F-A87F-B50459B375A7}"/>
              </a:ext>
            </a:extLst>
          </p:cNvPr>
          <p:cNvCxnSpPr>
            <a:cxnSpLocks/>
          </p:cNvCxnSpPr>
          <p:nvPr/>
        </p:nvCxnSpPr>
        <p:spPr>
          <a:xfrm>
            <a:off x="8409139" y="4082101"/>
            <a:ext cx="242788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1F5792FD-A7CB-91F1-D1AD-BDBB140E5101}"/>
              </a:ext>
            </a:extLst>
          </p:cNvPr>
          <p:cNvCxnSpPr>
            <a:cxnSpLocks/>
          </p:cNvCxnSpPr>
          <p:nvPr/>
        </p:nvCxnSpPr>
        <p:spPr>
          <a:xfrm>
            <a:off x="8409139" y="4348947"/>
            <a:ext cx="242788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E3C97F6D-7904-2C6C-37E6-16559C03D6D5}"/>
              </a:ext>
            </a:extLst>
          </p:cNvPr>
          <p:cNvCxnSpPr>
            <a:cxnSpLocks/>
          </p:cNvCxnSpPr>
          <p:nvPr/>
        </p:nvCxnSpPr>
        <p:spPr>
          <a:xfrm>
            <a:off x="8409139" y="4615793"/>
            <a:ext cx="242788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F4490D48-5ABF-D58B-1DEA-B7D2081804CF}"/>
              </a:ext>
            </a:extLst>
          </p:cNvPr>
          <p:cNvCxnSpPr>
            <a:cxnSpLocks/>
          </p:cNvCxnSpPr>
          <p:nvPr/>
        </p:nvCxnSpPr>
        <p:spPr>
          <a:xfrm>
            <a:off x="8409139" y="4882639"/>
            <a:ext cx="242788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9B59AE41-CB3E-DCDB-1AF9-E445E74067BA}"/>
              </a:ext>
            </a:extLst>
          </p:cNvPr>
          <p:cNvCxnSpPr>
            <a:cxnSpLocks/>
          </p:cNvCxnSpPr>
          <p:nvPr/>
        </p:nvCxnSpPr>
        <p:spPr>
          <a:xfrm>
            <a:off x="8409139" y="5149485"/>
            <a:ext cx="242788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ABED9FDB-B383-7264-BB71-68AFAAD6E262}"/>
              </a:ext>
            </a:extLst>
          </p:cNvPr>
          <p:cNvCxnSpPr>
            <a:cxnSpLocks/>
          </p:cNvCxnSpPr>
          <p:nvPr/>
        </p:nvCxnSpPr>
        <p:spPr>
          <a:xfrm>
            <a:off x="8409139" y="5416331"/>
            <a:ext cx="242788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11A356B9-6D2A-2B78-56E4-992CE829EA58}"/>
              </a:ext>
            </a:extLst>
          </p:cNvPr>
          <p:cNvCxnSpPr>
            <a:cxnSpLocks/>
          </p:cNvCxnSpPr>
          <p:nvPr/>
        </p:nvCxnSpPr>
        <p:spPr>
          <a:xfrm>
            <a:off x="8409139" y="5683177"/>
            <a:ext cx="242788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224F69B9-D05A-1D36-9BFC-D74E3022121E}"/>
              </a:ext>
            </a:extLst>
          </p:cNvPr>
          <p:cNvCxnSpPr>
            <a:cxnSpLocks/>
          </p:cNvCxnSpPr>
          <p:nvPr/>
        </p:nvCxnSpPr>
        <p:spPr>
          <a:xfrm>
            <a:off x="8409139" y="5950023"/>
            <a:ext cx="242788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38D66A57-F78A-82AF-FA25-FECE84C5846A}"/>
              </a:ext>
            </a:extLst>
          </p:cNvPr>
          <p:cNvCxnSpPr>
            <a:cxnSpLocks/>
          </p:cNvCxnSpPr>
          <p:nvPr/>
        </p:nvCxnSpPr>
        <p:spPr>
          <a:xfrm>
            <a:off x="8409139" y="6216871"/>
            <a:ext cx="242788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9" name="Group 28">
            <a:extLst>
              <a:ext uri="{FF2B5EF4-FFF2-40B4-BE49-F238E27FC236}">
                <a16:creationId xmlns:a16="http://schemas.microsoft.com/office/drawing/2014/main" id="{A52AF8BB-9988-CB4D-05FD-67B84A688B5E}"/>
              </a:ext>
            </a:extLst>
          </p:cNvPr>
          <p:cNvGrpSpPr/>
          <p:nvPr/>
        </p:nvGrpSpPr>
        <p:grpSpPr>
          <a:xfrm rot="16200000">
            <a:off x="8414393" y="3820508"/>
            <a:ext cx="2427889" cy="2401616"/>
            <a:chOff x="4776954" y="2635469"/>
            <a:chExt cx="2427889" cy="2401616"/>
          </a:xfrm>
        </p:grpSpPr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E01703B6-A477-608A-ED9D-96A918E0A40C}"/>
                </a:ext>
              </a:extLst>
            </p:cNvPr>
            <p:cNvCxnSpPr>
              <a:cxnSpLocks/>
            </p:cNvCxnSpPr>
            <p:nvPr/>
          </p:nvCxnSpPr>
          <p:spPr>
            <a:xfrm>
              <a:off x="4776954" y="2635469"/>
              <a:ext cx="2427889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B2E24A9F-3432-D6E8-1A26-BC1A2484EB98}"/>
                </a:ext>
              </a:extLst>
            </p:cNvPr>
            <p:cNvCxnSpPr>
              <a:cxnSpLocks/>
            </p:cNvCxnSpPr>
            <p:nvPr/>
          </p:nvCxnSpPr>
          <p:spPr>
            <a:xfrm>
              <a:off x="4776954" y="2902315"/>
              <a:ext cx="2427889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5EB9876D-F8D2-CE9B-F4EC-A4B8EAFF80C0}"/>
                </a:ext>
              </a:extLst>
            </p:cNvPr>
            <p:cNvCxnSpPr>
              <a:cxnSpLocks/>
            </p:cNvCxnSpPr>
            <p:nvPr/>
          </p:nvCxnSpPr>
          <p:spPr>
            <a:xfrm>
              <a:off x="4776954" y="3169161"/>
              <a:ext cx="2427889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EF4271D2-5CCD-FFB6-6739-575033F37164}"/>
                </a:ext>
              </a:extLst>
            </p:cNvPr>
            <p:cNvCxnSpPr>
              <a:cxnSpLocks/>
            </p:cNvCxnSpPr>
            <p:nvPr/>
          </p:nvCxnSpPr>
          <p:spPr>
            <a:xfrm>
              <a:off x="4776954" y="3436007"/>
              <a:ext cx="2427889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E6000121-2888-A066-0F1E-31B949BAA92F}"/>
                </a:ext>
              </a:extLst>
            </p:cNvPr>
            <p:cNvCxnSpPr>
              <a:cxnSpLocks/>
            </p:cNvCxnSpPr>
            <p:nvPr/>
          </p:nvCxnSpPr>
          <p:spPr>
            <a:xfrm>
              <a:off x="4776954" y="3702853"/>
              <a:ext cx="2427889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8D3B4796-C76D-3058-39FD-0CC8529BA71B}"/>
                </a:ext>
              </a:extLst>
            </p:cNvPr>
            <p:cNvCxnSpPr>
              <a:cxnSpLocks/>
            </p:cNvCxnSpPr>
            <p:nvPr/>
          </p:nvCxnSpPr>
          <p:spPr>
            <a:xfrm>
              <a:off x="4776954" y="3969699"/>
              <a:ext cx="2427889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6D7275A9-9A29-91BA-983C-D73BD4F088F2}"/>
                </a:ext>
              </a:extLst>
            </p:cNvPr>
            <p:cNvCxnSpPr>
              <a:cxnSpLocks/>
            </p:cNvCxnSpPr>
            <p:nvPr/>
          </p:nvCxnSpPr>
          <p:spPr>
            <a:xfrm>
              <a:off x="4776954" y="4236545"/>
              <a:ext cx="2427889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B860060B-C226-8E39-886E-6688D7290E39}"/>
                </a:ext>
              </a:extLst>
            </p:cNvPr>
            <p:cNvCxnSpPr>
              <a:cxnSpLocks/>
            </p:cNvCxnSpPr>
            <p:nvPr/>
          </p:nvCxnSpPr>
          <p:spPr>
            <a:xfrm>
              <a:off x="4776954" y="4503391"/>
              <a:ext cx="2427889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4AC04746-B32D-E1D7-AD47-FFDA204D0F46}"/>
                </a:ext>
              </a:extLst>
            </p:cNvPr>
            <p:cNvCxnSpPr>
              <a:cxnSpLocks/>
            </p:cNvCxnSpPr>
            <p:nvPr/>
          </p:nvCxnSpPr>
          <p:spPr>
            <a:xfrm>
              <a:off x="4776954" y="4770237"/>
              <a:ext cx="2427889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0959F91F-513F-6E0D-A4C8-04E35C1CEE75}"/>
                </a:ext>
              </a:extLst>
            </p:cNvPr>
            <p:cNvCxnSpPr>
              <a:cxnSpLocks/>
            </p:cNvCxnSpPr>
            <p:nvPr/>
          </p:nvCxnSpPr>
          <p:spPr>
            <a:xfrm>
              <a:off x="4776954" y="5037085"/>
              <a:ext cx="2427889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8012EBE0-39AE-7A65-82C3-9AAFFB9C4433}"/>
              </a:ext>
            </a:extLst>
          </p:cNvPr>
          <p:cNvCxnSpPr>
            <a:cxnSpLocks/>
          </p:cNvCxnSpPr>
          <p:nvPr/>
        </p:nvCxnSpPr>
        <p:spPr>
          <a:xfrm>
            <a:off x="8409138" y="1008994"/>
            <a:ext cx="242788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5522A46F-99A1-A6D5-828B-4FC4BFF53BC9}"/>
              </a:ext>
            </a:extLst>
          </p:cNvPr>
          <p:cNvCxnSpPr>
            <a:cxnSpLocks/>
          </p:cNvCxnSpPr>
          <p:nvPr/>
        </p:nvCxnSpPr>
        <p:spPr>
          <a:xfrm>
            <a:off x="8409138" y="1275840"/>
            <a:ext cx="242788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8FF04E21-87A9-A642-18CD-0C90F82B9BB1}"/>
              </a:ext>
            </a:extLst>
          </p:cNvPr>
          <p:cNvCxnSpPr>
            <a:cxnSpLocks/>
          </p:cNvCxnSpPr>
          <p:nvPr/>
        </p:nvCxnSpPr>
        <p:spPr>
          <a:xfrm>
            <a:off x="8409138" y="1542686"/>
            <a:ext cx="242788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95C02EC3-6297-A48D-30F3-E57C9D2E9EE3}"/>
              </a:ext>
            </a:extLst>
          </p:cNvPr>
          <p:cNvCxnSpPr>
            <a:cxnSpLocks/>
          </p:cNvCxnSpPr>
          <p:nvPr/>
        </p:nvCxnSpPr>
        <p:spPr>
          <a:xfrm>
            <a:off x="8409138" y="1809532"/>
            <a:ext cx="242788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6C7CEE19-8BC1-4199-581D-E1B9CB8DBA32}"/>
              </a:ext>
            </a:extLst>
          </p:cNvPr>
          <p:cNvCxnSpPr>
            <a:cxnSpLocks/>
          </p:cNvCxnSpPr>
          <p:nvPr/>
        </p:nvCxnSpPr>
        <p:spPr>
          <a:xfrm>
            <a:off x="8409138" y="2076378"/>
            <a:ext cx="242788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40966639-06FD-356A-8121-9369CBBEFA3E}"/>
              </a:ext>
            </a:extLst>
          </p:cNvPr>
          <p:cNvCxnSpPr>
            <a:cxnSpLocks/>
          </p:cNvCxnSpPr>
          <p:nvPr/>
        </p:nvCxnSpPr>
        <p:spPr>
          <a:xfrm>
            <a:off x="8409138" y="2343224"/>
            <a:ext cx="242788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A2568B67-2472-7AAC-6979-BC0C520877C8}"/>
              </a:ext>
            </a:extLst>
          </p:cNvPr>
          <p:cNvCxnSpPr>
            <a:cxnSpLocks/>
          </p:cNvCxnSpPr>
          <p:nvPr/>
        </p:nvCxnSpPr>
        <p:spPr>
          <a:xfrm>
            <a:off x="8409138" y="2610070"/>
            <a:ext cx="242788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DD49BAFF-9996-B6CF-6554-4780F0F0DD7D}"/>
              </a:ext>
            </a:extLst>
          </p:cNvPr>
          <p:cNvCxnSpPr>
            <a:cxnSpLocks/>
          </p:cNvCxnSpPr>
          <p:nvPr/>
        </p:nvCxnSpPr>
        <p:spPr>
          <a:xfrm>
            <a:off x="8409138" y="2876916"/>
            <a:ext cx="242788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D5E87BF3-2115-9597-DE92-9ACC9A3A86D7}"/>
              </a:ext>
            </a:extLst>
          </p:cNvPr>
          <p:cNvCxnSpPr>
            <a:cxnSpLocks/>
          </p:cNvCxnSpPr>
          <p:nvPr/>
        </p:nvCxnSpPr>
        <p:spPr>
          <a:xfrm>
            <a:off x="8409138" y="3143762"/>
            <a:ext cx="242788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9F67D2DD-563A-AF5E-BDD1-21DDBF8D513B}"/>
              </a:ext>
            </a:extLst>
          </p:cNvPr>
          <p:cNvCxnSpPr>
            <a:cxnSpLocks/>
          </p:cNvCxnSpPr>
          <p:nvPr/>
        </p:nvCxnSpPr>
        <p:spPr>
          <a:xfrm>
            <a:off x="8409138" y="3410610"/>
            <a:ext cx="242788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40" name="Group 39">
            <a:extLst>
              <a:ext uri="{FF2B5EF4-FFF2-40B4-BE49-F238E27FC236}">
                <a16:creationId xmlns:a16="http://schemas.microsoft.com/office/drawing/2014/main" id="{C1AC81CB-869C-9031-37DC-BB6F88723697}"/>
              </a:ext>
            </a:extLst>
          </p:cNvPr>
          <p:cNvGrpSpPr/>
          <p:nvPr/>
        </p:nvGrpSpPr>
        <p:grpSpPr>
          <a:xfrm rot="16200000">
            <a:off x="8414392" y="1014247"/>
            <a:ext cx="2427889" cy="2401616"/>
            <a:chOff x="4776954" y="2635469"/>
            <a:chExt cx="2427889" cy="2401616"/>
          </a:xfrm>
        </p:grpSpPr>
        <p:cxnSp>
          <p:nvCxnSpPr>
            <p:cNvPr id="41" name="Straight Connector 40">
              <a:extLst>
                <a:ext uri="{FF2B5EF4-FFF2-40B4-BE49-F238E27FC236}">
                  <a16:creationId xmlns:a16="http://schemas.microsoft.com/office/drawing/2014/main" id="{5ADF6B60-53C6-82A5-68B5-BA0923B878EB}"/>
                </a:ext>
              </a:extLst>
            </p:cNvPr>
            <p:cNvCxnSpPr>
              <a:cxnSpLocks/>
            </p:cNvCxnSpPr>
            <p:nvPr/>
          </p:nvCxnSpPr>
          <p:spPr>
            <a:xfrm>
              <a:off x="4776954" y="2635469"/>
              <a:ext cx="2427889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Straight Connector 41">
              <a:extLst>
                <a:ext uri="{FF2B5EF4-FFF2-40B4-BE49-F238E27FC236}">
                  <a16:creationId xmlns:a16="http://schemas.microsoft.com/office/drawing/2014/main" id="{E2A8AA82-99DE-8396-54F3-70690ACAE244}"/>
                </a:ext>
              </a:extLst>
            </p:cNvPr>
            <p:cNvCxnSpPr>
              <a:cxnSpLocks/>
            </p:cNvCxnSpPr>
            <p:nvPr/>
          </p:nvCxnSpPr>
          <p:spPr>
            <a:xfrm>
              <a:off x="4776954" y="2902315"/>
              <a:ext cx="2427889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Straight Connector 42">
              <a:extLst>
                <a:ext uri="{FF2B5EF4-FFF2-40B4-BE49-F238E27FC236}">
                  <a16:creationId xmlns:a16="http://schemas.microsoft.com/office/drawing/2014/main" id="{CEC4A43D-025B-2724-2C19-F67263E507B4}"/>
                </a:ext>
              </a:extLst>
            </p:cNvPr>
            <p:cNvCxnSpPr>
              <a:cxnSpLocks/>
            </p:cNvCxnSpPr>
            <p:nvPr/>
          </p:nvCxnSpPr>
          <p:spPr>
            <a:xfrm>
              <a:off x="4776954" y="3169161"/>
              <a:ext cx="2427889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Straight Connector 43">
              <a:extLst>
                <a:ext uri="{FF2B5EF4-FFF2-40B4-BE49-F238E27FC236}">
                  <a16:creationId xmlns:a16="http://schemas.microsoft.com/office/drawing/2014/main" id="{FAD868E4-01AE-22CA-9131-07DDE44D14C1}"/>
                </a:ext>
              </a:extLst>
            </p:cNvPr>
            <p:cNvCxnSpPr>
              <a:cxnSpLocks/>
            </p:cNvCxnSpPr>
            <p:nvPr/>
          </p:nvCxnSpPr>
          <p:spPr>
            <a:xfrm>
              <a:off x="4776954" y="3436007"/>
              <a:ext cx="2427889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Straight Connector 44">
              <a:extLst>
                <a:ext uri="{FF2B5EF4-FFF2-40B4-BE49-F238E27FC236}">
                  <a16:creationId xmlns:a16="http://schemas.microsoft.com/office/drawing/2014/main" id="{421A299F-144A-936A-1558-5EA397249A48}"/>
                </a:ext>
              </a:extLst>
            </p:cNvPr>
            <p:cNvCxnSpPr>
              <a:cxnSpLocks/>
            </p:cNvCxnSpPr>
            <p:nvPr/>
          </p:nvCxnSpPr>
          <p:spPr>
            <a:xfrm>
              <a:off x="4776954" y="3702853"/>
              <a:ext cx="2427889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Straight Connector 45">
              <a:extLst>
                <a:ext uri="{FF2B5EF4-FFF2-40B4-BE49-F238E27FC236}">
                  <a16:creationId xmlns:a16="http://schemas.microsoft.com/office/drawing/2014/main" id="{AA0D451D-C906-5F93-A5BD-147E11329A9F}"/>
                </a:ext>
              </a:extLst>
            </p:cNvPr>
            <p:cNvCxnSpPr>
              <a:cxnSpLocks/>
            </p:cNvCxnSpPr>
            <p:nvPr/>
          </p:nvCxnSpPr>
          <p:spPr>
            <a:xfrm>
              <a:off x="4776954" y="3969699"/>
              <a:ext cx="2427889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Straight Connector 46">
              <a:extLst>
                <a:ext uri="{FF2B5EF4-FFF2-40B4-BE49-F238E27FC236}">
                  <a16:creationId xmlns:a16="http://schemas.microsoft.com/office/drawing/2014/main" id="{EEB282C3-7ECD-8373-58DF-D47AD9DF4918}"/>
                </a:ext>
              </a:extLst>
            </p:cNvPr>
            <p:cNvCxnSpPr>
              <a:cxnSpLocks/>
            </p:cNvCxnSpPr>
            <p:nvPr/>
          </p:nvCxnSpPr>
          <p:spPr>
            <a:xfrm>
              <a:off x="4776954" y="4236545"/>
              <a:ext cx="2427889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Straight Connector 47">
              <a:extLst>
                <a:ext uri="{FF2B5EF4-FFF2-40B4-BE49-F238E27FC236}">
                  <a16:creationId xmlns:a16="http://schemas.microsoft.com/office/drawing/2014/main" id="{5B822318-BBBE-73BD-DEF8-F242121532BB}"/>
                </a:ext>
              </a:extLst>
            </p:cNvPr>
            <p:cNvCxnSpPr>
              <a:cxnSpLocks/>
            </p:cNvCxnSpPr>
            <p:nvPr/>
          </p:nvCxnSpPr>
          <p:spPr>
            <a:xfrm>
              <a:off x="4776954" y="4503391"/>
              <a:ext cx="2427889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Straight Connector 48">
              <a:extLst>
                <a:ext uri="{FF2B5EF4-FFF2-40B4-BE49-F238E27FC236}">
                  <a16:creationId xmlns:a16="http://schemas.microsoft.com/office/drawing/2014/main" id="{012A7BDA-C9EE-F876-034B-A6C0C81EDEF3}"/>
                </a:ext>
              </a:extLst>
            </p:cNvPr>
            <p:cNvCxnSpPr>
              <a:cxnSpLocks/>
            </p:cNvCxnSpPr>
            <p:nvPr/>
          </p:nvCxnSpPr>
          <p:spPr>
            <a:xfrm>
              <a:off x="4776954" y="4770237"/>
              <a:ext cx="2427889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Straight Connector 49">
              <a:extLst>
                <a:ext uri="{FF2B5EF4-FFF2-40B4-BE49-F238E27FC236}">
                  <a16:creationId xmlns:a16="http://schemas.microsoft.com/office/drawing/2014/main" id="{F7299F49-C94A-977F-7BF5-B1B9A3914A2B}"/>
                </a:ext>
              </a:extLst>
            </p:cNvPr>
            <p:cNvCxnSpPr>
              <a:cxnSpLocks/>
            </p:cNvCxnSpPr>
            <p:nvPr/>
          </p:nvCxnSpPr>
          <p:spPr>
            <a:xfrm>
              <a:off x="4776954" y="5037085"/>
              <a:ext cx="2427889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B7592817-D181-55D6-E278-B137EEE6C4EF}"/>
                  </a:ext>
                </a:extLst>
              </p:cNvPr>
              <p:cNvSpPr txBox="1"/>
              <p:nvPr/>
            </p:nvSpPr>
            <p:spPr>
              <a:xfrm>
                <a:off x="594622" y="1565999"/>
                <a:ext cx="5501378" cy="1387175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𝐶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sz="28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28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sz="28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en-US" sz="2800" i="1">
                                  <a:latin typeface="Cambria Math" panose="02040503050406030204" pitchFamily="18" charset="0"/>
                                </a:rPr>
                                <m:t>∗</m:t>
                              </m:r>
                              <m:r>
                                <a:rPr lang="en-US" sz="2800" i="1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den>
                          </m:f>
                          <m:nary>
                            <m:naryPr>
                              <m:chr m:val="∑"/>
                              <m:ctrlPr>
                                <a:rPr lang="en-US" sz="2800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en-US" sz="28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sz="2800" i="1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en-US" sz="28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p>
                            <m:e>
                              <m:nary>
                                <m:naryPr>
                                  <m:chr m:val="∑"/>
                                  <m:ctrlPr>
                                    <a:rPr lang="en-US" sz="2800" i="1">
                                      <a:latin typeface="Cambria Math" panose="02040503050406030204" pitchFamily="18" charset="0"/>
                                    </a:rPr>
                                  </m:ctrlPr>
                                </m:naryPr>
                                <m:sub>
                                  <m:r>
                                    <m:rPr>
                                      <m:brk m:alnAt="23"/>
                                    </m:rPr>
                                    <a:rPr lang="en-US" sz="2800" i="1"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  <m:r>
                                    <a:rPr lang="en-US" sz="2800" i="1">
                                      <a:latin typeface="Cambria Math" panose="02040503050406030204" pitchFamily="18" charset="0"/>
                                    </a:rPr>
                                    <m:t>=1</m:t>
                                  </m:r>
                                </m:sub>
                                <m:sup>
                                  <m:r>
                                    <a:rPr lang="en-US" sz="2800" i="1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sup>
                                <m:e>
                                  <m:r>
                                    <a:rPr lang="en-US" sz="28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  <m:r>
                                    <a:rPr lang="en-US" sz="2800" i="1">
                                      <a:latin typeface="Cambria Math" panose="02040503050406030204" pitchFamily="18" charset="0"/>
                                    </a:rPr>
                                    <m:t>[</m:t>
                                  </m:r>
                                  <m:r>
                                    <a:rPr lang="en-US" sz="28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  <m:r>
                                    <a:rPr lang="en-US" sz="2800" i="1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sz="2800" i="1"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  <m:r>
                                    <a:rPr lang="en-US" sz="2800" i="1">
                                      <a:latin typeface="Cambria Math" panose="02040503050406030204" pitchFamily="18" charset="0"/>
                                    </a:rPr>
                                    <m:t>]</m:t>
                                  </m:r>
                                </m:e>
                              </m:nary>
                            </m:e>
                          </m:nary>
                        </m:e>
                      </m:d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 &gt;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𝑡h𝑟𝑒𝑠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B7592817-D181-55D6-E278-B137EEE6C4E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4622" y="1565999"/>
                <a:ext cx="5501378" cy="1387175"/>
              </a:xfrm>
              <a:prstGeom prst="rect">
                <a:avLst/>
              </a:prstGeom>
              <a:blipFill>
                <a:blip r:embed="rId3"/>
                <a:stretch>
                  <a:fillRect l="-1152" t="-93636" r="-922" b="-14454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99FE103B-1A38-E266-3B68-C903AA0B40AC}"/>
                  </a:ext>
                </a:extLst>
              </p:cNvPr>
              <p:cNvSpPr txBox="1"/>
              <p:nvPr/>
            </p:nvSpPr>
            <p:spPr>
              <a:xfrm>
                <a:off x="18683" y="4173418"/>
                <a:ext cx="8304261" cy="1387175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𝐶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sz="28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28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nary>
                                <m:naryPr>
                                  <m:chr m:val="∑"/>
                                  <m:ctrlPr>
                                    <a:rPr lang="en-US" sz="2800" i="1">
                                      <a:latin typeface="Cambria Math" panose="02040503050406030204" pitchFamily="18" charset="0"/>
                                    </a:rPr>
                                  </m:ctrlPr>
                                </m:naryPr>
                                <m:sub>
                                  <m:r>
                                    <m:rPr>
                                      <m:brk m:alnAt="23"/>
                                    </m:rPr>
                                    <a:rPr lang="en-US" sz="28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  <m:r>
                                    <a:rPr lang="en-US" sz="2800" i="1">
                                      <a:latin typeface="Cambria Math" panose="02040503050406030204" pitchFamily="18" charset="0"/>
                                    </a:rPr>
                                    <m:t>=1</m:t>
                                  </m:r>
                                </m:sub>
                                <m:sup>
                                  <m:r>
                                    <a:rPr lang="en-US" sz="28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p>
                                <m:e>
                                  <m:nary>
                                    <m:naryPr>
                                      <m:chr m:val="∑"/>
                                      <m:ctrlPr>
                                        <a:rPr lang="en-US" sz="28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naryPr>
                                    <m:sub>
                                      <m:r>
                                        <m:rPr>
                                          <m:brk m:alnAt="23"/>
                                        </m:rPr>
                                        <a:rPr lang="en-US" sz="2800" i="1">
                                          <a:latin typeface="Cambria Math" panose="02040503050406030204" pitchFamily="18" charset="0"/>
                                        </a:rPr>
                                        <m:t>𝑗</m:t>
                                      </m:r>
                                      <m:r>
                                        <a:rPr lang="en-US" sz="2800" i="1">
                                          <a:latin typeface="Cambria Math" panose="02040503050406030204" pitchFamily="18" charset="0"/>
                                        </a:rPr>
                                        <m:t>=1</m:t>
                                      </m:r>
                                    </m:sub>
                                    <m:sup>
                                      <m:r>
                                        <a:rPr lang="en-US" sz="2800" i="1">
                                          <a:latin typeface="Cambria Math" panose="02040503050406030204" pitchFamily="18" charset="0"/>
                                        </a:rPr>
                                        <m:t>𝑚</m:t>
                                      </m:r>
                                    </m:sup>
                                    <m:e>
                                      <m:r>
                                        <a:rPr lang="en-US" sz="2800" i="1">
                                          <a:latin typeface="Cambria Math" panose="02040503050406030204" pitchFamily="18" charset="0"/>
                                        </a:rPr>
                                        <m:t>𝐺</m:t>
                                      </m:r>
                                      <m:d>
                                        <m:dPr>
                                          <m:begChr m:val="["/>
                                          <m:endChr m:val="]"/>
                                          <m:ctrlPr>
                                            <a:rPr lang="en-US" sz="28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en-US" sz="2800" i="1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  <m:r>
                                            <a:rPr lang="en-US" sz="2800" i="1">
                                              <a:latin typeface="Cambria Math" panose="02040503050406030204" pitchFamily="18" charset="0"/>
                                            </a:rPr>
                                            <m:t>,</m:t>
                                          </m:r>
                                          <m:r>
                                            <a:rPr lang="en-US" sz="2800" i="1">
                                              <a:latin typeface="Cambria Math" panose="02040503050406030204" pitchFamily="18" charset="0"/>
                                            </a:rPr>
                                            <m:t>𝑗</m:t>
                                          </m:r>
                                        </m:e>
                                      </m:d>
                                    </m:e>
                                  </m:nary>
                                </m:e>
                              </m:nary>
                            </m:den>
                          </m:f>
                          <m:nary>
                            <m:naryPr>
                              <m:chr m:val="∑"/>
                              <m:ctrlPr>
                                <a:rPr lang="en-US" sz="2800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en-US" sz="28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sz="2800" i="1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en-US" sz="28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p>
                            <m:e>
                              <m:nary>
                                <m:naryPr>
                                  <m:chr m:val="∑"/>
                                  <m:ctrlPr>
                                    <a:rPr lang="en-US" sz="2800" i="1">
                                      <a:latin typeface="Cambria Math" panose="02040503050406030204" pitchFamily="18" charset="0"/>
                                    </a:rPr>
                                  </m:ctrlPr>
                                </m:naryPr>
                                <m:sub>
                                  <m:r>
                                    <m:rPr>
                                      <m:brk m:alnAt="23"/>
                                    </m:rPr>
                                    <a:rPr lang="en-US" sz="2800" i="1"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  <m:r>
                                    <a:rPr lang="en-US" sz="2800" i="1">
                                      <a:latin typeface="Cambria Math" panose="02040503050406030204" pitchFamily="18" charset="0"/>
                                    </a:rPr>
                                    <m:t>=1</m:t>
                                  </m:r>
                                </m:sub>
                                <m:sup>
                                  <m:r>
                                    <a:rPr lang="en-US" sz="2800" i="1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sup>
                                <m:e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𝐺</m:t>
                                  </m:r>
                                  <m:d>
                                    <m:dPr>
                                      <m:begChr m:val="["/>
                                      <m:endChr m:val="]"/>
                                      <m:ctrlPr>
                                        <a:rPr lang="en-US" sz="28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sz="2800" b="0" i="1" smtClean="0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  <m:r>
                                        <a:rPr lang="en-US" sz="2800" b="0" i="1" smtClean="0"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r>
                                        <a:rPr lang="en-US" sz="2800" b="0" i="1" smtClean="0">
                                          <a:latin typeface="Cambria Math" panose="02040503050406030204" pitchFamily="18" charset="0"/>
                                        </a:rPr>
                                        <m:t>𝑗</m:t>
                                      </m:r>
                                    </m:e>
                                  </m:d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∗</m:t>
                                  </m:r>
                                  <m:r>
                                    <a:rPr lang="en-US" sz="28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  <m:r>
                                    <a:rPr lang="en-US" sz="2800" i="1">
                                      <a:latin typeface="Cambria Math" panose="02040503050406030204" pitchFamily="18" charset="0"/>
                                    </a:rPr>
                                    <m:t>[</m:t>
                                  </m:r>
                                  <m:r>
                                    <a:rPr lang="en-US" sz="28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  <m:r>
                                    <a:rPr lang="en-US" sz="2800" i="1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sz="2800" i="1"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  <m:r>
                                    <a:rPr lang="en-US" sz="2800" i="1">
                                      <a:latin typeface="Cambria Math" panose="02040503050406030204" pitchFamily="18" charset="0"/>
                                    </a:rPr>
                                    <m:t>]</m:t>
                                  </m:r>
                                </m:e>
                              </m:nary>
                            </m:e>
                          </m:nary>
                        </m:e>
                      </m:d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 &gt;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𝑡h𝑟𝑒𝑠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99FE103B-1A38-E266-3B68-C903AA0B40A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683" y="4173418"/>
                <a:ext cx="8304261" cy="1387175"/>
              </a:xfrm>
              <a:prstGeom prst="rect">
                <a:avLst/>
              </a:prstGeom>
              <a:blipFill>
                <a:blip r:embed="rId4"/>
                <a:stretch>
                  <a:fillRect l="-611" t="-93636" r="-611" b="-14454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472979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598</TotalTime>
  <Words>990</Words>
  <Application>Microsoft Macintosh PowerPoint</Application>
  <PresentationFormat>Widescreen</PresentationFormat>
  <Paragraphs>150</Paragraphs>
  <Slides>21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7" baseType="lpstr">
      <vt:lpstr>Aptos</vt:lpstr>
      <vt:lpstr>Aptos Display</vt:lpstr>
      <vt:lpstr>Arial</vt:lpstr>
      <vt:lpstr>Cambria Math</vt:lpstr>
      <vt:lpstr>Menlo</vt:lpstr>
      <vt:lpstr>Office Theme</vt:lpstr>
      <vt:lpstr>Lecture 2 Operations on Images</vt:lpstr>
      <vt:lpstr>PowerPoint Presentation</vt:lpstr>
      <vt:lpstr>Brightness</vt:lpstr>
      <vt:lpstr>PowerPoint Presentation</vt:lpstr>
      <vt:lpstr>Contrast</vt:lpstr>
      <vt:lpstr>PowerPoint Presentation</vt:lpstr>
      <vt:lpstr>PowerPoint Presentation</vt:lpstr>
      <vt:lpstr>2D convolution as a matrix operation</vt:lpstr>
      <vt:lpstr>2D convolution as a matrix operation</vt:lpstr>
      <vt:lpstr>2D convolution as a matrix operation</vt:lpstr>
      <vt:lpstr>2D convolution as a matrix operation</vt:lpstr>
      <vt:lpstr>2D convolution as a matrix operation</vt:lpstr>
      <vt:lpstr>Boolean (Bit-wise) operations</vt:lpstr>
      <vt:lpstr>Morphological Operations </vt:lpstr>
      <vt:lpstr>Erosion/Dilation</vt:lpstr>
      <vt:lpstr>Erosion/Dilation</vt:lpstr>
      <vt:lpstr>Convolutional (Filtering) Operations</vt:lpstr>
      <vt:lpstr>Thresholding</vt:lpstr>
      <vt:lpstr>Otsu’s thresholding</vt:lpstr>
      <vt:lpstr>Adaptive thresholding</vt:lpstr>
      <vt:lpstr>Adaptive thresholding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University of Pittsburgh University of Pittsburgh</dc:creator>
  <cp:lastModifiedBy>HUPPERT, CAROLINE F (STUDENT)</cp:lastModifiedBy>
  <cp:revision>12</cp:revision>
  <dcterms:created xsi:type="dcterms:W3CDTF">2024-07-14T13:25:54Z</dcterms:created>
  <dcterms:modified xsi:type="dcterms:W3CDTF">2024-08-14T13:39:34Z</dcterms:modified>
</cp:coreProperties>
</file>