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62" r:id="rId2"/>
    <p:sldId id="342" r:id="rId3"/>
    <p:sldId id="343" r:id="rId4"/>
    <p:sldId id="344" r:id="rId5"/>
    <p:sldId id="345" r:id="rId6"/>
    <p:sldId id="346" r:id="rId7"/>
    <p:sldId id="347" r:id="rId8"/>
    <p:sldId id="348" r:id="rId9"/>
    <p:sldId id="349" r:id="rId10"/>
    <p:sldId id="350" r:id="rId11"/>
    <p:sldId id="351" r:id="rId12"/>
    <p:sldId id="352" r:id="rId13"/>
    <p:sldId id="353" r:id="rId14"/>
    <p:sldId id="354" r:id="rId15"/>
    <p:sldId id="35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01"/>
    <p:restoredTop sz="94670"/>
  </p:normalViewPr>
  <p:slideViewPr>
    <p:cSldViewPr snapToGrid="0">
      <p:cViewPr varScale="1">
        <p:scale>
          <a:sx n="207" d="100"/>
          <a:sy n="207" d="100"/>
        </p:scale>
        <p:origin x="2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0182BA-D6B2-8C4C-A437-30BC8B3E8EFF}" type="datetimeFigureOut">
              <a:rPr lang="en-US" smtClean="0"/>
              <a:t>8/7/24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5C116-8FE2-EF4A-B3C0-8D05856357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064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0493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535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FC13D-C485-B9D3-99EA-D80E4E9A9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ED7B23-2526-2A0B-6932-F92267ADD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94BDB-E7E5-9910-C3EE-41DBC544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803192-56E2-5809-7472-0D7F875DE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B67CD-EF3F-F857-D34F-777CACF3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148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97195-1EBD-7BCB-3B5A-91AACBD3F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F9648-3F9A-316C-87DB-7EE7798CA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FCF31-6117-AB6E-42EC-0CB56F2D8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4C68E-F23A-A75B-5E8F-82B7E0135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7C07-39A5-0102-8B7C-D54FFEE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50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0FBF1-3B26-85B7-5B23-196D6D7A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F26AA-12EA-8ABD-6EFD-D08F49B2D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98597-67E3-8944-18DE-66DCE81A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04062-2D0B-BCFF-2512-CEB2B699E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F9974-00DC-799D-5A39-8C4455F5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66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BE502-6CAF-3BF5-BD6B-065D6AAC9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FD2C5-EA3F-B247-6115-694CB50A2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8C6E22-BDC4-EA3F-0157-4E70E0CA8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755765-826E-C08A-B1AE-7D0450E76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F0ED42-71C9-96FD-9AC7-BBBB1E805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298970-A713-3810-1656-9A497405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197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AEFE3-7F3D-1B88-EFDA-38CEB249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9FB26-F14D-71C1-7811-FFF97C320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A1E4B-1C15-4FB7-4E18-041EB41BC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7C11D1-5A46-1743-FF30-5B7AA7714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39A520-D677-A0EC-79D6-F04D6C4847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3BA99-897A-0500-AE48-09E7B8C2C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3C3F4-F2F2-C2AF-D951-2143C2AC1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81BF2-C18C-5BCE-8867-97369A7E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61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D803A-82FE-540F-04AD-04E5BC92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2AE2E6-A597-C016-7335-DDE3857CE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16C399-5561-EB63-F9FA-82FD2E4F8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B7DC75-D761-8046-6EA3-3C54C660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4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0F3204-AE45-9D32-CF50-26F1909D7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BD95A8-B2D5-EADB-1C47-FFB192604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0A1BD-7287-A602-D01E-2E738D41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9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6E0CD-2F46-6818-C3F0-CCADAB2C1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ADD57-4C79-D6D0-FB66-51CEFBADB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B58AD-4B41-DA2A-70C5-3099BAA4B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F0C8-41B5-BA77-0536-8BA68ED08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776A6-8636-3E77-9BE8-DADC09DBE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36611F-C2E8-BD14-00A5-38A56CB29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7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0ACF2-120D-5B4B-92E9-D6DDDB6E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34234-27D3-8B30-B909-03E904DB2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F481E-39C7-E276-5FEC-6132C3F16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7F9A7-9755-B9B9-95CC-5F76F16D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77145-B00A-818B-C157-539D33965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9EE6A-0692-79C1-4E2E-81960BE4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5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7BE6-9453-29ED-002A-FEE3A328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68097-9D96-7737-81FC-C8D04570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4BA2E-E4E4-9C71-BA90-B81529C5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99529-4F7C-0023-1CBA-378E4F29F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889C-7082-9C58-C006-A02D0F0EC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32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CA38A-5858-C061-82D2-23AB59B0E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1AB83F-1485-4E39-161D-4AD3FF883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7C601-0843-EE91-EFA1-39AC6035B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99449-2C62-2B36-2F54-8C14C84F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EBC43-AC1F-1AFF-9D37-9D0514CA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314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DBBABD-0DF4-6ADE-361D-4FAE2F6C4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F65B5A-9A96-CA1E-DE77-1E1269C1B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B0F49-17FE-CF85-22D1-CF2C4773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9B49C-C8FD-4344-8CD3-ED4C91409D68}" type="datetimeFigureOut">
              <a:rPr lang="en-US" smtClean="0"/>
              <a:t>8/7/24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5ABE4-2438-57F3-F77E-B272A49E8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F92FD-D28C-396F-E86B-DDBB7E4D4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697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A1DD2F-829D-1A0C-E099-9D2666DE7C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2565883"/>
              </p:ext>
            </p:extLst>
          </p:nvPr>
        </p:nvGraphicFramePr>
        <p:xfrm>
          <a:off x="441434" y="1608908"/>
          <a:ext cx="11062421" cy="4537888"/>
        </p:xfrm>
        <a:graphic>
          <a:graphicData uri="http://schemas.openxmlformats.org/drawingml/2006/table">
            <a:tbl>
              <a:tblPr/>
              <a:tblGrid>
                <a:gridCol w="715660">
                  <a:extLst>
                    <a:ext uri="{9D8B030D-6E8A-4147-A177-3AD203B41FA5}">
                      <a16:colId xmlns:a16="http://schemas.microsoft.com/office/drawing/2014/main" val="2794491609"/>
                    </a:ext>
                  </a:extLst>
                </a:gridCol>
                <a:gridCol w="1570340">
                  <a:extLst>
                    <a:ext uri="{9D8B030D-6E8A-4147-A177-3AD203B41FA5}">
                      <a16:colId xmlns:a16="http://schemas.microsoft.com/office/drawing/2014/main" val="1747983715"/>
                    </a:ext>
                  </a:extLst>
                </a:gridCol>
                <a:gridCol w="3436883">
                  <a:extLst>
                    <a:ext uri="{9D8B030D-6E8A-4147-A177-3AD203B41FA5}">
                      <a16:colId xmlns:a16="http://schemas.microsoft.com/office/drawing/2014/main" val="1415124489"/>
                    </a:ext>
                  </a:extLst>
                </a:gridCol>
                <a:gridCol w="3026980">
                  <a:extLst>
                    <a:ext uri="{9D8B030D-6E8A-4147-A177-3AD203B41FA5}">
                      <a16:colId xmlns:a16="http://schemas.microsoft.com/office/drawing/2014/main" val="917873486"/>
                    </a:ext>
                  </a:extLst>
                </a:gridCol>
                <a:gridCol w="2312558">
                  <a:extLst>
                    <a:ext uri="{9D8B030D-6E8A-4147-A177-3AD203B41FA5}">
                      <a16:colId xmlns:a16="http://schemas.microsoft.com/office/drawing/2014/main" val="2083092539"/>
                    </a:ext>
                  </a:extLst>
                </a:gridCol>
              </a:tblGrid>
              <a:tr h="151505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Week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Date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Topic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In class work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Due date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0163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8/26/2024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Introduction to course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 to OpenCV 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4158272"/>
                  </a:ext>
                </a:extLst>
              </a:tr>
              <a:tr h="101831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8/28/2024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operations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Planning projects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179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Labor Day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319350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Analysis and Color spaces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Initial project proposal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8937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9/9/2024. 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Transforms (DFT, </a:t>
                      </a:r>
                      <a:r>
                        <a:rPr lang="en-US" sz="1800" dirty="0" err="1">
                          <a:effectLst/>
                        </a:rPr>
                        <a:t>Haar</a:t>
                      </a:r>
                      <a:r>
                        <a:rPr lang="en-US" sz="1800" dirty="0">
                          <a:effectLst/>
                        </a:rPr>
                        <a:t>, Walsh)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(HW1)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9/16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69106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9/11/2024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Spatial &amp; Frequency Filtering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White paper on project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716580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9/16/2024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Restoration/Inverse filters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(HW2)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Due 9/23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081299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9/18/2024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Edge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4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5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GMM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(HW3)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Due 9/30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8018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9/25/2024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Morphometric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(HW4)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1170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9/30/2024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Image Feature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7281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Registration &amp; Homography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 (HW5)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10/9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5389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7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10/7/2024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Computational Photography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(HW6)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783435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10/9/2024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Inpainting (Missing data)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Mid project assessment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ratings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50992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FALL Break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33871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116F40BB-A52A-CAE7-E132-D6080FB00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16"/>
            <a:ext cx="10515600" cy="1325563"/>
          </a:xfrm>
        </p:spPr>
        <p:txBody>
          <a:bodyPr/>
          <a:lstStyle/>
          <a:p>
            <a:r>
              <a:rPr lang="en-US" b="1" dirty="0"/>
              <a:t>Syllabus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4B708B-3D29-BA32-BFF5-812512843AD0}"/>
              </a:ext>
            </a:extLst>
          </p:cNvPr>
          <p:cNvSpPr txBox="1"/>
          <p:nvPr/>
        </p:nvSpPr>
        <p:spPr>
          <a:xfrm>
            <a:off x="8703733" y="138875"/>
            <a:ext cx="3708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  <a:effectLst/>
              </a:rPr>
              <a:t>* Lecture will be remote</a:t>
            </a:r>
          </a:p>
          <a:p>
            <a:r>
              <a:rPr lang="en-US" dirty="0">
                <a:solidFill>
                  <a:srgbClr val="C00000"/>
                </a:solidFill>
              </a:rPr>
              <a:t>** Lecture will be pre-recorded</a:t>
            </a:r>
          </a:p>
        </p:txBody>
      </p:sp>
    </p:spTree>
    <p:extLst>
      <p:ext uri="{BB962C8B-B14F-4D97-AF65-F5344CB8AC3E}">
        <p14:creationId xmlns:p14="http://schemas.microsoft.com/office/powerpoint/2010/main" val="1206168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A1DD2F-829D-1A0C-E099-9D2666DE7C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345538"/>
              </p:ext>
            </p:extLst>
          </p:nvPr>
        </p:nvGraphicFramePr>
        <p:xfrm>
          <a:off x="441434" y="1608908"/>
          <a:ext cx="11062421" cy="5105124"/>
        </p:xfrm>
        <a:graphic>
          <a:graphicData uri="http://schemas.openxmlformats.org/drawingml/2006/table">
            <a:tbl>
              <a:tblPr/>
              <a:tblGrid>
                <a:gridCol w="715660">
                  <a:extLst>
                    <a:ext uri="{9D8B030D-6E8A-4147-A177-3AD203B41FA5}">
                      <a16:colId xmlns:a16="http://schemas.microsoft.com/office/drawing/2014/main" val="2794491609"/>
                    </a:ext>
                  </a:extLst>
                </a:gridCol>
                <a:gridCol w="1570340">
                  <a:extLst>
                    <a:ext uri="{9D8B030D-6E8A-4147-A177-3AD203B41FA5}">
                      <a16:colId xmlns:a16="http://schemas.microsoft.com/office/drawing/2014/main" val="1747983715"/>
                    </a:ext>
                  </a:extLst>
                </a:gridCol>
                <a:gridCol w="3436883">
                  <a:extLst>
                    <a:ext uri="{9D8B030D-6E8A-4147-A177-3AD203B41FA5}">
                      <a16:colId xmlns:a16="http://schemas.microsoft.com/office/drawing/2014/main" val="1415124489"/>
                    </a:ext>
                  </a:extLst>
                </a:gridCol>
                <a:gridCol w="3026980">
                  <a:extLst>
                    <a:ext uri="{9D8B030D-6E8A-4147-A177-3AD203B41FA5}">
                      <a16:colId xmlns:a16="http://schemas.microsoft.com/office/drawing/2014/main" val="917873486"/>
                    </a:ext>
                  </a:extLst>
                </a:gridCol>
                <a:gridCol w="2312558">
                  <a:extLst>
                    <a:ext uri="{9D8B030D-6E8A-4147-A177-3AD203B41FA5}">
                      <a16:colId xmlns:a16="http://schemas.microsoft.com/office/drawing/2014/main" val="2083092539"/>
                    </a:ext>
                  </a:extLst>
                </a:gridCol>
              </a:tblGrid>
              <a:tr h="151505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Week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Date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Topic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In class work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Due date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0163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8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FALL Break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415827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Camera Calibration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(HW7)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10/23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5139463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10/21/2024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Image Compression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360844"/>
                  </a:ext>
                </a:extLst>
              </a:tr>
              <a:tr h="101831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Depth &amp; 3D Reconstruction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(HW8)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10/30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179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Haar Cascade Classifiers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(HW9)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319350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10/30/2024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Face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Project updates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8937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11/4/2024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Harris Corners and Blobs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69106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HOG and Custom Detectors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(HW10)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11/13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716580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11/11/2024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Object Tracking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081299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11/13/2024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OCR Text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(HW11)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11/20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4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11/18/2024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OpenCV DNN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(HW12)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12/4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8018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Super Resolution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1170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11/25/2024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Thanksgiving recess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7281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11/27/2024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Thanksgiving recess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5389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15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SLAM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783435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 err="1">
                          <a:effectLst/>
                        </a:rPr>
                        <a:t>MediaPipe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project commit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50992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12/9/2024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Projects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Project presentations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group ratings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33871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116F40BB-A52A-CAE7-E132-D6080FB00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16"/>
            <a:ext cx="10515600" cy="1325563"/>
          </a:xfrm>
        </p:spPr>
        <p:txBody>
          <a:bodyPr/>
          <a:lstStyle/>
          <a:p>
            <a:r>
              <a:rPr lang="en-US" b="1" dirty="0"/>
              <a:t>Syllabus</a:t>
            </a:r>
          </a:p>
        </p:txBody>
      </p:sp>
    </p:spTree>
    <p:extLst>
      <p:ext uri="{BB962C8B-B14F-4D97-AF65-F5344CB8AC3E}">
        <p14:creationId xmlns:p14="http://schemas.microsoft.com/office/powerpoint/2010/main" val="601069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C0153-823E-EEAC-BC2A-4D28E16C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HW0. Intro to OpenCV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189CC-BAD3-9EF5-7163-17EE7CE81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Examine and run the following code examples:</a:t>
            </a:r>
          </a:p>
          <a:p>
            <a:pPr lvl="1"/>
            <a:r>
              <a:rPr lang="en-US" dirty="0"/>
              <a:t> 01_Loading_Images.ipynb</a:t>
            </a:r>
          </a:p>
          <a:p>
            <a:pPr lvl="1"/>
            <a:r>
              <a:rPr lang="en-US" dirty="0"/>
              <a:t> 02_Basic_Manipulations.ipynb</a:t>
            </a:r>
          </a:p>
          <a:p>
            <a:pPr lvl="1"/>
            <a:r>
              <a:rPr lang="en-US" dirty="0"/>
              <a:t> 03_Annotating_Images.ipynb</a:t>
            </a:r>
          </a:p>
          <a:p>
            <a:pPr lvl="1"/>
            <a:r>
              <a:rPr lang="en-US" dirty="0"/>
              <a:t> 04_Image_Enhancement.ipynb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a new notebook, do the following on your own:</a:t>
            </a:r>
          </a:p>
          <a:p>
            <a:pPr lvl="1"/>
            <a:r>
              <a:rPr lang="en-US" dirty="0"/>
              <a:t>Launch </a:t>
            </a:r>
            <a:r>
              <a:rPr lang="en-US" dirty="0" err="1"/>
              <a:t>Jupyter</a:t>
            </a:r>
            <a:r>
              <a:rPr lang="en-US" dirty="0"/>
              <a:t> notebook via VS Code</a:t>
            </a:r>
          </a:p>
          <a:p>
            <a:pPr lvl="1"/>
            <a:r>
              <a:rPr lang="en-US" dirty="0"/>
              <a:t>Load an (Grayscale) image  (‘../Data/</a:t>
            </a:r>
            <a:r>
              <a:rPr lang="en-US" dirty="0" err="1"/>
              <a:t>Lena.jpeg</a:t>
            </a:r>
            <a:r>
              <a:rPr lang="en-US" dirty="0"/>
              <a:t>’)</a:t>
            </a:r>
          </a:p>
          <a:p>
            <a:pPr lvl="1"/>
            <a:r>
              <a:rPr lang="en-US" dirty="0"/>
              <a:t>View image</a:t>
            </a:r>
          </a:p>
          <a:p>
            <a:pPr lvl="1"/>
            <a:r>
              <a:rPr lang="en-US" dirty="0"/>
              <a:t>Crop image</a:t>
            </a:r>
          </a:p>
          <a:p>
            <a:pPr lvl="1"/>
            <a:r>
              <a:rPr lang="en-US" dirty="0"/>
              <a:t>Edit brightness of image</a:t>
            </a:r>
          </a:p>
          <a:p>
            <a:pPr lvl="1"/>
            <a:r>
              <a:rPr lang="en-US" dirty="0"/>
              <a:t>Rotate image</a:t>
            </a:r>
          </a:p>
          <a:p>
            <a:pPr lvl="1"/>
            <a:r>
              <a:rPr lang="en-US" dirty="0"/>
              <a:t>Save modified image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3536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HW1. Transforms/Filters/Color spaces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092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HW2. Filters/Image restoration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036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HW3. Edge detection and 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4497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HW4. </a:t>
            </a:r>
            <a:r>
              <a:rPr lang="en-US" dirty="0" err="1"/>
              <a:t>Morphalogical</a:t>
            </a:r>
            <a:r>
              <a:rPr lang="en-US" dirty="0"/>
              <a:t> 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3477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HW5. Image registration/</a:t>
            </a:r>
            <a:r>
              <a:rPr lang="en-US" dirty="0" err="1"/>
              <a:t>homography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56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HW6. HDR and Panoramas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702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HW7. Camera Calibration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679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HW8. Depth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132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HW9. Classifiers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851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HW10. Custom detectors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616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HW11. OCR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407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HW12. OpenCV DNN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1965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5234</TotalTime>
  <Words>484</Words>
  <Application>Microsoft Macintosh PowerPoint</Application>
  <PresentationFormat>Widescreen</PresentationFormat>
  <Paragraphs>183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Syllabus</vt:lpstr>
      <vt:lpstr>Syllabus</vt:lpstr>
      <vt:lpstr>HW0. Intro to OpenCV  </vt:lpstr>
      <vt:lpstr>HW1. Transforms/Filters/Color spaces</vt:lpstr>
      <vt:lpstr>HW2. Filters/Image restoration</vt:lpstr>
      <vt:lpstr>HW3. Edge detection and segmentation</vt:lpstr>
      <vt:lpstr>HW4. Morphalogical segmentation</vt:lpstr>
      <vt:lpstr>HW5. Image registration/homography</vt:lpstr>
      <vt:lpstr>HW6. HDR and Panoramas</vt:lpstr>
      <vt:lpstr>HW7. Camera Calibration</vt:lpstr>
      <vt:lpstr>HW8. Depth estimation</vt:lpstr>
      <vt:lpstr>HW9. Classifiers</vt:lpstr>
      <vt:lpstr>HW10. Custom detectors</vt:lpstr>
      <vt:lpstr>HW11. OCR</vt:lpstr>
      <vt:lpstr>HW12. OpenCV DNN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University of Pittsburgh University of Pittsburgh</dc:creator>
  <cp:lastModifiedBy>HUPPERT, CAROLINE F (STUDENT)</cp:lastModifiedBy>
  <cp:revision>19</cp:revision>
  <dcterms:created xsi:type="dcterms:W3CDTF">2024-07-14T13:25:54Z</dcterms:created>
  <dcterms:modified xsi:type="dcterms:W3CDTF">2024-08-09T15:34:50Z</dcterms:modified>
</cp:coreProperties>
</file>