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62" r:id="rId2"/>
    <p:sldId id="342" r:id="rId3"/>
    <p:sldId id="343" r:id="rId4"/>
    <p:sldId id="344" r:id="rId5"/>
    <p:sldId id="345" r:id="rId6"/>
    <p:sldId id="346" r:id="rId7"/>
    <p:sldId id="347" r:id="rId8"/>
    <p:sldId id="348" r:id="rId9"/>
    <p:sldId id="349" r:id="rId10"/>
    <p:sldId id="350" r:id="rId11"/>
    <p:sldId id="351" r:id="rId12"/>
    <p:sldId id="352" r:id="rId13"/>
    <p:sldId id="353" r:id="rId14"/>
    <p:sldId id="354" r:id="rId15"/>
    <p:sldId id="355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686"/>
    <p:restoredTop sz="94686"/>
  </p:normalViewPr>
  <p:slideViewPr>
    <p:cSldViewPr snapToGrid="0">
      <p:cViewPr varScale="1">
        <p:scale>
          <a:sx n="99" d="100"/>
          <a:sy n="99" d="100"/>
        </p:scale>
        <p:origin x="184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0182BA-D6B2-8C4C-A437-30BC8B3E8EFF}" type="datetimeFigureOut">
              <a:rPr lang="en-US" smtClean="0"/>
              <a:t>9/8/24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B5C116-8FE2-EF4A-B3C0-8D05856357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30643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B5C116-8FE2-EF4A-B3C0-8D058563571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0493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B5C116-8FE2-EF4A-B3C0-8D058563571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5353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FC13D-C485-B9D3-99EA-D80E4E9A91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ED7B23-2526-2A0B-6932-F92267ADD5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094BDB-E7E5-9910-C3EE-41DBC544A8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9/8/24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803192-56E2-5809-7472-0D7F875DE8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BB67CD-EF3F-F857-D34F-777CACF3B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81483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97195-1EBD-7BCB-3B5A-91AACBD3F0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8F9648-3F9A-316C-87DB-7EE7798CA1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3FCF31-6117-AB6E-42EC-0CB56F2D8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9/8/24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54C68E-F23A-A75B-5E8F-82B7E01358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667C07-39A5-0102-8B7C-D54FFEEAB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2504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10FBF1-3B26-85B7-5B23-196D6D7AC7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EF26AA-12EA-8ABD-6EFD-D08F49B2D0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598597-67E3-8944-18DE-66DCE81A5F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9/8/24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A04062-2D0B-BCFF-2512-CEB2B699E4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1F9974-00DC-799D-5A39-8C4455F5E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6660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2BE502-6CAF-3BF5-BD6B-065D6AAC9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3FD2C5-EA3F-B247-6115-694CB50A27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8C6E22-BDC4-EA3F-0157-4E70E0CA8A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755765-826E-C08A-B1AE-7D0450E76A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9/8/24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F0ED42-71C9-96FD-9AC7-BBBB1E805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298970-A713-3810-1656-9A49740562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8197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AEFE3-7F3D-1B88-EFDA-38CEB24904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19FB26-F14D-71C1-7811-FFF97C320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BA1E4B-1C15-4FB7-4E18-041EB41BCE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C7C11D1-5A46-1743-FF30-5B7AA77149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39A520-D677-A0EC-79D6-F04D6C48472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423BA99-897A-0500-AE48-09E7B8C2C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9/8/24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E3C3F4-F2F2-C2AF-D951-2143C2AC1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3081BF2-C18C-5BCE-8867-97369A7EA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8618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D803A-82FE-540F-04AD-04E5BC92E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22AE2E6-A597-C016-7335-DDE3857CEB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9/8/24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16C399-5561-EB63-F9FA-82FD2E4F8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B7DC75-D761-8046-6EA3-3C54C6602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29468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0F3204-AE45-9D32-CF50-26F1909D70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9/8/24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BD95A8-B2D5-EADB-1C47-FFB1926049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30A1BD-7287-A602-D01E-2E738D412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9867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6E0CD-2F46-6818-C3F0-CCADAB2C1B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DADD57-4C79-D6D0-FB66-51CEFBADB7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EB58AD-4B41-DA2A-70C5-3099BAA4B8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73F0C8-41B5-BA77-0536-8BA68ED08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9/8/24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B776A6-8636-3E77-9BE8-DADC09DBE3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36611F-C2E8-BD14-00A5-38A56CB298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6702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0ACF2-120D-5B4B-92E9-D6DDDB6E0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8334234-27D3-8B30-B909-03E904DB242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FF481E-39C7-E276-5FEC-6132C3F16B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A7F9A7-9755-B9B9-95CC-5F76F16D5F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9/8/24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E77145-B00A-818B-C157-539D33965D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89EE6A-0692-79C1-4E2E-81960BE4E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9555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A67BE6-9453-29ED-002A-FEE3A328C8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068097-9D96-7737-81FC-C8D04570D2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94BA2E-E4E4-9C71-BA90-B81529C5F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9/8/24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C99529-4F7C-0023-1CBA-378E4F29F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9C889C-7082-9C58-C006-A02D0F0EC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324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DCA38A-5858-C061-82D2-23AB59B0EA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91AB83F-1485-4E39-161D-4AD3FF8833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07C601-0843-EE91-EFA1-39AC6035BC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9/8/24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B99449-2C62-2B36-2F54-8C14C84FA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6EBC43-AC1F-1AFF-9D37-9D0514CA7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43141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DDBBABD-0DF4-6ADE-361D-4FAE2F6C4C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F65B5A-9A96-CA1E-DE77-1E1269C1B2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CB0F49-17FE-CF85-22D1-CF2C477339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E9B49C-C8FD-4344-8CD3-ED4C91409D68}" type="datetimeFigureOut">
              <a:rPr lang="en-US" smtClean="0"/>
              <a:t>9/8/24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E5ABE4-2438-57F3-F77E-B272A49E8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EF92FD-D28C-396F-E86B-DDBB7E4D47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7697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FA1DD2F-829D-1A0C-E099-9D2666DE7C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1862740"/>
              </p:ext>
            </p:extLst>
          </p:nvPr>
        </p:nvGraphicFramePr>
        <p:xfrm>
          <a:off x="441434" y="1608908"/>
          <a:ext cx="11062421" cy="4537888"/>
        </p:xfrm>
        <a:graphic>
          <a:graphicData uri="http://schemas.openxmlformats.org/drawingml/2006/table">
            <a:tbl>
              <a:tblPr/>
              <a:tblGrid>
                <a:gridCol w="715660">
                  <a:extLst>
                    <a:ext uri="{9D8B030D-6E8A-4147-A177-3AD203B41FA5}">
                      <a16:colId xmlns:a16="http://schemas.microsoft.com/office/drawing/2014/main" val="2794491609"/>
                    </a:ext>
                  </a:extLst>
                </a:gridCol>
                <a:gridCol w="1570340">
                  <a:extLst>
                    <a:ext uri="{9D8B030D-6E8A-4147-A177-3AD203B41FA5}">
                      <a16:colId xmlns:a16="http://schemas.microsoft.com/office/drawing/2014/main" val="1747983715"/>
                    </a:ext>
                  </a:extLst>
                </a:gridCol>
                <a:gridCol w="3436883">
                  <a:extLst>
                    <a:ext uri="{9D8B030D-6E8A-4147-A177-3AD203B41FA5}">
                      <a16:colId xmlns:a16="http://schemas.microsoft.com/office/drawing/2014/main" val="1415124489"/>
                    </a:ext>
                  </a:extLst>
                </a:gridCol>
                <a:gridCol w="3026980">
                  <a:extLst>
                    <a:ext uri="{9D8B030D-6E8A-4147-A177-3AD203B41FA5}">
                      <a16:colId xmlns:a16="http://schemas.microsoft.com/office/drawing/2014/main" val="917873486"/>
                    </a:ext>
                  </a:extLst>
                </a:gridCol>
                <a:gridCol w="2312558">
                  <a:extLst>
                    <a:ext uri="{9D8B030D-6E8A-4147-A177-3AD203B41FA5}">
                      <a16:colId xmlns:a16="http://schemas.microsoft.com/office/drawing/2014/main" val="2083092539"/>
                    </a:ext>
                  </a:extLst>
                </a:gridCol>
              </a:tblGrid>
              <a:tr h="151505">
                <a:tc>
                  <a:txBody>
                    <a:bodyPr/>
                    <a:lstStyle/>
                    <a:p>
                      <a:r>
                        <a:rPr lang="en-US" sz="1800" b="1">
                          <a:effectLst/>
                        </a:rPr>
                        <a:t>Week</a:t>
                      </a:r>
                      <a:endParaRPr lang="en-US" sz="180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>
                          <a:effectLst/>
                        </a:rPr>
                        <a:t>Date</a:t>
                      </a:r>
                      <a:endParaRPr lang="en-US" sz="180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>
                          <a:effectLst/>
                        </a:rPr>
                        <a:t>Topic</a:t>
                      </a:r>
                      <a:endParaRPr lang="en-US" sz="180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In class work</a:t>
                      </a:r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Due date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1601634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1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8/26/2024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Introduction to course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Intro to OpenCV 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4158272"/>
                  </a:ext>
                </a:extLst>
              </a:tr>
              <a:tr h="101831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8/28/2024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Image operations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Planning projects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61792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2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9/2/2024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Labor Day [No Class]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7319350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9/4/2024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Analysis and Color spaces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Initial project proposal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5893794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3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9/9/2024.  </a:t>
                      </a:r>
                      <a:r>
                        <a:rPr lang="en-US" sz="1800" dirty="0">
                          <a:solidFill>
                            <a:srgbClr val="C00000"/>
                          </a:solidFill>
                          <a:effectLst/>
                        </a:rPr>
                        <a:t>*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Transforms (DFT, </a:t>
                      </a:r>
                      <a:r>
                        <a:rPr lang="en-US" sz="1800" dirty="0" err="1">
                          <a:effectLst/>
                        </a:rPr>
                        <a:t>Haar</a:t>
                      </a:r>
                      <a:r>
                        <a:rPr lang="en-US" sz="1800" dirty="0">
                          <a:effectLst/>
                        </a:rPr>
                        <a:t>, Walsh)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Python problems (HW1)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Due 9/16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691061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9/11/2024 </a:t>
                      </a:r>
                      <a:r>
                        <a:rPr lang="en-US" sz="1800" dirty="0">
                          <a:solidFill>
                            <a:srgbClr val="C00000"/>
                          </a:solidFill>
                          <a:effectLst/>
                        </a:rPr>
                        <a:t>*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Spatial &amp; Frequency Filtering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Group Project work 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8716580"/>
                  </a:ext>
                </a:extLst>
              </a:tr>
              <a:tr h="280658"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9/16/2024 </a:t>
                      </a:r>
                      <a:r>
                        <a:rPr lang="en-US" sz="1800" dirty="0">
                          <a:solidFill>
                            <a:srgbClr val="C00000"/>
                          </a:solidFill>
                          <a:effectLst/>
                        </a:rPr>
                        <a:t>**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Image Restoration/Inverse filters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Python problems (HW2)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</a:rPr>
                        <a:t>Due 9/23 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0081299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9/18/2024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Edge Detection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Group Project work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  <a:highlight>
                            <a:srgbClr val="FFFF00"/>
                          </a:highlight>
                        </a:rPr>
                        <a:t>White paper on project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33494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5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9/23/2024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GMM Segmentation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</a:rPr>
                        <a:t>Python problems (HW3)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</a:rPr>
                        <a:t>Due 9/30 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480187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9/25/2024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Morphometric Segmentation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Python problems (HW4)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Due 10/2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511707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6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9/30/2024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Image Feature Detection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</a:rPr>
                        <a:t>Group Project work 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372814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10/2/2024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Registration &amp; Homography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Python problems  (HW5)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Due 10/9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053897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7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10/7/2024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Computational Photography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</a:rPr>
                        <a:t>Python problems (HW6)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Due 10/16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783435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10/9/2024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Inpainting (Missing data)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Mid project assessment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Group ratings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8509921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8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10/14/2024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FALL Break [No Class]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4233871"/>
                  </a:ext>
                </a:extLst>
              </a:tr>
            </a:tbl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116F40BB-A52A-CAE7-E132-D6080FB00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16"/>
            <a:ext cx="10515600" cy="1325563"/>
          </a:xfrm>
        </p:spPr>
        <p:txBody>
          <a:bodyPr/>
          <a:lstStyle/>
          <a:p>
            <a:r>
              <a:rPr lang="en-US" b="1" dirty="0"/>
              <a:t>Syllabus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4B708B-3D29-BA32-BFF5-812512843AD0}"/>
              </a:ext>
            </a:extLst>
          </p:cNvPr>
          <p:cNvSpPr txBox="1"/>
          <p:nvPr/>
        </p:nvSpPr>
        <p:spPr>
          <a:xfrm>
            <a:off x="8703733" y="138875"/>
            <a:ext cx="37084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C00000"/>
                </a:solidFill>
                <a:effectLst/>
              </a:rPr>
              <a:t>* Lecture will be remote</a:t>
            </a:r>
          </a:p>
          <a:p>
            <a:r>
              <a:rPr lang="en-US" dirty="0">
                <a:solidFill>
                  <a:srgbClr val="C00000"/>
                </a:solidFill>
              </a:rPr>
              <a:t>** Lecture will be pre-recorded</a:t>
            </a:r>
          </a:p>
        </p:txBody>
      </p:sp>
    </p:spTree>
    <p:extLst>
      <p:ext uri="{BB962C8B-B14F-4D97-AF65-F5344CB8AC3E}">
        <p14:creationId xmlns:p14="http://schemas.microsoft.com/office/powerpoint/2010/main" val="12061685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FA1DD2F-829D-1A0C-E099-9D2666DE7C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2345538"/>
              </p:ext>
            </p:extLst>
          </p:nvPr>
        </p:nvGraphicFramePr>
        <p:xfrm>
          <a:off x="441434" y="1608908"/>
          <a:ext cx="11062421" cy="5105124"/>
        </p:xfrm>
        <a:graphic>
          <a:graphicData uri="http://schemas.openxmlformats.org/drawingml/2006/table">
            <a:tbl>
              <a:tblPr/>
              <a:tblGrid>
                <a:gridCol w="715660">
                  <a:extLst>
                    <a:ext uri="{9D8B030D-6E8A-4147-A177-3AD203B41FA5}">
                      <a16:colId xmlns:a16="http://schemas.microsoft.com/office/drawing/2014/main" val="2794491609"/>
                    </a:ext>
                  </a:extLst>
                </a:gridCol>
                <a:gridCol w="1570340">
                  <a:extLst>
                    <a:ext uri="{9D8B030D-6E8A-4147-A177-3AD203B41FA5}">
                      <a16:colId xmlns:a16="http://schemas.microsoft.com/office/drawing/2014/main" val="1747983715"/>
                    </a:ext>
                  </a:extLst>
                </a:gridCol>
                <a:gridCol w="3436883">
                  <a:extLst>
                    <a:ext uri="{9D8B030D-6E8A-4147-A177-3AD203B41FA5}">
                      <a16:colId xmlns:a16="http://schemas.microsoft.com/office/drawing/2014/main" val="1415124489"/>
                    </a:ext>
                  </a:extLst>
                </a:gridCol>
                <a:gridCol w="3026980">
                  <a:extLst>
                    <a:ext uri="{9D8B030D-6E8A-4147-A177-3AD203B41FA5}">
                      <a16:colId xmlns:a16="http://schemas.microsoft.com/office/drawing/2014/main" val="917873486"/>
                    </a:ext>
                  </a:extLst>
                </a:gridCol>
                <a:gridCol w="2312558">
                  <a:extLst>
                    <a:ext uri="{9D8B030D-6E8A-4147-A177-3AD203B41FA5}">
                      <a16:colId xmlns:a16="http://schemas.microsoft.com/office/drawing/2014/main" val="2083092539"/>
                    </a:ext>
                  </a:extLst>
                </a:gridCol>
              </a:tblGrid>
              <a:tr h="151505">
                <a:tc>
                  <a:txBody>
                    <a:bodyPr/>
                    <a:lstStyle/>
                    <a:p>
                      <a:r>
                        <a:rPr lang="en-US" sz="1800" b="1">
                          <a:effectLst/>
                        </a:rPr>
                        <a:t>Week</a:t>
                      </a:r>
                      <a:endParaRPr lang="en-US" sz="180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>
                          <a:effectLst/>
                        </a:rPr>
                        <a:t>Date</a:t>
                      </a:r>
                      <a:endParaRPr lang="en-US" sz="180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>
                          <a:effectLst/>
                        </a:rPr>
                        <a:t>Topic</a:t>
                      </a:r>
                      <a:endParaRPr lang="en-US" sz="180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In class work</a:t>
                      </a:r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Due date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1601634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8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10/14/2024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FALL Break [No Class]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4158272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10/16/2024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Camera Calibration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Python problems (HW7)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Due 10/23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5139463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9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10/21/2024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Image Compression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Group Project work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7360844"/>
                  </a:ext>
                </a:extLst>
              </a:tr>
              <a:tr h="101831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10/23/2024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Depth &amp; 3D Reconstruction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Python problems (HW8)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Due 10/30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61792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10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10/28/2024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Haar Cascade Classifiers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Python problems (HW9)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Due 11/4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7319350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10/30/2024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Face Detection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Project updates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5893794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11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11/4/2024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Harris Corners and Blobs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Group Project work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691061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11/6/2024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HOG and Custom Detectors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Python problems (HW10)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Due 11/13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8716580"/>
                  </a:ext>
                </a:extLst>
              </a:tr>
              <a:tr h="280658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12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11/11/2024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Object Tracking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Group Project work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0081299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11/13/2024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OCR Text Detection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Python problems (HW11)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Due 11/20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33494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13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11/18/2024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OpenCV DNN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</a:rPr>
                        <a:t>Python problems (HW12)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Due 12/4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480187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11/20/2024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Super Resolution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Python problems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511707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11/25/2024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Thanksgiving recess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372814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11/27/2024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Thanksgiving recess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053897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15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12/2/2024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SLAM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</a:rPr>
                        <a:t>Group Project work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783435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12/4/2024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effectLst/>
                        </a:rPr>
                        <a:t>MediaPipe</a:t>
                      </a:r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Group Project work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Final project commit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8509921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16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12/9/2024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Final Projects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Project presentations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Final group ratings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4233871"/>
                  </a:ext>
                </a:extLst>
              </a:tr>
            </a:tbl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116F40BB-A52A-CAE7-E132-D6080FB00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16"/>
            <a:ext cx="10515600" cy="1325563"/>
          </a:xfrm>
        </p:spPr>
        <p:txBody>
          <a:bodyPr/>
          <a:lstStyle/>
          <a:p>
            <a:r>
              <a:rPr lang="en-US" b="1" dirty="0"/>
              <a:t>Syllabus</a:t>
            </a:r>
          </a:p>
        </p:txBody>
      </p:sp>
    </p:spTree>
    <p:extLst>
      <p:ext uri="{BB962C8B-B14F-4D97-AF65-F5344CB8AC3E}">
        <p14:creationId xmlns:p14="http://schemas.microsoft.com/office/powerpoint/2010/main" val="6010696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C0153-823E-EEAC-BC2A-4D28E16CE5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HW0. Intro to OpenCV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E189CC-BAD3-9EF5-7163-17EE7CE810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Examine and run the following code examples:</a:t>
            </a:r>
          </a:p>
          <a:p>
            <a:pPr lvl="1"/>
            <a:r>
              <a:rPr lang="en-US" dirty="0"/>
              <a:t> 01_Loading_Images.ipynb</a:t>
            </a:r>
          </a:p>
          <a:p>
            <a:pPr lvl="1"/>
            <a:r>
              <a:rPr lang="en-US" dirty="0"/>
              <a:t> 02_Basic_Manipulations.ipynb</a:t>
            </a:r>
          </a:p>
          <a:p>
            <a:pPr lvl="1"/>
            <a:r>
              <a:rPr lang="en-US" dirty="0"/>
              <a:t> 03_Annotating_Images.ipynb</a:t>
            </a:r>
          </a:p>
          <a:p>
            <a:pPr lvl="1"/>
            <a:r>
              <a:rPr lang="en-US" dirty="0"/>
              <a:t> 04_Image_Enhancement.ipynb</a:t>
            </a:r>
          </a:p>
          <a:p>
            <a:pPr marL="457200" lvl="1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In a new notebook, do the following on your own:</a:t>
            </a:r>
          </a:p>
          <a:p>
            <a:pPr lvl="1"/>
            <a:r>
              <a:rPr lang="en-US" dirty="0"/>
              <a:t>Launch </a:t>
            </a:r>
            <a:r>
              <a:rPr lang="en-US" dirty="0" err="1"/>
              <a:t>Jupyter</a:t>
            </a:r>
            <a:r>
              <a:rPr lang="en-US" dirty="0"/>
              <a:t> notebook via VS Code</a:t>
            </a:r>
          </a:p>
          <a:p>
            <a:pPr lvl="1"/>
            <a:r>
              <a:rPr lang="en-US" dirty="0"/>
              <a:t>Load an (Grayscale) image  (‘../Data/</a:t>
            </a:r>
            <a:r>
              <a:rPr lang="en-US" dirty="0" err="1"/>
              <a:t>Lena.jpeg</a:t>
            </a:r>
            <a:r>
              <a:rPr lang="en-US" dirty="0"/>
              <a:t>’)</a:t>
            </a:r>
          </a:p>
          <a:p>
            <a:pPr lvl="1"/>
            <a:r>
              <a:rPr lang="en-US" dirty="0"/>
              <a:t>View image</a:t>
            </a:r>
          </a:p>
          <a:p>
            <a:pPr lvl="1"/>
            <a:r>
              <a:rPr lang="en-US" dirty="0"/>
              <a:t>Crop image</a:t>
            </a:r>
          </a:p>
          <a:p>
            <a:pPr lvl="1"/>
            <a:r>
              <a:rPr lang="en-US" dirty="0"/>
              <a:t>Edit brightness of image</a:t>
            </a:r>
          </a:p>
          <a:p>
            <a:pPr lvl="1"/>
            <a:r>
              <a:rPr lang="en-US" dirty="0"/>
              <a:t>Rotate image</a:t>
            </a:r>
          </a:p>
          <a:p>
            <a:pPr lvl="1"/>
            <a:r>
              <a:rPr lang="en-US" dirty="0"/>
              <a:t>Save modified image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35365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0F1E-3E0A-C75A-B4EB-22E7096A3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HW1. Transforms/Filters/Color spaces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D029D-2EB4-B7AE-F12C-E6C724512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60924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0F1E-3E0A-C75A-B4EB-22E7096A3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HW2. Filters/Image restoration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D029D-2EB4-B7AE-F12C-E6C724512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00360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0F1E-3E0A-C75A-B4EB-22E7096A3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HW3. Edge detection and segmentation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D029D-2EB4-B7AE-F12C-E6C724512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44497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0F1E-3E0A-C75A-B4EB-22E7096A3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HW4. </a:t>
            </a:r>
            <a:r>
              <a:rPr lang="en-US" dirty="0" err="1"/>
              <a:t>Morphalogical</a:t>
            </a:r>
            <a:r>
              <a:rPr lang="en-US" dirty="0"/>
              <a:t> segmentation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D029D-2EB4-B7AE-F12C-E6C724512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34776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0F1E-3E0A-C75A-B4EB-22E7096A3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HW5. Image registration/</a:t>
            </a:r>
            <a:r>
              <a:rPr lang="en-US" dirty="0" err="1"/>
              <a:t>homography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D029D-2EB4-B7AE-F12C-E6C724512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21568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0F1E-3E0A-C75A-B4EB-22E7096A3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HW6. HDR and Panoramas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D029D-2EB4-B7AE-F12C-E6C724512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77026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0F1E-3E0A-C75A-B4EB-22E7096A3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HW7. Camera Calibration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D029D-2EB4-B7AE-F12C-E6C724512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76795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0F1E-3E0A-C75A-B4EB-22E7096A3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HW8. Depth estimation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D029D-2EB4-B7AE-F12C-E6C724512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31326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0F1E-3E0A-C75A-B4EB-22E7096A3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HW9. Classifiers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D029D-2EB4-B7AE-F12C-E6C724512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58514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0F1E-3E0A-C75A-B4EB-22E7096A3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HW10. Custom detectors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D029D-2EB4-B7AE-F12C-E6C724512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6166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0F1E-3E0A-C75A-B4EB-22E7096A3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HW11. OCR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D029D-2EB4-B7AE-F12C-E6C724512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94078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0F1E-3E0A-C75A-B4EB-22E7096A3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HW12. OpenCV DNN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D029D-2EB4-B7AE-F12C-E6C724512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19650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5235</TotalTime>
  <Words>484</Words>
  <Application>Microsoft Macintosh PowerPoint</Application>
  <PresentationFormat>Widescreen</PresentationFormat>
  <Paragraphs>183</Paragraphs>
  <Slides>15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 Theme</vt:lpstr>
      <vt:lpstr>Syllabus</vt:lpstr>
      <vt:lpstr>Syllabus</vt:lpstr>
      <vt:lpstr>HW0. Intro to OpenCV  </vt:lpstr>
      <vt:lpstr>HW1. Transforms/Filters/Color spaces</vt:lpstr>
      <vt:lpstr>HW2. Filters/Image restoration</vt:lpstr>
      <vt:lpstr>HW3. Edge detection and segmentation</vt:lpstr>
      <vt:lpstr>HW4. Morphalogical segmentation</vt:lpstr>
      <vt:lpstr>HW5. Image registration/homography</vt:lpstr>
      <vt:lpstr>HW6. HDR and Panoramas</vt:lpstr>
      <vt:lpstr>HW7. Camera Calibration</vt:lpstr>
      <vt:lpstr>HW8. Depth estimation</vt:lpstr>
      <vt:lpstr>HW9. Classifiers</vt:lpstr>
      <vt:lpstr>HW10. Custom detectors</vt:lpstr>
      <vt:lpstr>HW11. OCR</vt:lpstr>
      <vt:lpstr>HW12. OpenCV DNN models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University of Pittsburgh University of Pittsburgh</dc:creator>
  <cp:lastModifiedBy>University of Pittsburgh University of Pittsburgh</cp:lastModifiedBy>
  <cp:revision>20</cp:revision>
  <dcterms:created xsi:type="dcterms:W3CDTF">2024-07-14T13:25:54Z</dcterms:created>
  <dcterms:modified xsi:type="dcterms:W3CDTF">2024-09-08T20:30:59Z</dcterms:modified>
</cp:coreProperties>
</file>